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10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Bryan (30 segundos).
Somos Bryan Bacchi, Francisco Tejeda y Damaris Iriarte, y vamos a presentar la definición de nuestro proyecto APT: una plataforma web de tutorías entre estudiantes de Duoc UC. Yo soy el líder del equipo, y cada uno va a presentar la parte del proyecto de la que es responsable.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Bryan (1 minuto).
Hoy, cuando un estudiante necesita ayuda en un ramo, la busca en grupos de mensajería, por recomendaciones de pasillo o entre sus contactos. La ayuda existe, pero depende de conocer a la persona indicada: no hay dónde ver quién domina cada asignatura, qué tan bien enseña ni cuándo puede.
Esto afecta a quien necesita apoyo, a los estudiantes avanzados que podrían enseñar y no tienen un canal para ofrecerse, y a la institución, que no ve esta demanda.
Elegimos este problema porque es cercano y porque resolverlo exige un sistema completo: agenda, reputación y pagos, construidos como en la industria, con servicios independientes, contenedores e integración continua.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Damaris (1 minuto y 15 segundos).
La plataforma centraliza la oferta y la demanda de apoyo en cuatro pasos. El estudiante se registra con su correo institucional, busca tutores por asignatura viendo su reputación, pide un bloque de su agenda y, cuando el tutor lo confirma, los dos reciben un correo. Después de la sesión, evalúa al tutor con una nota de 1 a 5.
Lo importante es que estudiante y tutor no son cuentas distintas: la misma persona pide ayuda en los ramos que le cuestan y la ofrece en los que están en semestres anteriores a su nivel, con la tarifa que ella fija, que puede ser cero. La plataforma agenda la sesión; la tutoría ocurre en persona o por un enlace externo.
Dejamos fuera de esta versión la videollamada, el chat, la aplicación móvil, los pagos reales y la integración con los sistemas de Duoc. Las pantallas se construyen en React, con el sistema visual que ya tenemos.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Damaris (1 minuto).
Nuestro objetivo general es desarrollar e implementar una plataforma web que centralice la oferta y la demanda de apoyo académico entre estudiantes de Duoc UC, para buscar tutores, agendar tutorías y evaluarlas, con la reputación de cada tutor a la vista.
Lo bajamos a cinco objetivos específicos: el catálogo académico, las cuentas con sus roles, el flujo de agendamiento, las evaluaciones y el despliegue en microservicios. Cada uno está amarrado a criterios de aceptación verificables: son nueve, desde el registro con el correo institucional hasta la evaluación del tutor, y son los que vamos a demostrar al final.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Francisco (1 minuto).
El proyecto nos obliga a aplicar el perfil de egreso de forma integrada, y cada competencia deja evidencia en el repositorio. La gestión de proyectos está en los cinco documentos de planificación y en un backlog de 37 historias estimadas. Los modelos de datos, en cuatro bases independientes. La arquitectura, en microservicios con contratos y decisiones documentadas. Las pruebas corren solas en cada cambio, con una cobertura mínima de 60 % en Identidad y Tutorías. Y la seguridad está en el manejo de contraseñas, los tokens firmados y el límite de intentos de inicio de sesión.
Además aplicamos la propuesta de soluciones informáticas, la comunicación oral y escrita, y el inglés, que usamos en el abstract, las conclusiones y la reflexión.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los tres (unos 30 segundos cada uno).
Bryan: me interesan la infraestructura, el despliegue de aplicaciones y la ciberseguridad, y en este proyecto trabajo en las tres: soy responsable de los contenedores, el gateway y la integración continua, y dueño del servicio de Identidad, donde está la autenticación y los datos personales. También es mi primera experiencia liderando un equipo.
Francisco: [completar: tus intereses y cómo se reflejan en el catálogo, las evaluaciones, el panel de administración y la base del frontend].
Damaris: [completar: tus intereses y cómo se reflejan en el servicio de Tutorías y en el sistema visual del frontend].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Francisco (1 minuto y 15 segundos).
El cliente es una aplicación en React que solo habla con el API Gateway, en Nginx, que es el único puerto expuesto: enruta cada petición al servicio que corresponde y limita los intentos de inicio de sesión.
Detrás hay cuatro servicios en Django REST Framework, cada uno con su propia base PostgreSQL: Identidad, Catálogo académico, Tutorías y Pagos. Ningún servicio lee la base de otro; cuando necesitan datos, se llaman por HTTP en una red privada. Pagos está diseñado para poder apagarse sin romper el resto.
Como apoyo hay un correo de desarrollo, Mailpit, para probar los avisos sin enviar nada afuera, y un programador de tareas que cada cinco minutos cierra las reservas y expira las solicitudes. Todo se levanta con un solo comando, y esa base ya está funcionando.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Francisco (1 minuto).
El mayor desafío técnico es el catálogo, porque tiene que representar la malla de cualquier carrera. La asignatura es una sola aunque la dicten varias carreras; lo que le da un semestre es la malla. Eso es lo que permite verificar la regla de habilitación: solo puedes enseñar asignaturas de tu malla que estén en semestres anteriores a tu nivel. Si estás en cuarto semestre, puedes ofrecer ramos de primero a tercero.
El nivel lo declara el propio usuario, porque no tenemos integración con los sistemas de Duoc; por eso la reputación completa la confianza. Partimos cargando de 3 a 5 carreras completas desde archivos CSV.</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Damaris (1 minuto).
Toda reserva nace como solicitud sobre un bloque de la agenda del tutor. Un bloque puede recibir varias solicitudes: la primera que el tutor confirma gana, el bloque deja de ofrecerse y las demás se rechazan solas. Si nadie responde antes de la hora, la solicitud expira, y el estudiante puede retirarla mientras está pendiente.
Una reserva confirmada la puede cancelar cualquiera de las partes antes del inicio, y el bloque vuelve a quedar libre. Pasada la hora de término, el programador de tareas la marca como realizada y el estudiante puede evaluar al tutor.
El pago no forma parte de este ciclo: es un atributo aparte, así que si hubiera que recortar el pago simulado, el agendamiento no cambia.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Bryan (1 minuto y 15 segundos).
Trabajamos con Scrum adaptado a tres personas. Yo concentro los roles de Scrum Master y Product Owner, porque separarlos en un equipo tan chico crearía ceremonias vacías; los tres somos Developers y cada uno es dueño de sus servicios de punta a punta, con un segundo que puede reemplazarlo.
Los sprints son de dos semanas, salvo el último, que dura una. Al cierre de cada sprint hacemos la review, la retrospectiva y la planificación del siguiente, y le enviamos un reporte. Como nuestros horarios no coinciden, en lugar de una reunión diaria tenemos dos sincronizaciones por semana.
Cada cambio entra por Pull Request: GitHub Actions revisa el estilo, corre las pruebas y levanta el sistema completo, y otro integrante tiene que aprobarlo antes de fusionarlo.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Bryan (1 minuto).
La definición ocupó las semanas 1 a 4, la planificación la 5 y los cimientos la 6. Estamos en la semana 7, en el primer sprint.
El desarrollo termina el 8 de noviembre, así que organizamos el trabajo en cuatro sprints: los tres primeros de dos semanas y el último de una. Cada sprint cierra con una versión etiquetada en el repositorio, de la v0.1 a la v1.0.
El informe de avance cae en la semana 10, al final del sprint 2; las semanas 14 y 15 quedan para el informe final, el ensayo y la presentación, y las semanas 17 y 18, para la comisión.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Bryan (1 minuto).
El proyecto es factible, pero sin holgura. Cada uno compromete 25 horas semanales hasta el 8 de noviembre; descontadas las reuniones, la documentación y el aprendizaje, eso da unas 328 horas de desarrollo, que es justo lo que suma el trabajo pendiente. Todas las herramientas son gratuitas y usamos solo datos de prueba.
Como no hay holgura, dejamos escrito cuándo y qué recortar: si al cierre del sprint 2 completamos menos del 90 % de lo planificado, o si a mitad del sprint 3 vamos atrasados, aplicamos el siguiente recorte, en orden: primero se reduce el panel de administración y después se quita el pago simulado, en ese caso consultándolo antes con usted.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Damaris (1 minuto).
Ya tenemos la planificación completa y los cimientos del sistema: como muestra la captura, los cuatro servicios responden a través del gateway, y el correo de desarrollo está listo para los avisos.
En el informe de avance, en la semana 10, vamos a entregar el repositorio con la versión v0.1, el registro y el inicio de sesión funcionando junto con el avance del sprint 2, el documento de diseño con sus diagramas UML y los artefactos Scrum. En el informe final, el producto mínimo viable con los nueve criterios de aceptación, el plan de pruebas con sus resultados, el manual técnico y el informe con la sección de innovación.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Bryan (15 segundos).
Gracias. Quedamos atentos a sus preguntas y comentarios. El repositorio es público: ahí están la planificación, el código y las evidencias de cada fase.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240"/>
        </a:solidFill>
        <a:effectLst/>
      </p:bgPr>
    </p:bg>
    <p:spTree>
      <p:nvGrpSpPr>
        <p:cNvPr id="1" name=""/>
        <p:cNvGrpSpPr/>
        <p:nvPr/>
      </p:nvGrpSpPr>
      <p:grpSpPr>
        <a:xfrm>
          <a:off x="0" y="0"/>
          <a:ext cx="0" cy="0"/>
          <a:chOff x="0" y="0"/>
          <a:chExt cx="0" cy="0"/>
        </a:xfrm>
      </p:grpSpPr>
      <p:sp>
        <p:nvSpPr>
          <p:cNvPr id="2" name="Shape 0"/>
          <p:cNvSpPr/>
          <p:nvPr/>
        </p:nvSpPr>
        <p:spPr>
          <a:xfrm flipV="1">
            <a:off x="6903720" y="982980"/>
            <a:ext cx="1211580" cy="1348740"/>
          </a:xfrm>
          <a:prstGeom prst="line">
            <a:avLst/>
          </a:prstGeom>
          <a:noFill/>
          <a:ln w="25400">
            <a:solidFill>
              <a:srgbClr val="3A5A8C"/>
            </a:solidFill>
            <a:prstDash val="solid"/>
          </a:ln>
        </p:spPr>
        <p:txBody>
          <a:bodyPr/>
          <a:lstStyle/>
          <a:p>
            <a:endParaRPr lang="es-CL"/>
          </a:p>
        </p:txBody>
      </p:sp>
      <p:sp>
        <p:nvSpPr>
          <p:cNvPr id="3" name="Shape 1"/>
          <p:cNvSpPr/>
          <p:nvPr/>
        </p:nvSpPr>
        <p:spPr>
          <a:xfrm>
            <a:off x="6903720" y="2331720"/>
            <a:ext cx="1303020" cy="1760220"/>
          </a:xfrm>
          <a:prstGeom prst="line">
            <a:avLst/>
          </a:prstGeom>
          <a:noFill/>
          <a:ln w="25400">
            <a:solidFill>
              <a:srgbClr val="3A5A8C"/>
            </a:solidFill>
            <a:prstDash val="solid"/>
          </a:ln>
        </p:spPr>
        <p:txBody>
          <a:bodyPr/>
          <a:lstStyle/>
          <a:p>
            <a:endParaRPr lang="es-CL"/>
          </a:p>
        </p:txBody>
      </p:sp>
      <p:sp>
        <p:nvSpPr>
          <p:cNvPr id="4" name="Shape 2"/>
          <p:cNvSpPr/>
          <p:nvPr/>
        </p:nvSpPr>
        <p:spPr>
          <a:xfrm flipH="1">
            <a:off x="6103620" y="2331720"/>
            <a:ext cx="800100" cy="1851660"/>
          </a:xfrm>
          <a:prstGeom prst="line">
            <a:avLst/>
          </a:prstGeom>
          <a:noFill/>
          <a:ln w="25400">
            <a:solidFill>
              <a:srgbClr val="3A5A8C"/>
            </a:solidFill>
            <a:prstDash val="solid"/>
          </a:ln>
        </p:spPr>
        <p:txBody>
          <a:bodyPr/>
          <a:lstStyle/>
          <a:p>
            <a:endParaRPr lang="es-CL"/>
          </a:p>
        </p:txBody>
      </p:sp>
      <p:sp>
        <p:nvSpPr>
          <p:cNvPr id="5" name="Shape 3"/>
          <p:cNvSpPr/>
          <p:nvPr/>
        </p:nvSpPr>
        <p:spPr>
          <a:xfrm>
            <a:off x="6035040" y="1463040"/>
            <a:ext cx="1737360" cy="1737360"/>
          </a:xfrm>
          <a:prstGeom prst="ellipse">
            <a:avLst/>
          </a:prstGeom>
          <a:solidFill>
            <a:srgbClr val="F9B934"/>
          </a:solidFill>
          <a:ln w="12700">
            <a:solidFill>
              <a:srgbClr val="F9B934"/>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6469380" y="1897380"/>
            <a:ext cx="868680" cy="868680"/>
          </a:xfrm>
          <a:prstGeom prst="rect">
            <a:avLst/>
          </a:prstGeom>
        </p:spPr>
      </p:pic>
      <p:sp>
        <p:nvSpPr>
          <p:cNvPr id="7" name="Shape 4"/>
          <p:cNvSpPr/>
          <p:nvPr/>
        </p:nvSpPr>
        <p:spPr>
          <a:xfrm>
            <a:off x="7635240" y="502920"/>
            <a:ext cx="960120" cy="960120"/>
          </a:xfrm>
          <a:prstGeom prst="ellipse">
            <a:avLst/>
          </a:prstGeom>
          <a:solidFill>
            <a:srgbClr val="163A6B"/>
          </a:solidFill>
          <a:ln w="12700">
            <a:solidFill>
              <a:srgbClr val="163A6B"/>
            </a:solidFill>
            <a:prstDash val="solid"/>
          </a:ln>
        </p:spPr>
        <p:txBody>
          <a:bodyPr/>
          <a:lstStyle/>
          <a:p>
            <a:endParaRPr lang="es-CL"/>
          </a:p>
        </p:txBody>
      </p:sp>
      <p:pic>
        <p:nvPicPr>
          <p:cNvPr id="8" name="Image 1" descr="preencoded.png"/>
          <p:cNvPicPr>
            <a:picLocks noChangeAspect="1"/>
          </p:cNvPicPr>
          <p:nvPr/>
        </p:nvPicPr>
        <p:blipFill>
          <a:blip r:embed="rId4"/>
          <a:stretch>
            <a:fillRect/>
          </a:stretch>
        </p:blipFill>
        <p:spPr>
          <a:xfrm>
            <a:off x="7865669" y="733349"/>
            <a:ext cx="499262" cy="499262"/>
          </a:xfrm>
          <a:prstGeom prst="rect">
            <a:avLst/>
          </a:prstGeom>
        </p:spPr>
      </p:pic>
      <p:sp>
        <p:nvSpPr>
          <p:cNvPr id="9" name="Shape 5"/>
          <p:cNvSpPr/>
          <p:nvPr/>
        </p:nvSpPr>
        <p:spPr>
          <a:xfrm>
            <a:off x="7726680" y="3611880"/>
            <a:ext cx="960120" cy="960120"/>
          </a:xfrm>
          <a:prstGeom prst="ellipse">
            <a:avLst/>
          </a:prstGeom>
          <a:solidFill>
            <a:srgbClr val="163A6B"/>
          </a:solidFill>
          <a:ln w="12700">
            <a:solidFill>
              <a:srgbClr val="163A6B"/>
            </a:solidFill>
            <a:prstDash val="solid"/>
          </a:ln>
        </p:spPr>
        <p:txBody>
          <a:bodyPr/>
          <a:lstStyle/>
          <a:p>
            <a:endParaRPr lang="es-CL"/>
          </a:p>
        </p:txBody>
      </p:sp>
      <p:pic>
        <p:nvPicPr>
          <p:cNvPr id="10" name="Image 2" descr="preencoded.png"/>
          <p:cNvPicPr>
            <a:picLocks noChangeAspect="1"/>
          </p:cNvPicPr>
          <p:nvPr/>
        </p:nvPicPr>
        <p:blipFill>
          <a:blip r:embed="rId5"/>
          <a:stretch>
            <a:fillRect/>
          </a:stretch>
        </p:blipFill>
        <p:spPr>
          <a:xfrm>
            <a:off x="7957109" y="3842309"/>
            <a:ext cx="499262" cy="499262"/>
          </a:xfrm>
          <a:prstGeom prst="rect">
            <a:avLst/>
          </a:prstGeom>
        </p:spPr>
      </p:pic>
      <p:sp>
        <p:nvSpPr>
          <p:cNvPr id="11" name="Shape 6"/>
          <p:cNvSpPr/>
          <p:nvPr/>
        </p:nvSpPr>
        <p:spPr>
          <a:xfrm>
            <a:off x="5760720" y="3840480"/>
            <a:ext cx="685800" cy="685800"/>
          </a:xfrm>
          <a:prstGeom prst="ellipse">
            <a:avLst/>
          </a:prstGeom>
          <a:solidFill>
            <a:srgbClr val="163A6B"/>
          </a:solidFill>
          <a:ln w="12700">
            <a:solidFill>
              <a:srgbClr val="163A6B"/>
            </a:solidFill>
            <a:prstDash val="solid"/>
          </a:ln>
        </p:spPr>
        <p:txBody>
          <a:bodyPr/>
          <a:lstStyle/>
          <a:p>
            <a:endParaRPr lang="es-CL"/>
          </a:p>
        </p:txBody>
      </p:sp>
      <p:pic>
        <p:nvPicPr>
          <p:cNvPr id="12" name="Image 3" descr="preencoded.png"/>
          <p:cNvPicPr>
            <a:picLocks noChangeAspect="1"/>
          </p:cNvPicPr>
          <p:nvPr/>
        </p:nvPicPr>
        <p:blipFill>
          <a:blip r:embed="rId6"/>
          <a:stretch>
            <a:fillRect/>
          </a:stretch>
        </p:blipFill>
        <p:spPr>
          <a:xfrm>
            <a:off x="5925312" y="4005072"/>
            <a:ext cx="356616" cy="356616"/>
          </a:xfrm>
          <a:prstGeom prst="rect">
            <a:avLst/>
          </a:prstGeom>
        </p:spPr>
      </p:pic>
      <p:sp>
        <p:nvSpPr>
          <p:cNvPr id="13" name="Text 7"/>
          <p:cNvSpPr txBox="1"/>
          <p:nvPr/>
        </p:nvSpPr>
        <p:spPr>
          <a:xfrm>
            <a:off x="548640" y="960120"/>
            <a:ext cx="5120640" cy="274320"/>
          </a:xfrm>
          <a:prstGeom prst="rect">
            <a:avLst/>
          </a:prstGeom>
          <a:noFill/>
          <a:ln/>
        </p:spPr>
        <p:txBody>
          <a:bodyPr wrap="square" lIns="0" tIns="0" rIns="0" bIns="0" rtlCol="0" anchor="t"/>
          <a:lstStyle/>
          <a:p>
            <a:pPr marL="0" indent="0">
              <a:buNone/>
            </a:pPr>
            <a:r>
              <a:rPr lang="en-US" sz="1300" b="1" kern="0" spc="300" dirty="0">
                <a:solidFill>
                  <a:srgbClr val="F9B934"/>
                </a:solidFill>
                <a:latin typeface="Calibri" pitchFamily="34" charset="0"/>
                <a:ea typeface="Calibri" pitchFamily="34" charset="-122"/>
                <a:cs typeface="Calibri" pitchFamily="34" charset="-120"/>
              </a:rPr>
              <a:t>PROYECTO APT · FASE 1</a:t>
            </a:r>
            <a:endParaRPr lang="en-US" sz="1300" dirty="0"/>
          </a:p>
        </p:txBody>
      </p:sp>
      <p:sp>
        <p:nvSpPr>
          <p:cNvPr id="14" name="Text 8"/>
          <p:cNvSpPr txBox="1"/>
          <p:nvPr/>
        </p:nvSpPr>
        <p:spPr>
          <a:xfrm>
            <a:off x="548640" y="1280160"/>
            <a:ext cx="5303520" cy="13716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Plataforma de Tutorías entre Estudiantes</a:t>
            </a:r>
            <a:endParaRPr lang="en-US" sz="3800" dirty="0"/>
          </a:p>
        </p:txBody>
      </p:sp>
      <p:sp>
        <p:nvSpPr>
          <p:cNvPr id="15" name="Text 9"/>
          <p:cNvSpPr txBox="1"/>
          <p:nvPr/>
        </p:nvSpPr>
        <p:spPr>
          <a:xfrm>
            <a:off x="548640" y="2697480"/>
            <a:ext cx="5120640" cy="365760"/>
          </a:xfrm>
          <a:prstGeom prst="rect">
            <a:avLst/>
          </a:prstGeom>
          <a:noFill/>
          <a:ln/>
        </p:spPr>
        <p:txBody>
          <a:bodyPr wrap="square" lIns="0" tIns="0" rIns="0" bIns="0" rtlCol="0" anchor="t"/>
          <a:lstStyle/>
          <a:p>
            <a:pPr marL="0" indent="0">
              <a:buNone/>
            </a:pPr>
            <a:r>
              <a:rPr lang="en-US" sz="2000" dirty="0">
                <a:solidFill>
                  <a:srgbClr val="C9D6EA"/>
                </a:solidFill>
                <a:latin typeface="Calibri" pitchFamily="34" charset="0"/>
                <a:ea typeface="Calibri" pitchFamily="34" charset="-122"/>
                <a:cs typeface="Calibri" pitchFamily="34" charset="-120"/>
              </a:rPr>
              <a:t>Definición del proyecto</a:t>
            </a:r>
            <a:endParaRPr lang="en-US" sz="2000" dirty="0"/>
          </a:p>
        </p:txBody>
      </p:sp>
      <p:sp>
        <p:nvSpPr>
          <p:cNvPr id="16" name="Text 10"/>
          <p:cNvSpPr txBox="1"/>
          <p:nvPr/>
        </p:nvSpPr>
        <p:spPr>
          <a:xfrm>
            <a:off x="548640" y="3291840"/>
            <a:ext cx="5669280" cy="3200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Bryan Bacchi (líder) · Francisco Tejeda · Damaris Iriarte</a:t>
            </a:r>
            <a:endParaRPr lang="en-US" sz="1500" dirty="0"/>
          </a:p>
        </p:txBody>
      </p:sp>
      <p:sp>
        <p:nvSpPr>
          <p:cNvPr id="17" name="Text 11"/>
          <p:cNvSpPr txBox="1"/>
          <p:nvPr/>
        </p:nvSpPr>
        <p:spPr>
          <a:xfrm>
            <a:off x="548640" y="3675888"/>
            <a:ext cx="5029200" cy="731520"/>
          </a:xfrm>
          <a:prstGeom prst="rect">
            <a:avLst/>
          </a:prstGeom>
          <a:noFill/>
          <a:ln/>
        </p:spPr>
        <p:txBody>
          <a:bodyPr wrap="square" lIns="0" tIns="0" rIns="0" bIns="0" rtlCol="0" anchor="t"/>
          <a:lstStyle/>
          <a:p>
            <a:pPr marL="0" indent="0">
              <a:spcAft>
                <a:spcPts val="200"/>
              </a:spcAft>
              <a:buNone/>
            </a:pPr>
            <a:r>
              <a:rPr lang="en-US" sz="1200" dirty="0">
                <a:solidFill>
                  <a:srgbClr val="C9D6EA"/>
                </a:solidFill>
                <a:latin typeface="Calibri" pitchFamily="34" charset="0"/>
                <a:ea typeface="Calibri" pitchFamily="34" charset="-122"/>
                <a:cs typeface="Calibri" pitchFamily="34" charset="-120"/>
              </a:rPr>
              <a:t>Ingeniería en Informática · Capstone PTY4614 · Sección 004D</a:t>
            </a:r>
            <a:endParaRPr lang="en-US" sz="1200" dirty="0"/>
          </a:p>
          <a:p>
            <a:pPr marL="0" indent="0">
              <a:spcAft>
                <a:spcPts val="200"/>
              </a:spcAft>
              <a:buNone/>
            </a:pPr>
            <a:r>
              <a:rPr lang="en-US" sz="1200" dirty="0">
                <a:solidFill>
                  <a:srgbClr val="C9D6EA"/>
                </a:solidFill>
                <a:latin typeface="Calibri" pitchFamily="34" charset="0"/>
                <a:ea typeface="Calibri" pitchFamily="34" charset="-122"/>
                <a:cs typeface="Calibri" pitchFamily="34" charset="-120"/>
              </a:rPr>
              <a:t>Docente: Marco Antonio Valenzuela Contreras</a:t>
            </a:r>
            <a:endParaRPr lang="en-US" sz="1200" dirty="0"/>
          </a:p>
          <a:p>
            <a:pPr marL="0" indent="0">
              <a:spcAft>
                <a:spcPts val="200"/>
              </a:spcAft>
              <a:buNone/>
            </a:pPr>
            <a:r>
              <a:rPr lang="en-US" sz="1200" dirty="0">
                <a:solidFill>
                  <a:srgbClr val="C9D6EA"/>
                </a:solidFill>
                <a:latin typeface="Calibri" pitchFamily="34" charset="0"/>
                <a:ea typeface="Calibri" pitchFamily="34" charset="-122"/>
                <a:cs typeface="Calibri" pitchFamily="34" charset="-120"/>
              </a:rPr>
              <a:t>Duoc UC, sede San Joaquín · Septiembre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EL PROBLEMA</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La ayuda académica existe, pero no se encuentra</a:t>
            </a:r>
            <a:endParaRPr lang="en-US" sz="2800" dirty="0"/>
          </a:p>
        </p:txBody>
      </p:sp>
      <p:sp>
        <p:nvSpPr>
          <p:cNvPr id="4" name="Text 2"/>
          <p:cNvSpPr txBox="1"/>
          <p:nvPr/>
        </p:nvSpPr>
        <p:spPr>
          <a:xfrm>
            <a:off x="457200" y="1097280"/>
            <a:ext cx="8229600" cy="320040"/>
          </a:xfrm>
          <a:prstGeom prst="rect">
            <a:avLst/>
          </a:prstGeom>
          <a:noFill/>
          <a:ln/>
        </p:spPr>
        <p:txBody>
          <a:bodyPr wrap="square" lIns="0" tIns="0" rIns="0" bIns="0" rtlCol="0" anchor="t"/>
          <a:lstStyle/>
          <a:p>
            <a:pPr marL="0" indent="0">
              <a:buNone/>
            </a:pPr>
            <a:r>
              <a:rPr lang="en-US" sz="1400" dirty="0">
                <a:solidFill>
                  <a:srgbClr val="5A6478"/>
                </a:solidFill>
                <a:latin typeface="Calibri" pitchFamily="34" charset="0"/>
                <a:ea typeface="Calibri" pitchFamily="34" charset="-122"/>
                <a:cs typeface="Calibri" pitchFamily="34" charset="-120"/>
              </a:rPr>
              <a:t>No hay un lugar donde saber quién domina una asignatura, conocer su reputación y coordinar un horario.</a:t>
            </a:r>
            <a:endParaRPr lang="en-US" sz="1400" dirty="0"/>
          </a:p>
        </p:txBody>
      </p:sp>
      <p:sp>
        <p:nvSpPr>
          <p:cNvPr id="5" name="Text 3"/>
          <p:cNvSpPr txBox="1"/>
          <p:nvPr/>
        </p:nvSpPr>
        <p:spPr>
          <a:xfrm>
            <a:off x="457200" y="1627632"/>
            <a:ext cx="3840480" cy="274320"/>
          </a:xfrm>
          <a:prstGeom prst="rect">
            <a:avLst/>
          </a:prstGeom>
          <a:noFill/>
          <a:ln/>
        </p:spPr>
        <p:txBody>
          <a:bodyPr wrap="square" lIns="0" tIns="0" rIns="0" bIns="0" rtlCol="0" anchor="t"/>
          <a:lstStyle/>
          <a:p>
            <a:pPr marL="0" indent="0">
              <a:buNone/>
            </a:pPr>
            <a:r>
              <a:rPr lang="en-US" sz="1400" b="1" dirty="0">
                <a:solidFill>
                  <a:srgbClr val="0A2240"/>
                </a:solidFill>
                <a:latin typeface="Calibri" pitchFamily="34" charset="0"/>
                <a:ea typeface="Calibri" pitchFamily="34" charset="-122"/>
                <a:cs typeface="Calibri" pitchFamily="34" charset="-120"/>
              </a:rPr>
              <a:t>Hoy se busca en</a:t>
            </a:r>
            <a:endParaRPr lang="en-US" sz="1400" dirty="0"/>
          </a:p>
        </p:txBody>
      </p:sp>
      <p:sp>
        <p:nvSpPr>
          <p:cNvPr id="6" name="Shape 4"/>
          <p:cNvSpPr/>
          <p:nvPr/>
        </p:nvSpPr>
        <p:spPr>
          <a:xfrm>
            <a:off x="457200" y="2011680"/>
            <a:ext cx="512064" cy="512064"/>
          </a:xfrm>
          <a:prstGeom prst="ellipse">
            <a:avLst/>
          </a:prstGeom>
          <a:solidFill>
            <a:srgbClr val="0A2240"/>
          </a:solidFill>
          <a:ln w="12700">
            <a:solidFill>
              <a:srgbClr val="0A2240"/>
            </a:solidFill>
            <a:prstDash val="solid"/>
          </a:ln>
        </p:spPr>
        <p:txBody>
          <a:bodyPr/>
          <a:lstStyle/>
          <a:p>
            <a:endParaRPr lang="es-CL"/>
          </a:p>
        </p:txBody>
      </p:sp>
      <p:pic>
        <p:nvPicPr>
          <p:cNvPr id="7" name="Image 0" descr="preencoded.png"/>
          <p:cNvPicPr>
            <a:picLocks noChangeAspect="1"/>
          </p:cNvPicPr>
          <p:nvPr/>
        </p:nvPicPr>
        <p:blipFill>
          <a:blip r:embed="rId3"/>
          <a:stretch>
            <a:fillRect/>
          </a:stretch>
        </p:blipFill>
        <p:spPr>
          <a:xfrm>
            <a:off x="580095" y="2134575"/>
            <a:ext cx="266273" cy="266273"/>
          </a:xfrm>
          <a:prstGeom prst="rect">
            <a:avLst/>
          </a:prstGeom>
        </p:spPr>
      </p:pic>
      <p:sp>
        <p:nvSpPr>
          <p:cNvPr id="8" name="Text 5"/>
          <p:cNvSpPr txBox="1"/>
          <p:nvPr/>
        </p:nvSpPr>
        <p:spPr>
          <a:xfrm>
            <a:off x="1143000" y="2029968"/>
            <a:ext cx="3108960" cy="530352"/>
          </a:xfrm>
          <a:prstGeom prst="rect">
            <a:avLst/>
          </a:prstGeom>
          <a:noFill/>
          <a:ln/>
        </p:spPr>
        <p:txBody>
          <a:bodyPr wrap="square" lIns="0" tIns="0" rIns="0" bIns="0" rtlCol="0" anchor="ctr"/>
          <a:lstStyle/>
          <a:p>
            <a:pPr marL="0" indent="0">
              <a:buNone/>
            </a:pPr>
            <a:r>
              <a:rPr lang="en-US" sz="1400" b="1" dirty="0">
                <a:solidFill>
                  <a:srgbClr val="1E2A3A"/>
                </a:solidFill>
                <a:latin typeface="Calibri" pitchFamily="34" charset="0"/>
                <a:ea typeface="Calibri" pitchFamily="34" charset="-122"/>
                <a:cs typeface="Calibri" pitchFamily="34" charset="-120"/>
              </a:rPr>
              <a:t>Grupos de mensajería</a:t>
            </a:r>
            <a:endParaRPr lang="en-US" sz="1400" dirty="0"/>
          </a:p>
          <a:p>
            <a:pPr marL="0" indent="0">
              <a:buNone/>
            </a:pPr>
            <a:r>
              <a:rPr lang="en-US" sz="1200" dirty="0">
                <a:solidFill>
                  <a:srgbClr val="5A6478"/>
                </a:solidFill>
                <a:latin typeface="Calibri" pitchFamily="34" charset="0"/>
                <a:ea typeface="Calibri" pitchFamily="34" charset="-122"/>
                <a:cs typeface="Calibri" pitchFamily="34" charset="-120"/>
              </a:rPr>
              <a:t>La pregunta se pierde entre otros temas.</a:t>
            </a:r>
            <a:endParaRPr lang="en-US" sz="1400" dirty="0"/>
          </a:p>
        </p:txBody>
      </p:sp>
      <p:sp>
        <p:nvSpPr>
          <p:cNvPr id="9" name="Shape 6"/>
          <p:cNvSpPr/>
          <p:nvPr/>
        </p:nvSpPr>
        <p:spPr>
          <a:xfrm>
            <a:off x="457200" y="2724912"/>
            <a:ext cx="512064" cy="512064"/>
          </a:xfrm>
          <a:prstGeom prst="ellipse">
            <a:avLst/>
          </a:prstGeom>
          <a:solidFill>
            <a:srgbClr val="0A2240"/>
          </a:solidFill>
          <a:ln w="12700">
            <a:solidFill>
              <a:srgbClr val="0A2240"/>
            </a:solidFill>
            <a:prstDash val="solid"/>
          </a:ln>
        </p:spPr>
        <p:txBody>
          <a:bodyPr/>
          <a:lstStyle/>
          <a:p>
            <a:endParaRPr lang="es-CL"/>
          </a:p>
        </p:txBody>
      </p:sp>
      <p:pic>
        <p:nvPicPr>
          <p:cNvPr id="10" name="Image 1" descr="preencoded.png"/>
          <p:cNvPicPr>
            <a:picLocks noChangeAspect="1"/>
          </p:cNvPicPr>
          <p:nvPr/>
        </p:nvPicPr>
        <p:blipFill>
          <a:blip r:embed="rId4"/>
          <a:stretch>
            <a:fillRect/>
          </a:stretch>
        </p:blipFill>
        <p:spPr>
          <a:xfrm>
            <a:off x="580095" y="2847807"/>
            <a:ext cx="266273" cy="266273"/>
          </a:xfrm>
          <a:prstGeom prst="rect">
            <a:avLst/>
          </a:prstGeom>
        </p:spPr>
      </p:pic>
      <p:sp>
        <p:nvSpPr>
          <p:cNvPr id="11" name="Text 7"/>
          <p:cNvSpPr txBox="1"/>
          <p:nvPr/>
        </p:nvSpPr>
        <p:spPr>
          <a:xfrm>
            <a:off x="1143000" y="2743200"/>
            <a:ext cx="3108960" cy="530352"/>
          </a:xfrm>
          <a:prstGeom prst="rect">
            <a:avLst/>
          </a:prstGeom>
          <a:noFill/>
          <a:ln/>
        </p:spPr>
        <p:txBody>
          <a:bodyPr wrap="square" lIns="0" tIns="0" rIns="0" bIns="0" rtlCol="0" anchor="ctr"/>
          <a:lstStyle/>
          <a:p>
            <a:pPr marL="0" indent="0">
              <a:buNone/>
            </a:pPr>
            <a:r>
              <a:rPr lang="en-US" sz="1400" b="1" dirty="0">
                <a:solidFill>
                  <a:srgbClr val="1E2A3A"/>
                </a:solidFill>
                <a:latin typeface="Calibri" pitchFamily="34" charset="0"/>
                <a:ea typeface="Calibri" pitchFamily="34" charset="-122"/>
                <a:cs typeface="Calibri" pitchFamily="34" charset="-120"/>
              </a:rPr>
              <a:t>Recomendaciones de pasillo</a:t>
            </a:r>
            <a:endParaRPr lang="en-US" sz="1400" dirty="0"/>
          </a:p>
          <a:p>
            <a:pPr marL="0" indent="0">
              <a:buNone/>
            </a:pPr>
            <a:r>
              <a:rPr lang="en-US" sz="1200" dirty="0">
                <a:solidFill>
                  <a:srgbClr val="5A6478"/>
                </a:solidFill>
                <a:latin typeface="Calibri" pitchFamily="34" charset="0"/>
                <a:ea typeface="Calibri" pitchFamily="34" charset="-122"/>
                <a:cs typeface="Calibri" pitchFamily="34" charset="-120"/>
              </a:rPr>
              <a:t>Depende de a quién conoces.</a:t>
            </a:r>
            <a:endParaRPr lang="en-US" sz="1400" dirty="0"/>
          </a:p>
        </p:txBody>
      </p:sp>
      <p:sp>
        <p:nvSpPr>
          <p:cNvPr id="12" name="Shape 8"/>
          <p:cNvSpPr/>
          <p:nvPr/>
        </p:nvSpPr>
        <p:spPr>
          <a:xfrm>
            <a:off x="457200" y="3438144"/>
            <a:ext cx="512064" cy="512064"/>
          </a:xfrm>
          <a:prstGeom prst="ellipse">
            <a:avLst/>
          </a:prstGeom>
          <a:solidFill>
            <a:srgbClr val="0A2240"/>
          </a:solidFill>
          <a:ln w="12700">
            <a:solidFill>
              <a:srgbClr val="0A2240"/>
            </a:solidFill>
            <a:prstDash val="solid"/>
          </a:ln>
        </p:spPr>
        <p:txBody>
          <a:bodyPr/>
          <a:lstStyle/>
          <a:p>
            <a:endParaRPr lang="es-CL"/>
          </a:p>
        </p:txBody>
      </p:sp>
      <p:pic>
        <p:nvPicPr>
          <p:cNvPr id="13" name="Image 2" descr="preencoded.png"/>
          <p:cNvPicPr>
            <a:picLocks noChangeAspect="1"/>
          </p:cNvPicPr>
          <p:nvPr/>
        </p:nvPicPr>
        <p:blipFill>
          <a:blip r:embed="rId5"/>
          <a:stretch>
            <a:fillRect/>
          </a:stretch>
        </p:blipFill>
        <p:spPr>
          <a:xfrm>
            <a:off x="580095" y="3561039"/>
            <a:ext cx="266273" cy="266273"/>
          </a:xfrm>
          <a:prstGeom prst="rect">
            <a:avLst/>
          </a:prstGeom>
        </p:spPr>
      </p:pic>
      <p:sp>
        <p:nvSpPr>
          <p:cNvPr id="14" name="Text 9"/>
          <p:cNvSpPr txBox="1"/>
          <p:nvPr/>
        </p:nvSpPr>
        <p:spPr>
          <a:xfrm>
            <a:off x="1143000" y="3456432"/>
            <a:ext cx="3108960" cy="530352"/>
          </a:xfrm>
          <a:prstGeom prst="rect">
            <a:avLst/>
          </a:prstGeom>
          <a:noFill/>
          <a:ln/>
        </p:spPr>
        <p:txBody>
          <a:bodyPr wrap="square" lIns="0" tIns="0" rIns="0" bIns="0" rtlCol="0" anchor="ctr"/>
          <a:lstStyle/>
          <a:p>
            <a:pPr marL="0" indent="0">
              <a:buNone/>
            </a:pPr>
            <a:r>
              <a:rPr lang="en-US" sz="1400" b="1" dirty="0">
                <a:solidFill>
                  <a:srgbClr val="1E2A3A"/>
                </a:solidFill>
                <a:latin typeface="Calibri" pitchFamily="34" charset="0"/>
                <a:ea typeface="Calibri" pitchFamily="34" charset="-122"/>
                <a:cs typeface="Calibri" pitchFamily="34" charset="-120"/>
              </a:rPr>
              <a:t>Contactos personales</a:t>
            </a:r>
            <a:endParaRPr lang="en-US" sz="1400" dirty="0"/>
          </a:p>
          <a:p>
            <a:pPr marL="0" indent="0">
              <a:buNone/>
            </a:pPr>
            <a:r>
              <a:rPr lang="en-US" sz="1200" dirty="0">
                <a:solidFill>
                  <a:srgbClr val="5A6478"/>
                </a:solidFill>
                <a:latin typeface="Calibri" pitchFamily="34" charset="0"/>
                <a:ea typeface="Calibri" pitchFamily="34" charset="-122"/>
                <a:cs typeface="Calibri" pitchFamily="34" charset="-120"/>
              </a:rPr>
              <a:t>Sin saber si esa persona enseña bien.</a:t>
            </a:r>
            <a:endParaRPr lang="en-US" sz="1400" dirty="0"/>
          </a:p>
        </p:txBody>
      </p:sp>
      <p:sp>
        <p:nvSpPr>
          <p:cNvPr id="15" name="Shape 10"/>
          <p:cNvSpPr/>
          <p:nvPr/>
        </p:nvSpPr>
        <p:spPr>
          <a:xfrm>
            <a:off x="4572000" y="1627632"/>
            <a:ext cx="4114800" cy="2487168"/>
          </a:xfrm>
          <a:prstGeom prst="roundRect">
            <a:avLst>
              <a:gd name="adj" fmla="val 2941"/>
            </a:avLst>
          </a:prstGeom>
          <a:solidFill>
            <a:srgbClr val="EDF1F7"/>
          </a:solidFill>
          <a:ln w="12700">
            <a:solidFill>
              <a:srgbClr val="EDF1F7"/>
            </a:solidFill>
            <a:prstDash val="solid"/>
          </a:ln>
        </p:spPr>
        <p:txBody>
          <a:bodyPr/>
          <a:lstStyle/>
          <a:p>
            <a:endParaRPr lang="es-CL"/>
          </a:p>
        </p:txBody>
      </p:sp>
      <p:sp>
        <p:nvSpPr>
          <p:cNvPr id="16" name="Text 11"/>
          <p:cNvSpPr txBox="1"/>
          <p:nvPr/>
        </p:nvSpPr>
        <p:spPr>
          <a:xfrm>
            <a:off x="4800600" y="1783080"/>
            <a:ext cx="3657600" cy="274320"/>
          </a:xfrm>
          <a:prstGeom prst="rect">
            <a:avLst/>
          </a:prstGeom>
          <a:noFill/>
          <a:ln/>
        </p:spPr>
        <p:txBody>
          <a:bodyPr wrap="square" lIns="0" tIns="0" rIns="0" bIns="0" rtlCol="0" anchor="t"/>
          <a:lstStyle/>
          <a:p>
            <a:pPr marL="0" indent="0">
              <a:buNone/>
            </a:pPr>
            <a:r>
              <a:rPr lang="en-US" sz="1400" b="1" dirty="0">
                <a:solidFill>
                  <a:srgbClr val="0A2240"/>
                </a:solidFill>
                <a:latin typeface="Calibri" pitchFamily="34" charset="0"/>
                <a:ea typeface="Calibri" pitchFamily="34" charset="-122"/>
                <a:cs typeface="Calibri" pitchFamily="34" charset="-120"/>
              </a:rPr>
              <a:t>A quién afecta</a:t>
            </a:r>
            <a:endParaRPr lang="en-US" sz="1400" dirty="0"/>
          </a:p>
        </p:txBody>
      </p:sp>
      <p:sp>
        <p:nvSpPr>
          <p:cNvPr id="17" name="Shape 12"/>
          <p:cNvSpPr/>
          <p:nvPr/>
        </p:nvSpPr>
        <p:spPr>
          <a:xfrm>
            <a:off x="4800600" y="2212848"/>
            <a:ext cx="402336" cy="402336"/>
          </a:xfrm>
          <a:prstGeom prst="ellipse">
            <a:avLst/>
          </a:prstGeom>
          <a:solidFill>
            <a:srgbClr val="1D4E89"/>
          </a:solidFill>
          <a:ln w="12700">
            <a:solidFill>
              <a:srgbClr val="1D4E89"/>
            </a:solidFill>
            <a:prstDash val="solid"/>
          </a:ln>
        </p:spPr>
        <p:txBody>
          <a:bodyPr/>
          <a:lstStyle/>
          <a:p>
            <a:endParaRPr lang="es-CL"/>
          </a:p>
        </p:txBody>
      </p:sp>
      <p:pic>
        <p:nvPicPr>
          <p:cNvPr id="18" name="Image 3" descr="preencoded.png"/>
          <p:cNvPicPr>
            <a:picLocks noChangeAspect="1"/>
          </p:cNvPicPr>
          <p:nvPr/>
        </p:nvPicPr>
        <p:blipFill>
          <a:blip r:embed="rId6"/>
          <a:stretch>
            <a:fillRect/>
          </a:stretch>
        </p:blipFill>
        <p:spPr>
          <a:xfrm>
            <a:off x="4897161" y="2309409"/>
            <a:ext cx="209215" cy="209215"/>
          </a:xfrm>
          <a:prstGeom prst="rect">
            <a:avLst/>
          </a:prstGeom>
        </p:spPr>
      </p:pic>
      <p:sp>
        <p:nvSpPr>
          <p:cNvPr id="19" name="Text 13"/>
          <p:cNvSpPr txBox="1"/>
          <p:nvPr/>
        </p:nvSpPr>
        <p:spPr>
          <a:xfrm>
            <a:off x="5349240" y="2176272"/>
            <a:ext cx="3154680" cy="475488"/>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Estudiantes que necesitan apoyo en un ramo.</a:t>
            </a:r>
            <a:endParaRPr lang="en-US" sz="1250" dirty="0"/>
          </a:p>
        </p:txBody>
      </p:sp>
      <p:sp>
        <p:nvSpPr>
          <p:cNvPr id="20" name="Shape 14"/>
          <p:cNvSpPr/>
          <p:nvPr/>
        </p:nvSpPr>
        <p:spPr>
          <a:xfrm>
            <a:off x="4800600" y="2816352"/>
            <a:ext cx="402336" cy="402336"/>
          </a:xfrm>
          <a:prstGeom prst="ellipse">
            <a:avLst/>
          </a:prstGeom>
          <a:solidFill>
            <a:srgbClr val="1D4E89"/>
          </a:solidFill>
          <a:ln w="12700">
            <a:solidFill>
              <a:srgbClr val="1D4E89"/>
            </a:solidFill>
            <a:prstDash val="solid"/>
          </a:ln>
        </p:spPr>
        <p:txBody>
          <a:bodyPr/>
          <a:lstStyle/>
          <a:p>
            <a:endParaRPr lang="es-CL"/>
          </a:p>
        </p:txBody>
      </p:sp>
      <p:pic>
        <p:nvPicPr>
          <p:cNvPr id="21" name="Image 4" descr="preencoded.png"/>
          <p:cNvPicPr>
            <a:picLocks noChangeAspect="1"/>
          </p:cNvPicPr>
          <p:nvPr/>
        </p:nvPicPr>
        <p:blipFill>
          <a:blip r:embed="rId7"/>
          <a:stretch>
            <a:fillRect/>
          </a:stretch>
        </p:blipFill>
        <p:spPr>
          <a:xfrm>
            <a:off x="4897161" y="2912913"/>
            <a:ext cx="209215" cy="209215"/>
          </a:xfrm>
          <a:prstGeom prst="rect">
            <a:avLst/>
          </a:prstGeom>
        </p:spPr>
      </p:pic>
      <p:sp>
        <p:nvSpPr>
          <p:cNvPr id="22" name="Text 15"/>
          <p:cNvSpPr txBox="1"/>
          <p:nvPr/>
        </p:nvSpPr>
        <p:spPr>
          <a:xfrm>
            <a:off x="5349240" y="2779776"/>
            <a:ext cx="3154680" cy="475488"/>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Estudiantes avanzados que podrían enseñar y no tienen cómo ofrecerse.</a:t>
            </a:r>
            <a:endParaRPr lang="en-US" sz="1250" dirty="0"/>
          </a:p>
        </p:txBody>
      </p:sp>
      <p:sp>
        <p:nvSpPr>
          <p:cNvPr id="23" name="Shape 16"/>
          <p:cNvSpPr/>
          <p:nvPr/>
        </p:nvSpPr>
        <p:spPr>
          <a:xfrm>
            <a:off x="4800600" y="3419856"/>
            <a:ext cx="402336" cy="402336"/>
          </a:xfrm>
          <a:prstGeom prst="ellipse">
            <a:avLst/>
          </a:prstGeom>
          <a:solidFill>
            <a:srgbClr val="1D4E89"/>
          </a:solidFill>
          <a:ln w="12700">
            <a:solidFill>
              <a:srgbClr val="1D4E89"/>
            </a:solidFill>
            <a:prstDash val="solid"/>
          </a:ln>
        </p:spPr>
        <p:txBody>
          <a:bodyPr/>
          <a:lstStyle/>
          <a:p>
            <a:endParaRPr lang="es-CL"/>
          </a:p>
        </p:txBody>
      </p:sp>
      <p:pic>
        <p:nvPicPr>
          <p:cNvPr id="24" name="Image 5" descr="preencoded.png"/>
          <p:cNvPicPr>
            <a:picLocks noChangeAspect="1"/>
          </p:cNvPicPr>
          <p:nvPr/>
        </p:nvPicPr>
        <p:blipFill>
          <a:blip r:embed="rId8"/>
          <a:stretch>
            <a:fillRect/>
          </a:stretch>
        </p:blipFill>
        <p:spPr>
          <a:xfrm>
            <a:off x="4897161" y="3516417"/>
            <a:ext cx="209215" cy="209215"/>
          </a:xfrm>
          <a:prstGeom prst="rect">
            <a:avLst/>
          </a:prstGeom>
        </p:spPr>
      </p:pic>
      <p:sp>
        <p:nvSpPr>
          <p:cNvPr id="25" name="Text 17"/>
          <p:cNvSpPr txBox="1"/>
          <p:nvPr/>
        </p:nvSpPr>
        <p:spPr>
          <a:xfrm>
            <a:off x="5349240" y="3383280"/>
            <a:ext cx="3154680" cy="475488"/>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La institución, que no ve esta demanda de apoyo.</a:t>
            </a:r>
            <a:endParaRPr lang="en-US" sz="1250" dirty="0"/>
          </a:p>
        </p:txBody>
      </p:sp>
      <p:sp>
        <p:nvSpPr>
          <p:cNvPr id="26" name="Shape 18"/>
          <p:cNvSpPr/>
          <p:nvPr/>
        </p:nvSpPr>
        <p:spPr>
          <a:xfrm>
            <a:off x="457200" y="4224528"/>
            <a:ext cx="8229600" cy="548640"/>
          </a:xfrm>
          <a:prstGeom prst="roundRect">
            <a:avLst>
              <a:gd name="adj" fmla="val 13333"/>
            </a:avLst>
          </a:prstGeom>
          <a:solidFill>
            <a:srgbClr val="0A2240"/>
          </a:solidFill>
          <a:ln w="12700">
            <a:solidFill>
              <a:srgbClr val="0A2240"/>
            </a:solidFill>
            <a:prstDash val="solid"/>
          </a:ln>
        </p:spPr>
        <p:txBody>
          <a:bodyPr/>
          <a:lstStyle/>
          <a:p>
            <a:endParaRPr lang="es-CL"/>
          </a:p>
        </p:txBody>
      </p:sp>
      <p:sp>
        <p:nvSpPr>
          <p:cNvPr id="27" name="Shape 19"/>
          <p:cNvSpPr/>
          <p:nvPr/>
        </p:nvSpPr>
        <p:spPr>
          <a:xfrm>
            <a:off x="594360" y="4297680"/>
            <a:ext cx="402336" cy="402336"/>
          </a:xfrm>
          <a:prstGeom prst="ellipse">
            <a:avLst/>
          </a:prstGeom>
          <a:solidFill>
            <a:srgbClr val="F9B934"/>
          </a:solidFill>
          <a:ln w="12700">
            <a:solidFill>
              <a:srgbClr val="F9B934"/>
            </a:solidFill>
            <a:prstDash val="solid"/>
          </a:ln>
        </p:spPr>
        <p:txBody>
          <a:bodyPr/>
          <a:lstStyle/>
          <a:p>
            <a:endParaRPr lang="es-CL"/>
          </a:p>
        </p:txBody>
      </p:sp>
      <p:pic>
        <p:nvPicPr>
          <p:cNvPr id="28" name="Image 6" descr="preencoded.png"/>
          <p:cNvPicPr>
            <a:picLocks noChangeAspect="1"/>
          </p:cNvPicPr>
          <p:nvPr/>
        </p:nvPicPr>
        <p:blipFill>
          <a:blip r:embed="rId9"/>
          <a:stretch>
            <a:fillRect/>
          </a:stretch>
        </p:blipFill>
        <p:spPr>
          <a:xfrm>
            <a:off x="690921" y="4394241"/>
            <a:ext cx="209215" cy="209215"/>
          </a:xfrm>
          <a:prstGeom prst="rect">
            <a:avLst/>
          </a:prstGeom>
        </p:spPr>
      </p:pic>
      <p:sp>
        <p:nvSpPr>
          <p:cNvPr id="29" name="Text 20"/>
          <p:cNvSpPr txBox="1"/>
          <p:nvPr/>
        </p:nvSpPr>
        <p:spPr>
          <a:xfrm>
            <a:off x="1143000" y="4261104"/>
            <a:ext cx="7406640" cy="475488"/>
          </a:xfrm>
          <a:prstGeom prst="rect">
            <a:avLst/>
          </a:prstGeom>
          <a:noFill/>
          <a:ln/>
        </p:spPr>
        <p:txBody>
          <a:bodyPr wrap="square" lIns="0" tIns="0" rIns="0" bIns="0" rtlCol="0" anchor="ctr"/>
          <a:lstStyle/>
          <a:p>
            <a:pPr marL="0" indent="0">
              <a:buNone/>
            </a:pPr>
            <a:r>
              <a:rPr lang="en-US" sz="1200" b="1" dirty="0">
                <a:solidFill>
                  <a:srgbClr val="F9B934"/>
                </a:solidFill>
                <a:latin typeface="Calibri" pitchFamily="34" charset="0"/>
                <a:ea typeface="Calibri" pitchFamily="34" charset="-122"/>
                <a:cs typeface="Calibri" pitchFamily="34" charset="-120"/>
              </a:rPr>
              <a:t>Relevancia para la carrera: </a:t>
            </a:r>
            <a:r>
              <a:rPr lang="en-US" sz="1200" dirty="0">
                <a:solidFill>
                  <a:srgbClr val="FFFFFF"/>
                </a:solidFill>
                <a:latin typeface="Calibri" pitchFamily="34" charset="0"/>
                <a:ea typeface="Calibri" pitchFamily="34" charset="-122"/>
                <a:cs typeface="Calibri" pitchFamily="34" charset="-120"/>
              </a:rPr>
              <a:t>conectar oferta y demanda con agenda, reputación y pagos es un tipo de sistema muy extendido en la industria, y aquí se construye con sus mismas prácticas.</a:t>
            </a:r>
            <a:endParaRPr lang="en-US" sz="1200" dirty="0"/>
          </a:p>
        </p:txBody>
      </p:sp>
      <p:sp>
        <p:nvSpPr>
          <p:cNvPr id="30"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LA SOLUCIÓN</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Un punto único para pedir y ofrecer ayuda</a:t>
            </a:r>
            <a:endParaRPr lang="en-US" sz="2800" dirty="0"/>
          </a:p>
        </p:txBody>
      </p:sp>
      <p:sp>
        <p:nvSpPr>
          <p:cNvPr id="4" name="Shape 2"/>
          <p:cNvSpPr/>
          <p:nvPr/>
        </p:nvSpPr>
        <p:spPr>
          <a:xfrm>
            <a:off x="457200" y="1280160"/>
            <a:ext cx="1828800" cy="1828800"/>
          </a:xfrm>
          <a:prstGeom prst="roundRect">
            <a:avLst>
              <a:gd name="adj" fmla="val 4000"/>
            </a:avLst>
          </a:prstGeom>
          <a:solidFill>
            <a:srgbClr val="EDF1F7"/>
          </a:solidFill>
          <a:ln w="12700">
            <a:solidFill>
              <a:srgbClr val="EDF1F7"/>
            </a:solidFill>
            <a:prstDash val="solid"/>
          </a:ln>
        </p:spPr>
        <p:txBody>
          <a:bodyPr/>
          <a:lstStyle/>
          <a:p>
            <a:endParaRPr lang="es-CL"/>
          </a:p>
        </p:txBody>
      </p:sp>
      <p:sp>
        <p:nvSpPr>
          <p:cNvPr id="5" name="Shape 3"/>
          <p:cNvSpPr/>
          <p:nvPr/>
        </p:nvSpPr>
        <p:spPr>
          <a:xfrm>
            <a:off x="640080" y="1444752"/>
            <a:ext cx="566928" cy="566928"/>
          </a:xfrm>
          <a:prstGeom prst="ellipse">
            <a:avLst/>
          </a:prstGeom>
          <a:solidFill>
            <a:srgbClr val="0A2240"/>
          </a:solidFill>
          <a:ln w="12700">
            <a:solidFill>
              <a:srgbClr val="0A2240"/>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776143" y="1580815"/>
            <a:ext cx="294803" cy="294803"/>
          </a:xfrm>
          <a:prstGeom prst="rect">
            <a:avLst/>
          </a:prstGeom>
        </p:spPr>
      </p:pic>
      <p:sp>
        <p:nvSpPr>
          <p:cNvPr id="7" name="Shape 4"/>
          <p:cNvSpPr/>
          <p:nvPr/>
        </p:nvSpPr>
        <p:spPr>
          <a:xfrm>
            <a:off x="1060704" y="1389888"/>
            <a:ext cx="274320" cy="274320"/>
          </a:xfrm>
          <a:prstGeom prst="ellipse">
            <a:avLst/>
          </a:prstGeom>
          <a:solidFill>
            <a:srgbClr val="F9B934"/>
          </a:solidFill>
          <a:ln w="19050">
            <a:solidFill>
              <a:srgbClr val="FFFFFF"/>
            </a:solidFill>
            <a:prstDash val="solid"/>
          </a:ln>
        </p:spPr>
        <p:txBody>
          <a:bodyPr/>
          <a:lstStyle/>
          <a:p>
            <a:endParaRPr lang="es-CL"/>
          </a:p>
        </p:txBody>
      </p:sp>
      <p:sp>
        <p:nvSpPr>
          <p:cNvPr id="8" name="Text 5"/>
          <p:cNvSpPr txBox="1"/>
          <p:nvPr/>
        </p:nvSpPr>
        <p:spPr>
          <a:xfrm>
            <a:off x="1060704" y="1389888"/>
            <a:ext cx="274320" cy="274320"/>
          </a:xfrm>
          <a:prstGeom prst="rect">
            <a:avLst/>
          </a:prstGeom>
          <a:noFill/>
          <a:ln/>
        </p:spPr>
        <p:txBody>
          <a:bodyPr wrap="square" lIns="0" tIns="0" rIns="0" bIns="0" rtlCol="0" anchor="ctr"/>
          <a:lstStyle/>
          <a:p>
            <a:pPr marL="0" indent="0" algn="ctr">
              <a:buNone/>
            </a:pPr>
            <a:r>
              <a:rPr lang="en-US" sz="1100" b="1" dirty="0">
                <a:solidFill>
                  <a:srgbClr val="0A2240"/>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640080" y="2139696"/>
            <a:ext cx="1463040" cy="292608"/>
          </a:xfrm>
          <a:prstGeom prst="rect">
            <a:avLst/>
          </a:prstGeom>
          <a:noFill/>
          <a:ln/>
        </p:spPr>
        <p:txBody>
          <a:bodyPr wrap="square" lIns="0" tIns="0" rIns="0" bIns="0" rtlCol="0" anchor="t"/>
          <a:lstStyle/>
          <a:p>
            <a:pPr marL="0" indent="0">
              <a:buNone/>
            </a:pPr>
            <a:r>
              <a:rPr lang="en-US" sz="1500" b="1" dirty="0">
                <a:solidFill>
                  <a:srgbClr val="0A2240"/>
                </a:solidFill>
                <a:latin typeface="Calibri" pitchFamily="34" charset="0"/>
                <a:ea typeface="Calibri" pitchFamily="34" charset="-122"/>
                <a:cs typeface="Calibri" pitchFamily="34" charset="-120"/>
              </a:rPr>
              <a:t>Se registra</a:t>
            </a:r>
            <a:endParaRPr lang="en-US" sz="1500" dirty="0"/>
          </a:p>
        </p:txBody>
      </p:sp>
      <p:sp>
        <p:nvSpPr>
          <p:cNvPr id="10" name="Text 7"/>
          <p:cNvSpPr txBox="1"/>
          <p:nvPr/>
        </p:nvSpPr>
        <p:spPr>
          <a:xfrm>
            <a:off x="640080" y="2450592"/>
            <a:ext cx="1508760" cy="621792"/>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Con su correo @duocuc.cl, verificado con un enlace.</a:t>
            </a:r>
            <a:endParaRPr lang="en-US" sz="1200" dirty="0"/>
          </a:p>
        </p:txBody>
      </p:sp>
      <p:sp>
        <p:nvSpPr>
          <p:cNvPr id="11" name="Shape 8"/>
          <p:cNvSpPr/>
          <p:nvPr/>
        </p:nvSpPr>
        <p:spPr>
          <a:xfrm>
            <a:off x="2340864" y="2194560"/>
            <a:ext cx="195072" cy="0"/>
          </a:xfrm>
          <a:prstGeom prst="line">
            <a:avLst/>
          </a:prstGeom>
          <a:noFill/>
          <a:ln w="28575">
            <a:solidFill>
              <a:srgbClr val="F9B934"/>
            </a:solidFill>
            <a:prstDash val="solid"/>
            <a:tailEnd type="triangle"/>
          </a:ln>
        </p:spPr>
        <p:txBody>
          <a:bodyPr/>
          <a:lstStyle/>
          <a:p>
            <a:endParaRPr lang="es-CL"/>
          </a:p>
        </p:txBody>
      </p:sp>
      <p:sp>
        <p:nvSpPr>
          <p:cNvPr id="12" name="Shape 9"/>
          <p:cNvSpPr/>
          <p:nvPr/>
        </p:nvSpPr>
        <p:spPr>
          <a:xfrm>
            <a:off x="2590800" y="1280160"/>
            <a:ext cx="1828800" cy="1828800"/>
          </a:xfrm>
          <a:prstGeom prst="roundRect">
            <a:avLst>
              <a:gd name="adj" fmla="val 4000"/>
            </a:avLst>
          </a:prstGeom>
          <a:solidFill>
            <a:srgbClr val="EDF1F7"/>
          </a:solidFill>
          <a:ln w="12700">
            <a:solidFill>
              <a:srgbClr val="EDF1F7"/>
            </a:solidFill>
            <a:prstDash val="solid"/>
          </a:ln>
        </p:spPr>
        <p:txBody>
          <a:bodyPr/>
          <a:lstStyle/>
          <a:p>
            <a:endParaRPr lang="es-CL"/>
          </a:p>
        </p:txBody>
      </p:sp>
      <p:sp>
        <p:nvSpPr>
          <p:cNvPr id="13" name="Shape 10"/>
          <p:cNvSpPr/>
          <p:nvPr/>
        </p:nvSpPr>
        <p:spPr>
          <a:xfrm>
            <a:off x="2773680" y="1444752"/>
            <a:ext cx="566928" cy="566928"/>
          </a:xfrm>
          <a:prstGeom prst="ellipse">
            <a:avLst/>
          </a:prstGeom>
          <a:solidFill>
            <a:srgbClr val="0A2240"/>
          </a:solidFill>
          <a:ln w="12700">
            <a:solidFill>
              <a:srgbClr val="0A2240"/>
            </a:solidFill>
            <a:prstDash val="solid"/>
          </a:ln>
        </p:spPr>
        <p:txBody>
          <a:bodyPr/>
          <a:lstStyle/>
          <a:p>
            <a:endParaRPr lang="es-CL"/>
          </a:p>
        </p:txBody>
      </p:sp>
      <p:pic>
        <p:nvPicPr>
          <p:cNvPr id="14" name="Image 1" descr="preencoded.png"/>
          <p:cNvPicPr>
            <a:picLocks noChangeAspect="1"/>
          </p:cNvPicPr>
          <p:nvPr/>
        </p:nvPicPr>
        <p:blipFill>
          <a:blip r:embed="rId4"/>
          <a:stretch>
            <a:fillRect/>
          </a:stretch>
        </p:blipFill>
        <p:spPr>
          <a:xfrm>
            <a:off x="2909743" y="1580815"/>
            <a:ext cx="294803" cy="294803"/>
          </a:xfrm>
          <a:prstGeom prst="rect">
            <a:avLst/>
          </a:prstGeom>
        </p:spPr>
      </p:pic>
      <p:sp>
        <p:nvSpPr>
          <p:cNvPr id="15" name="Shape 11"/>
          <p:cNvSpPr/>
          <p:nvPr/>
        </p:nvSpPr>
        <p:spPr>
          <a:xfrm>
            <a:off x="3194304" y="1389888"/>
            <a:ext cx="274320" cy="274320"/>
          </a:xfrm>
          <a:prstGeom prst="ellipse">
            <a:avLst/>
          </a:prstGeom>
          <a:solidFill>
            <a:srgbClr val="F9B934"/>
          </a:solidFill>
          <a:ln w="19050">
            <a:solidFill>
              <a:srgbClr val="FFFFFF"/>
            </a:solidFill>
            <a:prstDash val="solid"/>
          </a:ln>
        </p:spPr>
        <p:txBody>
          <a:bodyPr/>
          <a:lstStyle/>
          <a:p>
            <a:endParaRPr lang="es-CL"/>
          </a:p>
        </p:txBody>
      </p:sp>
      <p:sp>
        <p:nvSpPr>
          <p:cNvPr id="16" name="Text 12"/>
          <p:cNvSpPr txBox="1"/>
          <p:nvPr/>
        </p:nvSpPr>
        <p:spPr>
          <a:xfrm>
            <a:off x="3194304" y="1389888"/>
            <a:ext cx="274320" cy="274320"/>
          </a:xfrm>
          <a:prstGeom prst="rect">
            <a:avLst/>
          </a:prstGeom>
          <a:noFill/>
          <a:ln/>
        </p:spPr>
        <p:txBody>
          <a:bodyPr wrap="square" lIns="0" tIns="0" rIns="0" bIns="0" rtlCol="0" anchor="ctr"/>
          <a:lstStyle/>
          <a:p>
            <a:pPr marL="0" indent="0" algn="ctr">
              <a:buNone/>
            </a:pPr>
            <a:r>
              <a:rPr lang="en-US" sz="1100" b="1" dirty="0">
                <a:solidFill>
                  <a:srgbClr val="0A2240"/>
                </a:solidFill>
                <a:latin typeface="Calibri" pitchFamily="34" charset="0"/>
                <a:ea typeface="Calibri" pitchFamily="34" charset="-122"/>
                <a:cs typeface="Calibri" pitchFamily="34" charset="-120"/>
              </a:rPr>
              <a:t>2</a:t>
            </a:r>
            <a:endParaRPr lang="en-US" sz="1100" dirty="0"/>
          </a:p>
        </p:txBody>
      </p:sp>
      <p:sp>
        <p:nvSpPr>
          <p:cNvPr id="17" name="Text 13"/>
          <p:cNvSpPr txBox="1"/>
          <p:nvPr/>
        </p:nvSpPr>
        <p:spPr>
          <a:xfrm>
            <a:off x="2773680" y="2139696"/>
            <a:ext cx="1463040" cy="292608"/>
          </a:xfrm>
          <a:prstGeom prst="rect">
            <a:avLst/>
          </a:prstGeom>
          <a:noFill/>
          <a:ln/>
        </p:spPr>
        <p:txBody>
          <a:bodyPr wrap="square" lIns="0" tIns="0" rIns="0" bIns="0" rtlCol="0" anchor="t"/>
          <a:lstStyle/>
          <a:p>
            <a:pPr marL="0" indent="0">
              <a:buNone/>
            </a:pPr>
            <a:r>
              <a:rPr lang="en-US" sz="1500" b="1" dirty="0">
                <a:solidFill>
                  <a:srgbClr val="0A2240"/>
                </a:solidFill>
                <a:latin typeface="Calibri" pitchFamily="34" charset="0"/>
                <a:ea typeface="Calibri" pitchFamily="34" charset="-122"/>
                <a:cs typeface="Calibri" pitchFamily="34" charset="-120"/>
              </a:rPr>
              <a:t>Busca un tutor</a:t>
            </a:r>
            <a:endParaRPr lang="en-US" sz="1500" dirty="0"/>
          </a:p>
        </p:txBody>
      </p:sp>
      <p:sp>
        <p:nvSpPr>
          <p:cNvPr id="18" name="Text 14"/>
          <p:cNvSpPr txBox="1"/>
          <p:nvPr/>
        </p:nvSpPr>
        <p:spPr>
          <a:xfrm>
            <a:off x="2773680" y="2450592"/>
            <a:ext cx="1508760" cy="621792"/>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Por asignatura, con la reputación de cada tutor a la vista.</a:t>
            </a:r>
            <a:endParaRPr lang="en-US" sz="1200" dirty="0"/>
          </a:p>
        </p:txBody>
      </p:sp>
      <p:sp>
        <p:nvSpPr>
          <p:cNvPr id="19" name="Shape 15"/>
          <p:cNvSpPr/>
          <p:nvPr/>
        </p:nvSpPr>
        <p:spPr>
          <a:xfrm>
            <a:off x="4474464" y="2194560"/>
            <a:ext cx="195072" cy="0"/>
          </a:xfrm>
          <a:prstGeom prst="line">
            <a:avLst/>
          </a:prstGeom>
          <a:noFill/>
          <a:ln w="28575">
            <a:solidFill>
              <a:srgbClr val="F9B934"/>
            </a:solidFill>
            <a:prstDash val="solid"/>
            <a:tailEnd type="triangle"/>
          </a:ln>
        </p:spPr>
        <p:txBody>
          <a:bodyPr/>
          <a:lstStyle/>
          <a:p>
            <a:endParaRPr lang="es-CL"/>
          </a:p>
        </p:txBody>
      </p:sp>
      <p:sp>
        <p:nvSpPr>
          <p:cNvPr id="20" name="Shape 16"/>
          <p:cNvSpPr/>
          <p:nvPr/>
        </p:nvSpPr>
        <p:spPr>
          <a:xfrm>
            <a:off x="4724400" y="1280160"/>
            <a:ext cx="1828800" cy="1828800"/>
          </a:xfrm>
          <a:prstGeom prst="roundRect">
            <a:avLst>
              <a:gd name="adj" fmla="val 4000"/>
            </a:avLst>
          </a:prstGeom>
          <a:solidFill>
            <a:srgbClr val="EDF1F7"/>
          </a:solidFill>
          <a:ln w="12700">
            <a:solidFill>
              <a:srgbClr val="EDF1F7"/>
            </a:solidFill>
            <a:prstDash val="solid"/>
          </a:ln>
        </p:spPr>
        <p:txBody>
          <a:bodyPr/>
          <a:lstStyle/>
          <a:p>
            <a:endParaRPr lang="es-CL"/>
          </a:p>
        </p:txBody>
      </p:sp>
      <p:sp>
        <p:nvSpPr>
          <p:cNvPr id="21" name="Shape 17"/>
          <p:cNvSpPr/>
          <p:nvPr/>
        </p:nvSpPr>
        <p:spPr>
          <a:xfrm>
            <a:off x="4907280" y="1444752"/>
            <a:ext cx="566928" cy="566928"/>
          </a:xfrm>
          <a:prstGeom prst="ellipse">
            <a:avLst/>
          </a:prstGeom>
          <a:solidFill>
            <a:srgbClr val="0A2240"/>
          </a:solidFill>
          <a:ln w="12700">
            <a:solidFill>
              <a:srgbClr val="0A2240"/>
            </a:solidFill>
            <a:prstDash val="solid"/>
          </a:ln>
        </p:spPr>
        <p:txBody>
          <a:bodyPr/>
          <a:lstStyle/>
          <a:p>
            <a:endParaRPr lang="es-CL"/>
          </a:p>
        </p:txBody>
      </p:sp>
      <p:pic>
        <p:nvPicPr>
          <p:cNvPr id="22" name="Image 2" descr="preencoded.png"/>
          <p:cNvPicPr>
            <a:picLocks noChangeAspect="1"/>
          </p:cNvPicPr>
          <p:nvPr/>
        </p:nvPicPr>
        <p:blipFill>
          <a:blip r:embed="rId5"/>
          <a:stretch>
            <a:fillRect/>
          </a:stretch>
        </p:blipFill>
        <p:spPr>
          <a:xfrm>
            <a:off x="5043343" y="1580815"/>
            <a:ext cx="294803" cy="294803"/>
          </a:xfrm>
          <a:prstGeom prst="rect">
            <a:avLst/>
          </a:prstGeom>
        </p:spPr>
      </p:pic>
      <p:sp>
        <p:nvSpPr>
          <p:cNvPr id="23" name="Shape 18"/>
          <p:cNvSpPr/>
          <p:nvPr/>
        </p:nvSpPr>
        <p:spPr>
          <a:xfrm>
            <a:off x="5327904" y="1389888"/>
            <a:ext cx="274320" cy="274320"/>
          </a:xfrm>
          <a:prstGeom prst="ellipse">
            <a:avLst/>
          </a:prstGeom>
          <a:solidFill>
            <a:srgbClr val="F9B934"/>
          </a:solidFill>
          <a:ln w="19050">
            <a:solidFill>
              <a:srgbClr val="FFFFFF"/>
            </a:solidFill>
            <a:prstDash val="solid"/>
          </a:ln>
        </p:spPr>
        <p:txBody>
          <a:bodyPr/>
          <a:lstStyle/>
          <a:p>
            <a:endParaRPr lang="es-CL"/>
          </a:p>
        </p:txBody>
      </p:sp>
      <p:sp>
        <p:nvSpPr>
          <p:cNvPr id="24" name="Text 19"/>
          <p:cNvSpPr txBox="1"/>
          <p:nvPr/>
        </p:nvSpPr>
        <p:spPr>
          <a:xfrm>
            <a:off x="5327904" y="1389888"/>
            <a:ext cx="274320" cy="274320"/>
          </a:xfrm>
          <a:prstGeom prst="rect">
            <a:avLst/>
          </a:prstGeom>
          <a:noFill/>
          <a:ln/>
        </p:spPr>
        <p:txBody>
          <a:bodyPr wrap="square" lIns="0" tIns="0" rIns="0" bIns="0" rtlCol="0" anchor="ctr"/>
          <a:lstStyle/>
          <a:p>
            <a:pPr marL="0" indent="0" algn="ctr">
              <a:buNone/>
            </a:pPr>
            <a:r>
              <a:rPr lang="en-US" sz="1100" b="1" dirty="0">
                <a:solidFill>
                  <a:srgbClr val="0A2240"/>
                </a:solidFill>
                <a:latin typeface="Calibri" pitchFamily="34" charset="0"/>
                <a:ea typeface="Calibri" pitchFamily="34" charset="-122"/>
                <a:cs typeface="Calibri" pitchFamily="34" charset="-120"/>
              </a:rPr>
              <a:t>3</a:t>
            </a:r>
            <a:endParaRPr lang="en-US" sz="1100" dirty="0"/>
          </a:p>
        </p:txBody>
      </p:sp>
      <p:sp>
        <p:nvSpPr>
          <p:cNvPr id="25" name="Text 20"/>
          <p:cNvSpPr txBox="1"/>
          <p:nvPr/>
        </p:nvSpPr>
        <p:spPr>
          <a:xfrm>
            <a:off x="4907280" y="2139696"/>
            <a:ext cx="1463040" cy="292608"/>
          </a:xfrm>
          <a:prstGeom prst="rect">
            <a:avLst/>
          </a:prstGeom>
          <a:noFill/>
          <a:ln/>
        </p:spPr>
        <p:txBody>
          <a:bodyPr wrap="square" lIns="0" tIns="0" rIns="0" bIns="0" rtlCol="0" anchor="t"/>
          <a:lstStyle/>
          <a:p>
            <a:pPr marL="0" indent="0">
              <a:buNone/>
            </a:pPr>
            <a:r>
              <a:rPr lang="en-US" sz="1500" b="1" dirty="0">
                <a:solidFill>
                  <a:srgbClr val="0A2240"/>
                </a:solidFill>
                <a:latin typeface="Calibri" pitchFamily="34" charset="0"/>
                <a:ea typeface="Calibri" pitchFamily="34" charset="-122"/>
                <a:cs typeface="Calibri" pitchFamily="34" charset="-120"/>
              </a:rPr>
              <a:t>Agenda</a:t>
            </a:r>
            <a:endParaRPr lang="en-US" sz="1500" dirty="0"/>
          </a:p>
        </p:txBody>
      </p:sp>
      <p:sp>
        <p:nvSpPr>
          <p:cNvPr id="26" name="Text 21"/>
          <p:cNvSpPr txBox="1"/>
          <p:nvPr/>
        </p:nvSpPr>
        <p:spPr>
          <a:xfrm>
            <a:off x="4907280" y="2450592"/>
            <a:ext cx="1508760" cy="621792"/>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Pide un bloque; el tutor lo confirma y ambos reciben un correo.</a:t>
            </a:r>
            <a:endParaRPr lang="en-US" sz="1200" dirty="0"/>
          </a:p>
        </p:txBody>
      </p:sp>
      <p:sp>
        <p:nvSpPr>
          <p:cNvPr id="27" name="Shape 22"/>
          <p:cNvSpPr/>
          <p:nvPr/>
        </p:nvSpPr>
        <p:spPr>
          <a:xfrm>
            <a:off x="6608064" y="2194560"/>
            <a:ext cx="195072" cy="0"/>
          </a:xfrm>
          <a:prstGeom prst="line">
            <a:avLst/>
          </a:prstGeom>
          <a:noFill/>
          <a:ln w="28575">
            <a:solidFill>
              <a:srgbClr val="F9B934"/>
            </a:solidFill>
            <a:prstDash val="solid"/>
            <a:tailEnd type="triangle"/>
          </a:ln>
        </p:spPr>
        <p:txBody>
          <a:bodyPr/>
          <a:lstStyle/>
          <a:p>
            <a:endParaRPr lang="es-CL"/>
          </a:p>
        </p:txBody>
      </p:sp>
      <p:sp>
        <p:nvSpPr>
          <p:cNvPr id="28" name="Shape 23"/>
          <p:cNvSpPr/>
          <p:nvPr/>
        </p:nvSpPr>
        <p:spPr>
          <a:xfrm>
            <a:off x="6858000" y="1280160"/>
            <a:ext cx="1828800" cy="1828800"/>
          </a:xfrm>
          <a:prstGeom prst="roundRect">
            <a:avLst>
              <a:gd name="adj" fmla="val 4000"/>
            </a:avLst>
          </a:prstGeom>
          <a:solidFill>
            <a:srgbClr val="EDF1F7"/>
          </a:solidFill>
          <a:ln w="12700">
            <a:solidFill>
              <a:srgbClr val="EDF1F7"/>
            </a:solidFill>
            <a:prstDash val="solid"/>
          </a:ln>
        </p:spPr>
        <p:txBody>
          <a:bodyPr/>
          <a:lstStyle/>
          <a:p>
            <a:endParaRPr lang="es-CL"/>
          </a:p>
        </p:txBody>
      </p:sp>
      <p:sp>
        <p:nvSpPr>
          <p:cNvPr id="29" name="Shape 24"/>
          <p:cNvSpPr/>
          <p:nvPr/>
        </p:nvSpPr>
        <p:spPr>
          <a:xfrm>
            <a:off x="7040880" y="1444752"/>
            <a:ext cx="566928" cy="566928"/>
          </a:xfrm>
          <a:prstGeom prst="ellipse">
            <a:avLst/>
          </a:prstGeom>
          <a:solidFill>
            <a:srgbClr val="0A2240"/>
          </a:solidFill>
          <a:ln w="12700">
            <a:solidFill>
              <a:srgbClr val="0A2240"/>
            </a:solidFill>
            <a:prstDash val="solid"/>
          </a:ln>
        </p:spPr>
        <p:txBody>
          <a:bodyPr/>
          <a:lstStyle/>
          <a:p>
            <a:endParaRPr lang="es-CL"/>
          </a:p>
        </p:txBody>
      </p:sp>
      <p:pic>
        <p:nvPicPr>
          <p:cNvPr id="30" name="Image 3" descr="preencoded.png"/>
          <p:cNvPicPr>
            <a:picLocks noChangeAspect="1"/>
          </p:cNvPicPr>
          <p:nvPr/>
        </p:nvPicPr>
        <p:blipFill>
          <a:blip r:embed="rId6"/>
          <a:stretch>
            <a:fillRect/>
          </a:stretch>
        </p:blipFill>
        <p:spPr>
          <a:xfrm>
            <a:off x="7176943" y="1580815"/>
            <a:ext cx="294803" cy="294803"/>
          </a:xfrm>
          <a:prstGeom prst="rect">
            <a:avLst/>
          </a:prstGeom>
        </p:spPr>
      </p:pic>
      <p:sp>
        <p:nvSpPr>
          <p:cNvPr id="31" name="Shape 25"/>
          <p:cNvSpPr/>
          <p:nvPr/>
        </p:nvSpPr>
        <p:spPr>
          <a:xfrm>
            <a:off x="7461504" y="1389888"/>
            <a:ext cx="274320" cy="274320"/>
          </a:xfrm>
          <a:prstGeom prst="ellipse">
            <a:avLst/>
          </a:prstGeom>
          <a:solidFill>
            <a:srgbClr val="F9B934"/>
          </a:solidFill>
          <a:ln w="19050">
            <a:solidFill>
              <a:srgbClr val="FFFFFF"/>
            </a:solidFill>
            <a:prstDash val="solid"/>
          </a:ln>
        </p:spPr>
        <p:txBody>
          <a:bodyPr/>
          <a:lstStyle/>
          <a:p>
            <a:endParaRPr lang="es-CL"/>
          </a:p>
        </p:txBody>
      </p:sp>
      <p:sp>
        <p:nvSpPr>
          <p:cNvPr id="32" name="Text 26"/>
          <p:cNvSpPr txBox="1"/>
          <p:nvPr/>
        </p:nvSpPr>
        <p:spPr>
          <a:xfrm>
            <a:off x="7461504" y="1389888"/>
            <a:ext cx="274320" cy="274320"/>
          </a:xfrm>
          <a:prstGeom prst="rect">
            <a:avLst/>
          </a:prstGeom>
          <a:noFill/>
          <a:ln/>
        </p:spPr>
        <p:txBody>
          <a:bodyPr wrap="square" lIns="0" tIns="0" rIns="0" bIns="0" rtlCol="0" anchor="ctr"/>
          <a:lstStyle/>
          <a:p>
            <a:pPr marL="0" indent="0" algn="ctr">
              <a:buNone/>
            </a:pPr>
            <a:r>
              <a:rPr lang="en-US" sz="1100" b="1" dirty="0">
                <a:solidFill>
                  <a:srgbClr val="0A2240"/>
                </a:solidFill>
                <a:latin typeface="Calibri" pitchFamily="34" charset="0"/>
                <a:ea typeface="Calibri" pitchFamily="34" charset="-122"/>
                <a:cs typeface="Calibri" pitchFamily="34" charset="-120"/>
              </a:rPr>
              <a:t>4</a:t>
            </a:r>
            <a:endParaRPr lang="en-US" sz="1100" dirty="0"/>
          </a:p>
        </p:txBody>
      </p:sp>
      <p:sp>
        <p:nvSpPr>
          <p:cNvPr id="33" name="Text 27"/>
          <p:cNvSpPr txBox="1"/>
          <p:nvPr/>
        </p:nvSpPr>
        <p:spPr>
          <a:xfrm>
            <a:off x="7040880" y="2139696"/>
            <a:ext cx="1463040" cy="292608"/>
          </a:xfrm>
          <a:prstGeom prst="rect">
            <a:avLst/>
          </a:prstGeom>
          <a:noFill/>
          <a:ln/>
        </p:spPr>
        <p:txBody>
          <a:bodyPr wrap="square" lIns="0" tIns="0" rIns="0" bIns="0" rtlCol="0" anchor="t"/>
          <a:lstStyle/>
          <a:p>
            <a:pPr marL="0" indent="0">
              <a:buNone/>
            </a:pPr>
            <a:r>
              <a:rPr lang="en-US" sz="1500" b="1" dirty="0">
                <a:solidFill>
                  <a:srgbClr val="0A2240"/>
                </a:solidFill>
                <a:latin typeface="Calibri" pitchFamily="34" charset="0"/>
                <a:ea typeface="Calibri" pitchFamily="34" charset="-122"/>
                <a:cs typeface="Calibri" pitchFamily="34" charset="-120"/>
              </a:rPr>
              <a:t>Evalúa</a:t>
            </a:r>
            <a:endParaRPr lang="en-US" sz="1500" dirty="0"/>
          </a:p>
        </p:txBody>
      </p:sp>
      <p:sp>
        <p:nvSpPr>
          <p:cNvPr id="34" name="Text 28"/>
          <p:cNvSpPr txBox="1"/>
          <p:nvPr/>
        </p:nvSpPr>
        <p:spPr>
          <a:xfrm>
            <a:off x="7040880" y="2450592"/>
            <a:ext cx="1508760" cy="621792"/>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Después de la sesión, nota de 1 a 5 que suma a la reputación.</a:t>
            </a:r>
            <a:endParaRPr lang="en-US" sz="1200" dirty="0"/>
          </a:p>
        </p:txBody>
      </p:sp>
      <p:sp>
        <p:nvSpPr>
          <p:cNvPr id="35" name="Shape 29"/>
          <p:cNvSpPr/>
          <p:nvPr/>
        </p:nvSpPr>
        <p:spPr>
          <a:xfrm>
            <a:off x="457200" y="3310128"/>
            <a:ext cx="8229600" cy="960120"/>
          </a:xfrm>
          <a:prstGeom prst="roundRect">
            <a:avLst>
              <a:gd name="adj" fmla="val 7619"/>
            </a:avLst>
          </a:prstGeom>
          <a:solidFill>
            <a:srgbClr val="FFFFFF"/>
          </a:solidFill>
          <a:ln w="12700">
            <a:solidFill>
              <a:srgbClr val="C9D3E3"/>
            </a:solidFill>
            <a:prstDash val="solid"/>
          </a:ln>
        </p:spPr>
        <p:txBody>
          <a:bodyPr/>
          <a:lstStyle/>
          <a:p>
            <a:endParaRPr lang="es-CL"/>
          </a:p>
        </p:txBody>
      </p:sp>
      <p:sp>
        <p:nvSpPr>
          <p:cNvPr id="36" name="Shape 30"/>
          <p:cNvSpPr/>
          <p:nvPr/>
        </p:nvSpPr>
        <p:spPr>
          <a:xfrm>
            <a:off x="640080" y="3511296"/>
            <a:ext cx="548640" cy="548640"/>
          </a:xfrm>
          <a:prstGeom prst="ellipse">
            <a:avLst/>
          </a:prstGeom>
          <a:solidFill>
            <a:srgbClr val="F9B934"/>
          </a:solidFill>
          <a:ln w="12700">
            <a:solidFill>
              <a:srgbClr val="F9B934"/>
            </a:solidFill>
            <a:prstDash val="solid"/>
          </a:ln>
        </p:spPr>
        <p:txBody>
          <a:bodyPr/>
          <a:lstStyle/>
          <a:p>
            <a:endParaRPr lang="es-CL"/>
          </a:p>
        </p:txBody>
      </p:sp>
      <p:pic>
        <p:nvPicPr>
          <p:cNvPr id="37" name="Image 4" descr="preencoded.png"/>
          <p:cNvPicPr>
            <a:picLocks noChangeAspect="1"/>
          </p:cNvPicPr>
          <p:nvPr/>
        </p:nvPicPr>
        <p:blipFill>
          <a:blip r:embed="rId7"/>
          <a:stretch>
            <a:fillRect/>
          </a:stretch>
        </p:blipFill>
        <p:spPr>
          <a:xfrm>
            <a:off x="771754" y="3642970"/>
            <a:ext cx="285293" cy="285293"/>
          </a:xfrm>
          <a:prstGeom prst="rect">
            <a:avLst/>
          </a:prstGeom>
        </p:spPr>
      </p:pic>
      <p:sp>
        <p:nvSpPr>
          <p:cNvPr id="38" name="Text 31"/>
          <p:cNvSpPr txBox="1"/>
          <p:nvPr/>
        </p:nvSpPr>
        <p:spPr>
          <a:xfrm>
            <a:off x="1371600" y="3383280"/>
            <a:ext cx="7178040" cy="822960"/>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Un mismo usuario pide y ofrece ayuda. </a:t>
            </a:r>
            <a:r>
              <a:rPr lang="en-US" sz="1300" dirty="0">
                <a:solidFill>
                  <a:srgbClr val="1E2A3A"/>
                </a:solidFill>
                <a:latin typeface="Calibri" pitchFamily="34" charset="0"/>
                <a:ea typeface="Calibri" pitchFamily="34" charset="-122"/>
                <a:cs typeface="Calibri" pitchFamily="34" charset="-120"/>
              </a:rPr>
              <a:t>Solo puede enseñar asignaturas de su malla que estén en semestres anteriores a su nivel, con la tarifa que él fija (puede ser $0). El pago es simulado y la sesión ocurre en persona o por un enlace externo.</a:t>
            </a:r>
            <a:endParaRPr lang="en-US" sz="1300" dirty="0"/>
          </a:p>
        </p:txBody>
      </p:sp>
      <p:sp>
        <p:nvSpPr>
          <p:cNvPr id="39" name="Text 32"/>
          <p:cNvSpPr txBox="1"/>
          <p:nvPr/>
        </p:nvSpPr>
        <p:spPr>
          <a:xfrm>
            <a:off x="457200" y="4407408"/>
            <a:ext cx="8229600" cy="274320"/>
          </a:xfrm>
          <a:prstGeom prst="rect">
            <a:avLst/>
          </a:prstGeom>
          <a:noFill/>
          <a:ln/>
        </p:spPr>
        <p:txBody>
          <a:bodyPr wrap="square" lIns="0" tIns="0" rIns="0" bIns="0" rtlCol="0" anchor="t"/>
          <a:lstStyle/>
          <a:p>
            <a:pPr marL="0" indent="0">
              <a:buNone/>
            </a:pPr>
            <a:r>
              <a:rPr lang="en-US" sz="1100" i="1" dirty="0">
                <a:solidFill>
                  <a:srgbClr val="5A6478"/>
                </a:solidFill>
                <a:latin typeface="Calibri" pitchFamily="34" charset="0"/>
                <a:ea typeface="Calibri" pitchFamily="34" charset="-122"/>
                <a:cs typeface="Calibri" pitchFamily="34" charset="-120"/>
              </a:rPr>
              <a:t>Fuera de esta versión: videollamada, chat interno, aplicación móvil nativa, pagos reales e integración con los sistemas de Duoc UC.</a:t>
            </a:r>
            <a:endParaRPr lang="en-US" sz="1100" dirty="0"/>
          </a:p>
        </p:txBody>
      </p:sp>
      <p:sp>
        <p:nvSpPr>
          <p:cNvPr id="40"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OBJETIVOS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Qué nos comprometemos a lograr</a:t>
            </a:r>
            <a:endParaRPr lang="en-US" sz="2800" dirty="0"/>
          </a:p>
        </p:txBody>
      </p:sp>
      <p:sp>
        <p:nvSpPr>
          <p:cNvPr id="4" name="Shape 2"/>
          <p:cNvSpPr/>
          <p:nvPr/>
        </p:nvSpPr>
        <p:spPr>
          <a:xfrm>
            <a:off x="457200" y="1280160"/>
            <a:ext cx="3246120" cy="3429000"/>
          </a:xfrm>
          <a:prstGeom prst="roundRect">
            <a:avLst>
              <a:gd name="adj" fmla="val 2254"/>
            </a:avLst>
          </a:prstGeom>
          <a:solidFill>
            <a:srgbClr val="0A2240"/>
          </a:solidFill>
          <a:ln w="12700">
            <a:solidFill>
              <a:srgbClr val="0A2240"/>
            </a:solidFill>
            <a:prstDash val="solid"/>
          </a:ln>
        </p:spPr>
        <p:txBody>
          <a:bodyPr/>
          <a:lstStyle/>
          <a:p>
            <a:endParaRPr lang="es-CL"/>
          </a:p>
        </p:txBody>
      </p:sp>
      <p:sp>
        <p:nvSpPr>
          <p:cNvPr id="5" name="Shape 3"/>
          <p:cNvSpPr/>
          <p:nvPr/>
        </p:nvSpPr>
        <p:spPr>
          <a:xfrm>
            <a:off x="685800" y="1481328"/>
            <a:ext cx="502920" cy="502920"/>
          </a:xfrm>
          <a:prstGeom prst="ellipse">
            <a:avLst/>
          </a:prstGeom>
          <a:solidFill>
            <a:srgbClr val="F9B934"/>
          </a:solidFill>
          <a:ln w="12700">
            <a:solidFill>
              <a:srgbClr val="F9B934"/>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806501" y="1602029"/>
            <a:ext cx="261518" cy="261518"/>
          </a:xfrm>
          <a:prstGeom prst="rect">
            <a:avLst/>
          </a:prstGeom>
        </p:spPr>
      </p:pic>
      <p:sp>
        <p:nvSpPr>
          <p:cNvPr id="7" name="Text 4"/>
          <p:cNvSpPr txBox="1"/>
          <p:nvPr/>
        </p:nvSpPr>
        <p:spPr>
          <a:xfrm>
            <a:off x="1325880" y="1554480"/>
            <a:ext cx="2194560" cy="365760"/>
          </a:xfrm>
          <a:prstGeom prst="rect">
            <a:avLst/>
          </a:prstGeom>
          <a:noFill/>
          <a:ln/>
        </p:spPr>
        <p:txBody>
          <a:bodyPr wrap="square" lIns="0" tIns="0" rIns="0" bIns="0" rtlCol="0" anchor="ctr"/>
          <a:lstStyle/>
          <a:p>
            <a:pPr marL="0" indent="0">
              <a:buNone/>
            </a:pPr>
            <a:r>
              <a:rPr lang="en-US" sz="1500" b="1" dirty="0">
                <a:solidFill>
                  <a:srgbClr val="F9B934"/>
                </a:solidFill>
                <a:latin typeface="Calibri" pitchFamily="34" charset="0"/>
                <a:ea typeface="Calibri" pitchFamily="34" charset="-122"/>
                <a:cs typeface="Calibri" pitchFamily="34" charset="-120"/>
              </a:rPr>
              <a:t>Objetivo general</a:t>
            </a:r>
            <a:endParaRPr lang="en-US" sz="1500" dirty="0"/>
          </a:p>
        </p:txBody>
      </p:sp>
      <p:sp>
        <p:nvSpPr>
          <p:cNvPr id="8" name="Text 5"/>
          <p:cNvSpPr txBox="1"/>
          <p:nvPr/>
        </p:nvSpPr>
        <p:spPr>
          <a:xfrm>
            <a:off x="685800" y="2103120"/>
            <a:ext cx="2834640" cy="246888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Desarrollar e implementar una plataforma web que centralice la oferta y la demanda de apoyo académico entre estudiantes de Duoc UC, para buscar tutores por asignatura, agendar tutorías y evaluar la experiencia, con la reputación de cada tutor visible para la comunidad.</a:t>
            </a:r>
            <a:endParaRPr lang="en-US" sz="1550" dirty="0"/>
          </a:p>
        </p:txBody>
      </p:sp>
      <p:sp>
        <p:nvSpPr>
          <p:cNvPr id="9" name="Shape 6"/>
          <p:cNvSpPr/>
          <p:nvPr/>
        </p:nvSpPr>
        <p:spPr>
          <a:xfrm>
            <a:off x="4023360" y="1335024"/>
            <a:ext cx="530352" cy="530352"/>
          </a:xfrm>
          <a:prstGeom prst="ellipse">
            <a:avLst/>
          </a:prstGeom>
          <a:solidFill>
            <a:srgbClr val="EDF1F7"/>
          </a:solidFill>
          <a:ln w="15875">
            <a:solidFill>
              <a:srgbClr val="1D4E89"/>
            </a:solidFill>
            <a:prstDash val="solid"/>
          </a:ln>
        </p:spPr>
        <p:txBody>
          <a:bodyPr/>
          <a:lstStyle/>
          <a:p>
            <a:endParaRPr lang="es-CL"/>
          </a:p>
        </p:txBody>
      </p:sp>
      <p:sp>
        <p:nvSpPr>
          <p:cNvPr id="10" name="Text 7"/>
          <p:cNvSpPr txBox="1"/>
          <p:nvPr/>
        </p:nvSpPr>
        <p:spPr>
          <a:xfrm>
            <a:off x="4023360" y="1335024"/>
            <a:ext cx="530352" cy="530352"/>
          </a:xfrm>
          <a:prstGeom prst="rect">
            <a:avLst/>
          </a:prstGeom>
          <a:noFill/>
          <a:ln/>
        </p:spPr>
        <p:txBody>
          <a:bodyPr wrap="square" lIns="0" tIns="0" rIns="0" bIns="0" rtlCol="0" anchor="ctr"/>
          <a:lstStyle/>
          <a:p>
            <a:pPr marL="0" indent="0" algn="ctr">
              <a:buNone/>
            </a:pPr>
            <a:r>
              <a:rPr lang="en-US" sz="1200" b="1" dirty="0">
                <a:solidFill>
                  <a:srgbClr val="1D4E89"/>
                </a:solidFill>
                <a:latin typeface="Calibri" pitchFamily="34" charset="0"/>
                <a:ea typeface="Calibri" pitchFamily="34" charset="-122"/>
                <a:cs typeface="Calibri" pitchFamily="34" charset="-120"/>
              </a:rPr>
              <a:t>OE1</a:t>
            </a:r>
            <a:endParaRPr lang="en-US" sz="1200" dirty="0"/>
          </a:p>
        </p:txBody>
      </p:sp>
      <p:sp>
        <p:nvSpPr>
          <p:cNvPr id="11" name="Text 8"/>
          <p:cNvSpPr txBox="1"/>
          <p:nvPr/>
        </p:nvSpPr>
        <p:spPr>
          <a:xfrm>
            <a:off x="4709160" y="1280160"/>
            <a:ext cx="3977640" cy="640080"/>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Un catálogo académico que represente la malla de cualquier carrera, con al menos 3 carreras completas.</a:t>
            </a:r>
            <a:endParaRPr lang="en-US" sz="1250" dirty="0"/>
          </a:p>
        </p:txBody>
      </p:sp>
      <p:sp>
        <p:nvSpPr>
          <p:cNvPr id="12" name="Shape 9"/>
          <p:cNvSpPr/>
          <p:nvPr/>
        </p:nvSpPr>
        <p:spPr>
          <a:xfrm>
            <a:off x="4023360" y="2029968"/>
            <a:ext cx="530352" cy="530352"/>
          </a:xfrm>
          <a:prstGeom prst="ellipse">
            <a:avLst/>
          </a:prstGeom>
          <a:solidFill>
            <a:srgbClr val="EDF1F7"/>
          </a:solidFill>
          <a:ln w="15875">
            <a:solidFill>
              <a:srgbClr val="1D4E89"/>
            </a:solidFill>
            <a:prstDash val="solid"/>
          </a:ln>
        </p:spPr>
        <p:txBody>
          <a:bodyPr/>
          <a:lstStyle/>
          <a:p>
            <a:endParaRPr lang="es-CL"/>
          </a:p>
        </p:txBody>
      </p:sp>
      <p:sp>
        <p:nvSpPr>
          <p:cNvPr id="13" name="Text 10"/>
          <p:cNvSpPr txBox="1"/>
          <p:nvPr/>
        </p:nvSpPr>
        <p:spPr>
          <a:xfrm>
            <a:off x="4023360" y="2029968"/>
            <a:ext cx="530352" cy="530352"/>
          </a:xfrm>
          <a:prstGeom prst="rect">
            <a:avLst/>
          </a:prstGeom>
          <a:noFill/>
          <a:ln/>
        </p:spPr>
        <p:txBody>
          <a:bodyPr wrap="square" lIns="0" tIns="0" rIns="0" bIns="0" rtlCol="0" anchor="ctr"/>
          <a:lstStyle/>
          <a:p>
            <a:pPr marL="0" indent="0" algn="ctr">
              <a:buNone/>
            </a:pPr>
            <a:r>
              <a:rPr lang="en-US" sz="1200" b="1" dirty="0">
                <a:solidFill>
                  <a:srgbClr val="1D4E89"/>
                </a:solidFill>
                <a:latin typeface="Calibri" pitchFamily="34" charset="0"/>
                <a:ea typeface="Calibri" pitchFamily="34" charset="-122"/>
                <a:cs typeface="Calibri" pitchFamily="34" charset="-120"/>
              </a:rPr>
              <a:t>OE2</a:t>
            </a:r>
            <a:endParaRPr lang="en-US" sz="1200" dirty="0"/>
          </a:p>
        </p:txBody>
      </p:sp>
      <p:sp>
        <p:nvSpPr>
          <p:cNvPr id="14" name="Text 11"/>
          <p:cNvSpPr txBox="1"/>
          <p:nvPr/>
        </p:nvSpPr>
        <p:spPr>
          <a:xfrm>
            <a:off x="4709160" y="1975104"/>
            <a:ext cx="3977640" cy="640080"/>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Registro, autenticación y perfiles con roles de estudiante, tutor y administrador, y la regla que habilita al tutor.</a:t>
            </a:r>
            <a:endParaRPr lang="en-US" sz="1250" dirty="0"/>
          </a:p>
        </p:txBody>
      </p:sp>
      <p:sp>
        <p:nvSpPr>
          <p:cNvPr id="15" name="Shape 12"/>
          <p:cNvSpPr/>
          <p:nvPr/>
        </p:nvSpPr>
        <p:spPr>
          <a:xfrm>
            <a:off x="4023360" y="2724912"/>
            <a:ext cx="530352" cy="530352"/>
          </a:xfrm>
          <a:prstGeom prst="ellipse">
            <a:avLst/>
          </a:prstGeom>
          <a:solidFill>
            <a:srgbClr val="EDF1F7"/>
          </a:solidFill>
          <a:ln w="15875">
            <a:solidFill>
              <a:srgbClr val="1D4E89"/>
            </a:solidFill>
            <a:prstDash val="solid"/>
          </a:ln>
        </p:spPr>
        <p:txBody>
          <a:bodyPr/>
          <a:lstStyle/>
          <a:p>
            <a:endParaRPr lang="es-CL"/>
          </a:p>
        </p:txBody>
      </p:sp>
      <p:sp>
        <p:nvSpPr>
          <p:cNvPr id="16" name="Text 13"/>
          <p:cNvSpPr txBox="1"/>
          <p:nvPr/>
        </p:nvSpPr>
        <p:spPr>
          <a:xfrm>
            <a:off x="4023360" y="2724912"/>
            <a:ext cx="530352" cy="530352"/>
          </a:xfrm>
          <a:prstGeom prst="rect">
            <a:avLst/>
          </a:prstGeom>
          <a:noFill/>
          <a:ln/>
        </p:spPr>
        <p:txBody>
          <a:bodyPr wrap="square" lIns="0" tIns="0" rIns="0" bIns="0" rtlCol="0" anchor="ctr"/>
          <a:lstStyle/>
          <a:p>
            <a:pPr marL="0" indent="0" algn="ctr">
              <a:buNone/>
            </a:pPr>
            <a:r>
              <a:rPr lang="en-US" sz="1200" b="1" dirty="0">
                <a:solidFill>
                  <a:srgbClr val="1D4E89"/>
                </a:solidFill>
                <a:latin typeface="Calibri" pitchFamily="34" charset="0"/>
                <a:ea typeface="Calibri" pitchFamily="34" charset="-122"/>
                <a:cs typeface="Calibri" pitchFamily="34" charset="-120"/>
              </a:rPr>
              <a:t>OE3</a:t>
            </a:r>
            <a:endParaRPr lang="en-US" sz="1200" dirty="0"/>
          </a:p>
        </p:txBody>
      </p:sp>
      <p:sp>
        <p:nvSpPr>
          <p:cNvPr id="17" name="Text 14"/>
          <p:cNvSpPr txBox="1"/>
          <p:nvPr/>
        </p:nvSpPr>
        <p:spPr>
          <a:xfrm>
            <a:off x="4709160" y="2670048"/>
            <a:ext cx="3977640" cy="640080"/>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El flujo completo de agendamiento: disponibilidad, búsqueda, solicitud, confirmación, cancelación y avisos por correo.</a:t>
            </a:r>
            <a:endParaRPr lang="en-US" sz="1250" dirty="0"/>
          </a:p>
        </p:txBody>
      </p:sp>
      <p:sp>
        <p:nvSpPr>
          <p:cNvPr id="18" name="Shape 15"/>
          <p:cNvSpPr/>
          <p:nvPr/>
        </p:nvSpPr>
        <p:spPr>
          <a:xfrm>
            <a:off x="4023360" y="3419856"/>
            <a:ext cx="530352" cy="530352"/>
          </a:xfrm>
          <a:prstGeom prst="ellipse">
            <a:avLst/>
          </a:prstGeom>
          <a:solidFill>
            <a:srgbClr val="EDF1F7"/>
          </a:solidFill>
          <a:ln w="15875">
            <a:solidFill>
              <a:srgbClr val="1D4E89"/>
            </a:solidFill>
            <a:prstDash val="solid"/>
          </a:ln>
        </p:spPr>
        <p:txBody>
          <a:bodyPr/>
          <a:lstStyle/>
          <a:p>
            <a:endParaRPr lang="es-CL"/>
          </a:p>
        </p:txBody>
      </p:sp>
      <p:sp>
        <p:nvSpPr>
          <p:cNvPr id="19" name="Text 16"/>
          <p:cNvSpPr txBox="1"/>
          <p:nvPr/>
        </p:nvSpPr>
        <p:spPr>
          <a:xfrm>
            <a:off x="4023360" y="3419856"/>
            <a:ext cx="530352" cy="530352"/>
          </a:xfrm>
          <a:prstGeom prst="rect">
            <a:avLst/>
          </a:prstGeom>
          <a:noFill/>
          <a:ln/>
        </p:spPr>
        <p:txBody>
          <a:bodyPr wrap="square" lIns="0" tIns="0" rIns="0" bIns="0" rtlCol="0" anchor="ctr"/>
          <a:lstStyle/>
          <a:p>
            <a:pPr marL="0" indent="0" algn="ctr">
              <a:buNone/>
            </a:pPr>
            <a:r>
              <a:rPr lang="en-US" sz="1200" b="1" dirty="0">
                <a:solidFill>
                  <a:srgbClr val="1D4E89"/>
                </a:solidFill>
                <a:latin typeface="Calibri" pitchFamily="34" charset="0"/>
                <a:ea typeface="Calibri" pitchFamily="34" charset="-122"/>
                <a:cs typeface="Calibri" pitchFamily="34" charset="-120"/>
              </a:rPr>
              <a:t>OE4</a:t>
            </a:r>
            <a:endParaRPr lang="en-US" sz="1200" dirty="0"/>
          </a:p>
        </p:txBody>
      </p:sp>
      <p:sp>
        <p:nvSpPr>
          <p:cNvPr id="20" name="Text 17"/>
          <p:cNvSpPr txBox="1"/>
          <p:nvPr/>
        </p:nvSpPr>
        <p:spPr>
          <a:xfrm>
            <a:off x="4709160" y="3364992"/>
            <a:ext cx="3977640" cy="640080"/>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La evaluación posterior a cada tutoría y una reputación visible por tutor.</a:t>
            </a:r>
            <a:endParaRPr lang="en-US" sz="1250" dirty="0"/>
          </a:p>
        </p:txBody>
      </p:sp>
      <p:sp>
        <p:nvSpPr>
          <p:cNvPr id="21" name="Shape 18"/>
          <p:cNvSpPr/>
          <p:nvPr/>
        </p:nvSpPr>
        <p:spPr>
          <a:xfrm>
            <a:off x="4023360" y="4114800"/>
            <a:ext cx="530352" cy="530352"/>
          </a:xfrm>
          <a:prstGeom prst="ellipse">
            <a:avLst/>
          </a:prstGeom>
          <a:solidFill>
            <a:srgbClr val="EDF1F7"/>
          </a:solidFill>
          <a:ln w="15875">
            <a:solidFill>
              <a:srgbClr val="1D4E89"/>
            </a:solidFill>
            <a:prstDash val="solid"/>
          </a:ln>
        </p:spPr>
        <p:txBody>
          <a:bodyPr/>
          <a:lstStyle/>
          <a:p>
            <a:endParaRPr lang="es-CL"/>
          </a:p>
        </p:txBody>
      </p:sp>
      <p:sp>
        <p:nvSpPr>
          <p:cNvPr id="22" name="Text 19"/>
          <p:cNvSpPr txBox="1"/>
          <p:nvPr/>
        </p:nvSpPr>
        <p:spPr>
          <a:xfrm>
            <a:off x="4023360" y="4114800"/>
            <a:ext cx="530352" cy="530352"/>
          </a:xfrm>
          <a:prstGeom prst="rect">
            <a:avLst/>
          </a:prstGeom>
          <a:noFill/>
          <a:ln/>
        </p:spPr>
        <p:txBody>
          <a:bodyPr wrap="square" lIns="0" tIns="0" rIns="0" bIns="0" rtlCol="0" anchor="ctr"/>
          <a:lstStyle/>
          <a:p>
            <a:pPr marL="0" indent="0" algn="ctr">
              <a:buNone/>
            </a:pPr>
            <a:r>
              <a:rPr lang="en-US" sz="1200" b="1" dirty="0">
                <a:solidFill>
                  <a:srgbClr val="1D4E89"/>
                </a:solidFill>
                <a:latin typeface="Calibri" pitchFamily="34" charset="0"/>
                <a:ea typeface="Calibri" pitchFamily="34" charset="-122"/>
                <a:cs typeface="Calibri" pitchFamily="34" charset="-120"/>
              </a:rPr>
              <a:t>OE5</a:t>
            </a:r>
            <a:endParaRPr lang="en-US" sz="1200" dirty="0"/>
          </a:p>
        </p:txBody>
      </p:sp>
      <p:sp>
        <p:nvSpPr>
          <p:cNvPr id="23" name="Text 20"/>
          <p:cNvSpPr txBox="1"/>
          <p:nvPr/>
        </p:nvSpPr>
        <p:spPr>
          <a:xfrm>
            <a:off x="4709160" y="4059936"/>
            <a:ext cx="3977640" cy="640080"/>
          </a:xfrm>
          <a:prstGeom prst="rect">
            <a:avLst/>
          </a:prstGeom>
          <a:noFill/>
          <a:ln/>
        </p:spPr>
        <p:txBody>
          <a:bodyPr wrap="square" lIns="0" tIns="0" rIns="0" bIns="0" rtlCol="0" anchor="ctr"/>
          <a:lstStyle/>
          <a:p>
            <a:pPr marL="0" indent="0">
              <a:buNone/>
            </a:pPr>
            <a:r>
              <a:rPr lang="en-US" sz="1250" dirty="0">
                <a:solidFill>
                  <a:srgbClr val="1E2A3A"/>
                </a:solidFill>
                <a:latin typeface="Calibri" pitchFamily="34" charset="0"/>
                <a:ea typeface="Calibri" pitchFamily="34" charset="-122"/>
                <a:cs typeface="Calibri" pitchFamily="34" charset="-120"/>
              </a:rPr>
              <a:t>El despliegue en microservicios contenerizados, con un único punto de entrada.</a:t>
            </a:r>
            <a:endParaRPr lang="en-US" sz="125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PERFIL DE EGRESO</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Competencias que el proyecto pone en práctica</a:t>
            </a:r>
            <a:endParaRPr lang="en-US" sz="2800" dirty="0"/>
          </a:p>
        </p:txBody>
      </p:sp>
      <p:sp>
        <p:nvSpPr>
          <p:cNvPr id="4" name="Shape 2"/>
          <p:cNvSpPr/>
          <p:nvPr/>
        </p:nvSpPr>
        <p:spPr>
          <a:xfrm>
            <a:off x="457200" y="126187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5" name="Shape 3"/>
          <p:cNvSpPr/>
          <p:nvPr/>
        </p:nvSpPr>
        <p:spPr>
          <a:xfrm>
            <a:off x="594360" y="140817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695310" y="1509126"/>
            <a:ext cx="218724" cy="218724"/>
          </a:xfrm>
          <a:prstGeom prst="rect">
            <a:avLst/>
          </a:prstGeom>
        </p:spPr>
      </p:pic>
      <p:sp>
        <p:nvSpPr>
          <p:cNvPr id="7" name="Text 4"/>
          <p:cNvSpPr txBox="1"/>
          <p:nvPr/>
        </p:nvSpPr>
        <p:spPr>
          <a:xfrm>
            <a:off x="1097280" y="137160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Gestión de proyectos</a:t>
            </a:r>
            <a:endParaRPr lang="en-US" sz="1250" dirty="0"/>
          </a:p>
        </p:txBody>
      </p:sp>
      <p:sp>
        <p:nvSpPr>
          <p:cNvPr id="8" name="Text 5"/>
          <p:cNvSpPr txBox="1"/>
          <p:nvPr/>
        </p:nvSpPr>
        <p:spPr>
          <a:xfrm>
            <a:off x="594360" y="195681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Cinco documentos de planificación y 37 historias estimadas en horas.</a:t>
            </a:r>
            <a:endParaRPr lang="en-US" sz="1150" dirty="0"/>
          </a:p>
        </p:txBody>
      </p:sp>
      <p:sp>
        <p:nvSpPr>
          <p:cNvPr id="9" name="Shape 6"/>
          <p:cNvSpPr/>
          <p:nvPr/>
        </p:nvSpPr>
        <p:spPr>
          <a:xfrm>
            <a:off x="2560320" y="126187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10" name="Shape 7"/>
          <p:cNvSpPr/>
          <p:nvPr/>
        </p:nvSpPr>
        <p:spPr>
          <a:xfrm>
            <a:off x="2697480" y="140817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11" name="Image 1" descr="preencoded.png"/>
          <p:cNvPicPr>
            <a:picLocks noChangeAspect="1"/>
          </p:cNvPicPr>
          <p:nvPr/>
        </p:nvPicPr>
        <p:blipFill>
          <a:blip r:embed="rId4"/>
          <a:stretch>
            <a:fillRect/>
          </a:stretch>
        </p:blipFill>
        <p:spPr>
          <a:xfrm>
            <a:off x="2798430" y="1509126"/>
            <a:ext cx="218724" cy="218724"/>
          </a:xfrm>
          <a:prstGeom prst="rect">
            <a:avLst/>
          </a:prstGeom>
        </p:spPr>
      </p:pic>
      <p:sp>
        <p:nvSpPr>
          <p:cNvPr id="12" name="Text 8"/>
          <p:cNvSpPr txBox="1"/>
          <p:nvPr/>
        </p:nvSpPr>
        <p:spPr>
          <a:xfrm>
            <a:off x="3200400" y="137160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Modelos de datos</a:t>
            </a:r>
            <a:endParaRPr lang="en-US" sz="1250" dirty="0"/>
          </a:p>
        </p:txBody>
      </p:sp>
      <p:sp>
        <p:nvSpPr>
          <p:cNvPr id="13" name="Text 9"/>
          <p:cNvSpPr txBox="1"/>
          <p:nvPr/>
        </p:nvSpPr>
        <p:spPr>
          <a:xfrm>
            <a:off x="2697480" y="195681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Cuatro bases independientes y un catálogo que admite cualquier malla.</a:t>
            </a:r>
            <a:endParaRPr lang="en-US" sz="1150" dirty="0"/>
          </a:p>
        </p:txBody>
      </p:sp>
      <p:sp>
        <p:nvSpPr>
          <p:cNvPr id="14" name="Shape 10"/>
          <p:cNvSpPr/>
          <p:nvPr/>
        </p:nvSpPr>
        <p:spPr>
          <a:xfrm>
            <a:off x="4663440" y="126187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15" name="Shape 11"/>
          <p:cNvSpPr/>
          <p:nvPr/>
        </p:nvSpPr>
        <p:spPr>
          <a:xfrm>
            <a:off x="4800600" y="140817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16" name="Image 2" descr="preencoded.png"/>
          <p:cNvPicPr>
            <a:picLocks noChangeAspect="1"/>
          </p:cNvPicPr>
          <p:nvPr/>
        </p:nvPicPr>
        <p:blipFill>
          <a:blip r:embed="rId5"/>
          <a:stretch>
            <a:fillRect/>
          </a:stretch>
        </p:blipFill>
        <p:spPr>
          <a:xfrm>
            <a:off x="4901550" y="1509126"/>
            <a:ext cx="218724" cy="218724"/>
          </a:xfrm>
          <a:prstGeom prst="rect">
            <a:avLst/>
          </a:prstGeom>
        </p:spPr>
      </p:pic>
      <p:sp>
        <p:nvSpPr>
          <p:cNvPr id="17" name="Text 12"/>
          <p:cNvSpPr txBox="1"/>
          <p:nvPr/>
        </p:nvSpPr>
        <p:spPr>
          <a:xfrm>
            <a:off x="5303520" y="137160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Desarrollo de software</a:t>
            </a:r>
            <a:endParaRPr lang="en-US" sz="1250" dirty="0"/>
          </a:p>
        </p:txBody>
      </p:sp>
      <p:sp>
        <p:nvSpPr>
          <p:cNvPr id="18" name="Text 13"/>
          <p:cNvSpPr txBox="1"/>
          <p:nvPr/>
        </p:nvSpPr>
        <p:spPr>
          <a:xfrm>
            <a:off x="4800600" y="195681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Ramas por historia, revisión cruzada y definición de terminado.</a:t>
            </a:r>
            <a:endParaRPr lang="en-US" sz="1150" dirty="0"/>
          </a:p>
        </p:txBody>
      </p:sp>
      <p:sp>
        <p:nvSpPr>
          <p:cNvPr id="19" name="Shape 14"/>
          <p:cNvSpPr/>
          <p:nvPr/>
        </p:nvSpPr>
        <p:spPr>
          <a:xfrm>
            <a:off x="6766560" y="126187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20" name="Shape 15"/>
          <p:cNvSpPr/>
          <p:nvPr/>
        </p:nvSpPr>
        <p:spPr>
          <a:xfrm>
            <a:off x="6903720" y="140817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21" name="Image 3" descr="preencoded.png"/>
          <p:cNvPicPr>
            <a:picLocks noChangeAspect="1"/>
          </p:cNvPicPr>
          <p:nvPr/>
        </p:nvPicPr>
        <p:blipFill>
          <a:blip r:embed="rId6"/>
          <a:stretch>
            <a:fillRect/>
          </a:stretch>
        </p:blipFill>
        <p:spPr>
          <a:xfrm>
            <a:off x="7004670" y="1509126"/>
            <a:ext cx="218724" cy="218724"/>
          </a:xfrm>
          <a:prstGeom prst="rect">
            <a:avLst/>
          </a:prstGeom>
        </p:spPr>
      </p:pic>
      <p:sp>
        <p:nvSpPr>
          <p:cNvPr id="22" name="Text 16"/>
          <p:cNvSpPr txBox="1"/>
          <p:nvPr/>
        </p:nvSpPr>
        <p:spPr>
          <a:xfrm>
            <a:off x="7406640" y="137160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Pruebas de certificación</a:t>
            </a:r>
            <a:endParaRPr lang="en-US" sz="1250" dirty="0"/>
          </a:p>
        </p:txBody>
      </p:sp>
      <p:sp>
        <p:nvSpPr>
          <p:cNvPr id="23" name="Text 17"/>
          <p:cNvSpPr txBox="1"/>
          <p:nvPr/>
        </p:nvSpPr>
        <p:spPr>
          <a:xfrm>
            <a:off x="6903720" y="195681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Pruebas automáticas en cada cambio y cobertura mínima de 60 %.</a:t>
            </a:r>
            <a:endParaRPr lang="en-US" sz="1150" dirty="0"/>
          </a:p>
        </p:txBody>
      </p:sp>
      <p:sp>
        <p:nvSpPr>
          <p:cNvPr id="24" name="Shape 18"/>
          <p:cNvSpPr/>
          <p:nvPr/>
        </p:nvSpPr>
        <p:spPr>
          <a:xfrm>
            <a:off x="457200" y="290779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25" name="Shape 19"/>
          <p:cNvSpPr/>
          <p:nvPr/>
        </p:nvSpPr>
        <p:spPr>
          <a:xfrm>
            <a:off x="594360" y="305409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26" name="Image 4" descr="preencoded.png"/>
          <p:cNvPicPr>
            <a:picLocks noChangeAspect="1"/>
          </p:cNvPicPr>
          <p:nvPr/>
        </p:nvPicPr>
        <p:blipFill>
          <a:blip r:embed="rId7"/>
          <a:stretch>
            <a:fillRect/>
          </a:stretch>
        </p:blipFill>
        <p:spPr>
          <a:xfrm>
            <a:off x="695310" y="3155046"/>
            <a:ext cx="218724" cy="218724"/>
          </a:xfrm>
          <a:prstGeom prst="rect">
            <a:avLst/>
          </a:prstGeom>
        </p:spPr>
      </p:pic>
      <p:sp>
        <p:nvSpPr>
          <p:cNvPr id="27" name="Text 20"/>
          <p:cNvSpPr txBox="1"/>
          <p:nvPr/>
        </p:nvSpPr>
        <p:spPr>
          <a:xfrm>
            <a:off x="1097280" y="301752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Modelo arquitectónico</a:t>
            </a:r>
            <a:endParaRPr lang="en-US" sz="1250" dirty="0"/>
          </a:p>
        </p:txBody>
      </p:sp>
      <p:sp>
        <p:nvSpPr>
          <p:cNvPr id="28" name="Text 21"/>
          <p:cNvSpPr txBox="1"/>
          <p:nvPr/>
        </p:nvSpPr>
        <p:spPr>
          <a:xfrm>
            <a:off x="594360" y="360273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Microservicios con contratos OpenAPI y 15 decisiones documentadas.</a:t>
            </a:r>
            <a:endParaRPr lang="en-US" sz="1150" dirty="0"/>
          </a:p>
        </p:txBody>
      </p:sp>
      <p:sp>
        <p:nvSpPr>
          <p:cNvPr id="29" name="Shape 22"/>
          <p:cNvSpPr/>
          <p:nvPr/>
        </p:nvSpPr>
        <p:spPr>
          <a:xfrm>
            <a:off x="2560320" y="290779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30" name="Shape 23"/>
          <p:cNvSpPr/>
          <p:nvPr/>
        </p:nvSpPr>
        <p:spPr>
          <a:xfrm>
            <a:off x="2697480" y="305409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31" name="Image 5" descr="preencoded.png"/>
          <p:cNvPicPr>
            <a:picLocks noChangeAspect="1"/>
          </p:cNvPicPr>
          <p:nvPr/>
        </p:nvPicPr>
        <p:blipFill>
          <a:blip r:embed="rId8"/>
          <a:stretch>
            <a:fillRect/>
          </a:stretch>
        </p:blipFill>
        <p:spPr>
          <a:xfrm>
            <a:off x="2798430" y="3155046"/>
            <a:ext cx="218724" cy="218724"/>
          </a:xfrm>
          <a:prstGeom prst="rect">
            <a:avLst/>
          </a:prstGeom>
        </p:spPr>
      </p:pic>
      <p:sp>
        <p:nvSpPr>
          <p:cNvPr id="32" name="Text 24"/>
          <p:cNvSpPr txBox="1"/>
          <p:nvPr/>
        </p:nvSpPr>
        <p:spPr>
          <a:xfrm>
            <a:off x="3200400" y="301752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Ambientes y despliegue</a:t>
            </a:r>
            <a:endParaRPr lang="en-US" sz="1250" dirty="0"/>
          </a:p>
        </p:txBody>
      </p:sp>
      <p:sp>
        <p:nvSpPr>
          <p:cNvPr id="33" name="Text 25"/>
          <p:cNvSpPr txBox="1"/>
          <p:nvPr/>
        </p:nvSpPr>
        <p:spPr>
          <a:xfrm>
            <a:off x="2697480" y="360273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Todo el sistema se levanta con un solo comando en contenedores.</a:t>
            </a:r>
            <a:endParaRPr lang="en-US" sz="1150" dirty="0"/>
          </a:p>
        </p:txBody>
      </p:sp>
      <p:sp>
        <p:nvSpPr>
          <p:cNvPr id="34" name="Shape 26"/>
          <p:cNvSpPr/>
          <p:nvPr/>
        </p:nvSpPr>
        <p:spPr>
          <a:xfrm>
            <a:off x="4663440" y="290779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35" name="Shape 27"/>
          <p:cNvSpPr/>
          <p:nvPr/>
        </p:nvSpPr>
        <p:spPr>
          <a:xfrm>
            <a:off x="4800600" y="305409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36" name="Image 6" descr="preencoded.png"/>
          <p:cNvPicPr>
            <a:picLocks noChangeAspect="1"/>
          </p:cNvPicPr>
          <p:nvPr/>
        </p:nvPicPr>
        <p:blipFill>
          <a:blip r:embed="rId9"/>
          <a:stretch>
            <a:fillRect/>
          </a:stretch>
        </p:blipFill>
        <p:spPr>
          <a:xfrm>
            <a:off x="4901550" y="3155046"/>
            <a:ext cx="218724" cy="218724"/>
          </a:xfrm>
          <a:prstGeom prst="rect">
            <a:avLst/>
          </a:prstGeom>
        </p:spPr>
      </p:pic>
      <p:sp>
        <p:nvSpPr>
          <p:cNvPr id="37" name="Text 28"/>
          <p:cNvSpPr txBox="1"/>
          <p:nvPr/>
        </p:nvSpPr>
        <p:spPr>
          <a:xfrm>
            <a:off x="5303520" y="301752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Seguridad</a:t>
            </a:r>
            <a:endParaRPr lang="en-US" sz="1250" dirty="0"/>
          </a:p>
        </p:txBody>
      </p:sp>
      <p:sp>
        <p:nvSpPr>
          <p:cNvPr id="38" name="Text 29"/>
          <p:cNvSpPr txBox="1"/>
          <p:nvPr/>
        </p:nvSpPr>
        <p:spPr>
          <a:xfrm>
            <a:off x="4800600" y="360273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Contraseñas con hash, tokens firmados y límite de intentos.</a:t>
            </a:r>
            <a:endParaRPr lang="en-US" sz="1150" dirty="0"/>
          </a:p>
        </p:txBody>
      </p:sp>
      <p:sp>
        <p:nvSpPr>
          <p:cNvPr id="39" name="Shape 30"/>
          <p:cNvSpPr/>
          <p:nvPr/>
        </p:nvSpPr>
        <p:spPr>
          <a:xfrm>
            <a:off x="6766560" y="2907792"/>
            <a:ext cx="1920240" cy="1481328"/>
          </a:xfrm>
          <a:prstGeom prst="roundRect">
            <a:avLst>
              <a:gd name="adj" fmla="val 4938"/>
            </a:avLst>
          </a:prstGeom>
          <a:solidFill>
            <a:srgbClr val="EDF1F7"/>
          </a:solidFill>
          <a:ln w="12700">
            <a:solidFill>
              <a:srgbClr val="EDF1F7"/>
            </a:solidFill>
            <a:prstDash val="solid"/>
          </a:ln>
        </p:spPr>
        <p:txBody>
          <a:bodyPr/>
          <a:lstStyle/>
          <a:p>
            <a:endParaRPr lang="es-CL"/>
          </a:p>
        </p:txBody>
      </p:sp>
      <p:sp>
        <p:nvSpPr>
          <p:cNvPr id="40" name="Shape 31"/>
          <p:cNvSpPr/>
          <p:nvPr/>
        </p:nvSpPr>
        <p:spPr>
          <a:xfrm>
            <a:off x="6903720" y="3054096"/>
            <a:ext cx="420624" cy="420624"/>
          </a:xfrm>
          <a:prstGeom prst="ellipse">
            <a:avLst/>
          </a:prstGeom>
          <a:solidFill>
            <a:srgbClr val="0A2240"/>
          </a:solidFill>
          <a:ln w="12700">
            <a:solidFill>
              <a:srgbClr val="0A2240"/>
            </a:solidFill>
            <a:prstDash val="solid"/>
          </a:ln>
        </p:spPr>
        <p:txBody>
          <a:bodyPr/>
          <a:lstStyle/>
          <a:p>
            <a:endParaRPr lang="es-CL"/>
          </a:p>
        </p:txBody>
      </p:sp>
      <p:pic>
        <p:nvPicPr>
          <p:cNvPr id="41" name="Image 7" descr="preencoded.png"/>
          <p:cNvPicPr>
            <a:picLocks noChangeAspect="1"/>
          </p:cNvPicPr>
          <p:nvPr/>
        </p:nvPicPr>
        <p:blipFill>
          <a:blip r:embed="rId10"/>
          <a:stretch>
            <a:fillRect/>
          </a:stretch>
        </p:blipFill>
        <p:spPr>
          <a:xfrm>
            <a:off x="7004670" y="3155046"/>
            <a:ext cx="218724" cy="218724"/>
          </a:xfrm>
          <a:prstGeom prst="rect">
            <a:avLst/>
          </a:prstGeom>
        </p:spPr>
      </p:pic>
      <p:sp>
        <p:nvSpPr>
          <p:cNvPr id="42" name="Text 32"/>
          <p:cNvSpPr txBox="1"/>
          <p:nvPr/>
        </p:nvSpPr>
        <p:spPr>
          <a:xfrm>
            <a:off x="7406640" y="3017520"/>
            <a:ext cx="1188720" cy="502920"/>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Inglés</a:t>
            </a:r>
            <a:endParaRPr lang="en-US" sz="1250" dirty="0"/>
          </a:p>
        </p:txBody>
      </p:sp>
      <p:sp>
        <p:nvSpPr>
          <p:cNvPr id="43" name="Text 33"/>
          <p:cNvSpPr txBox="1"/>
          <p:nvPr/>
        </p:nvSpPr>
        <p:spPr>
          <a:xfrm>
            <a:off x="6903720" y="3602736"/>
            <a:ext cx="1645920" cy="73152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Abstract, conclusiones y reflexión escritos en inglés.</a:t>
            </a:r>
            <a:endParaRPr lang="en-US" sz="1150" dirty="0"/>
          </a:p>
        </p:txBody>
      </p:sp>
      <p:sp>
        <p:nvSpPr>
          <p:cNvPr id="44" name="Text 34"/>
          <p:cNvSpPr txBox="1"/>
          <p:nvPr/>
        </p:nvSpPr>
        <p:spPr>
          <a:xfrm>
            <a:off x="457200" y="4553712"/>
            <a:ext cx="7315200" cy="237744"/>
          </a:xfrm>
          <a:prstGeom prst="rect">
            <a:avLst/>
          </a:prstGeom>
          <a:noFill/>
          <a:ln/>
        </p:spPr>
        <p:txBody>
          <a:bodyPr wrap="square" lIns="0" tIns="0" rIns="0" bIns="0" rtlCol="0" anchor="t"/>
          <a:lstStyle/>
          <a:p>
            <a:pPr marL="0" indent="0">
              <a:buNone/>
            </a:pPr>
            <a:r>
              <a:rPr lang="en-US" sz="1100" i="1" dirty="0">
                <a:solidFill>
                  <a:srgbClr val="5A6478"/>
                </a:solidFill>
                <a:latin typeface="Calibri" pitchFamily="34" charset="0"/>
                <a:ea typeface="Calibri" pitchFamily="34" charset="-122"/>
                <a:cs typeface="Calibri" pitchFamily="34" charset="-120"/>
              </a:rPr>
              <a:t>También: propuestas de solución informática y comunicación oral y escrita.</a:t>
            </a:r>
            <a:endParaRPr lang="en-US" sz="1100" dirty="0"/>
          </a:p>
        </p:txBody>
      </p:sp>
      <p:sp>
        <p:nvSpPr>
          <p:cNvPr id="4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INTERESES PROFESIONALES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Por qué este proyecto, para cada uno</a:t>
            </a:r>
            <a:endParaRPr lang="en-US" sz="2800" dirty="0"/>
          </a:p>
        </p:txBody>
      </p:sp>
      <p:sp>
        <p:nvSpPr>
          <p:cNvPr id="4" name="Shape 2"/>
          <p:cNvSpPr/>
          <p:nvPr/>
        </p:nvSpPr>
        <p:spPr>
          <a:xfrm>
            <a:off x="457200" y="1280160"/>
            <a:ext cx="2560320" cy="3337560"/>
          </a:xfrm>
          <a:prstGeom prst="roundRect">
            <a:avLst>
              <a:gd name="adj" fmla="val 2857"/>
            </a:avLst>
          </a:prstGeom>
          <a:solidFill>
            <a:srgbClr val="EDF1F7"/>
          </a:solidFill>
          <a:ln w="12700">
            <a:solidFill>
              <a:srgbClr val="EDF1F7"/>
            </a:solidFill>
            <a:prstDash val="solid"/>
          </a:ln>
        </p:spPr>
        <p:txBody>
          <a:bodyPr/>
          <a:lstStyle/>
          <a:p>
            <a:endParaRPr lang="es-CL"/>
          </a:p>
        </p:txBody>
      </p:sp>
      <p:sp>
        <p:nvSpPr>
          <p:cNvPr id="5" name="Shape 3"/>
          <p:cNvSpPr/>
          <p:nvPr/>
        </p:nvSpPr>
        <p:spPr>
          <a:xfrm>
            <a:off x="640080" y="1463040"/>
            <a:ext cx="640080" cy="640080"/>
          </a:xfrm>
          <a:prstGeom prst="ellipse">
            <a:avLst/>
          </a:prstGeom>
          <a:solidFill>
            <a:srgbClr val="F9B934"/>
          </a:solidFill>
          <a:ln w="12700">
            <a:solidFill>
              <a:srgbClr val="FFFFFF"/>
            </a:solidFill>
            <a:prstDash val="solid"/>
          </a:ln>
        </p:spPr>
        <p:txBody>
          <a:bodyPr/>
          <a:lstStyle/>
          <a:p>
            <a:endParaRPr lang="es-CL"/>
          </a:p>
        </p:txBody>
      </p:sp>
      <p:sp>
        <p:nvSpPr>
          <p:cNvPr id="6" name="Text 4"/>
          <p:cNvSpPr txBox="1"/>
          <p:nvPr/>
        </p:nvSpPr>
        <p:spPr>
          <a:xfrm>
            <a:off x="640080" y="1463040"/>
            <a:ext cx="640080" cy="640080"/>
          </a:xfrm>
          <a:prstGeom prst="rect">
            <a:avLst/>
          </a:prstGeom>
          <a:noFill/>
          <a:ln/>
        </p:spPr>
        <p:txBody>
          <a:bodyPr wrap="square" lIns="0" tIns="0" rIns="0" bIns="0" rtlCol="0" anchor="ctr"/>
          <a:lstStyle/>
          <a:p>
            <a:pPr marL="0" indent="0" algn="ctr">
              <a:buNone/>
            </a:pPr>
            <a:r>
              <a:rPr lang="en-US" sz="1600" b="1" dirty="0">
                <a:solidFill>
                  <a:srgbClr val="0A2240"/>
                </a:solidFill>
                <a:latin typeface="Calibri" pitchFamily="34" charset="0"/>
                <a:ea typeface="Calibri" pitchFamily="34" charset="-122"/>
                <a:cs typeface="Calibri" pitchFamily="34" charset="-120"/>
              </a:rPr>
              <a:t>BB</a:t>
            </a:r>
            <a:endParaRPr lang="en-US" sz="1600" dirty="0"/>
          </a:p>
        </p:txBody>
      </p:sp>
      <p:sp>
        <p:nvSpPr>
          <p:cNvPr id="7" name="Text 5"/>
          <p:cNvSpPr txBox="1"/>
          <p:nvPr/>
        </p:nvSpPr>
        <p:spPr>
          <a:xfrm>
            <a:off x="1389888" y="1463040"/>
            <a:ext cx="1508760" cy="658368"/>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Bryan Bacchi</a:t>
            </a:r>
            <a:endParaRPr lang="en-US" sz="1500" dirty="0"/>
          </a:p>
          <a:p>
            <a:pPr marL="0" indent="0">
              <a:buNone/>
            </a:pPr>
            <a:r>
              <a:rPr lang="en-US" sz="1100" dirty="0">
                <a:solidFill>
                  <a:srgbClr val="5A6478"/>
                </a:solidFill>
                <a:latin typeface="Calibri" pitchFamily="34" charset="0"/>
                <a:ea typeface="Calibri" pitchFamily="34" charset="-122"/>
                <a:cs typeface="Calibri" pitchFamily="34" charset="-120"/>
              </a:rPr>
              <a:t>Líder · Scrum Master y Product Owner</a:t>
            </a:r>
            <a:endParaRPr lang="en-US" sz="1500" dirty="0"/>
          </a:p>
        </p:txBody>
      </p:sp>
      <p:sp>
        <p:nvSpPr>
          <p:cNvPr id="8" name="Text 6"/>
          <p:cNvSpPr txBox="1"/>
          <p:nvPr/>
        </p:nvSpPr>
        <p:spPr>
          <a:xfrm>
            <a:off x="640080" y="2304288"/>
            <a:ext cx="2194560" cy="201168"/>
          </a:xfrm>
          <a:prstGeom prst="rect">
            <a:avLst/>
          </a:prstGeom>
          <a:noFill/>
          <a:ln/>
        </p:spPr>
        <p:txBody>
          <a:bodyPr wrap="square" lIns="0" tIns="0" rIns="0" bIns="0" rtlCol="0" anchor="t"/>
          <a:lstStyle/>
          <a:p>
            <a:pPr marL="0" indent="0">
              <a:buNone/>
            </a:pPr>
            <a:r>
              <a:rPr lang="en-US" sz="1000" b="1" kern="0" spc="200" dirty="0">
                <a:solidFill>
                  <a:srgbClr val="1D4E89"/>
                </a:solidFill>
                <a:latin typeface="Calibri" pitchFamily="34" charset="0"/>
                <a:ea typeface="Calibri" pitchFamily="34" charset="-122"/>
                <a:cs typeface="Calibri" pitchFamily="34" charset="-120"/>
              </a:rPr>
              <a:t>EN EL PROYECTO</a:t>
            </a:r>
            <a:endParaRPr lang="en-US" sz="1000" dirty="0"/>
          </a:p>
        </p:txBody>
      </p:sp>
      <p:sp>
        <p:nvSpPr>
          <p:cNvPr id="9" name="Text 7"/>
          <p:cNvSpPr txBox="1"/>
          <p:nvPr/>
        </p:nvSpPr>
        <p:spPr>
          <a:xfrm>
            <a:off x="640080" y="2523744"/>
            <a:ext cx="2194560" cy="868680"/>
          </a:xfrm>
          <a:prstGeom prst="rect">
            <a:avLst/>
          </a:prstGeom>
          <a:noFill/>
          <a:ln/>
        </p:spPr>
        <p:txBody>
          <a:bodyPr wrap="square" lIns="0" tIns="0" rIns="0" bIns="0" rtlCol="0" anchor="t"/>
          <a:lstStyle/>
          <a:p>
            <a:pPr marL="0" indent="0">
              <a:buNone/>
            </a:pPr>
            <a:r>
              <a:rPr lang="en-US" sz="1250" dirty="0">
                <a:solidFill>
                  <a:srgbClr val="1E2A3A"/>
                </a:solidFill>
                <a:latin typeface="Calibri" pitchFamily="34" charset="0"/>
                <a:ea typeface="Calibri" pitchFamily="34" charset="-122"/>
                <a:cs typeface="Calibri" pitchFamily="34" charset="-120"/>
              </a:rPr>
              <a:t>Contenedores, gateway, integración continua y los servicios de Identidad y Pagos.</a:t>
            </a:r>
            <a:endParaRPr lang="en-US" sz="1250" dirty="0"/>
          </a:p>
        </p:txBody>
      </p:sp>
      <p:sp>
        <p:nvSpPr>
          <p:cNvPr id="12" name="Shape 10"/>
          <p:cNvSpPr/>
          <p:nvPr/>
        </p:nvSpPr>
        <p:spPr>
          <a:xfrm>
            <a:off x="3291840" y="1280160"/>
            <a:ext cx="2560320" cy="3337560"/>
          </a:xfrm>
          <a:prstGeom prst="roundRect">
            <a:avLst>
              <a:gd name="adj" fmla="val 2857"/>
            </a:avLst>
          </a:prstGeom>
          <a:solidFill>
            <a:srgbClr val="EDF1F7"/>
          </a:solidFill>
          <a:ln w="12700">
            <a:solidFill>
              <a:srgbClr val="EDF1F7"/>
            </a:solidFill>
            <a:prstDash val="solid"/>
          </a:ln>
        </p:spPr>
        <p:txBody>
          <a:bodyPr/>
          <a:lstStyle/>
          <a:p>
            <a:endParaRPr lang="es-CL"/>
          </a:p>
        </p:txBody>
      </p:sp>
      <p:sp>
        <p:nvSpPr>
          <p:cNvPr id="13" name="Shape 11"/>
          <p:cNvSpPr/>
          <p:nvPr/>
        </p:nvSpPr>
        <p:spPr>
          <a:xfrm>
            <a:off x="3474720" y="1463040"/>
            <a:ext cx="640080" cy="640080"/>
          </a:xfrm>
          <a:prstGeom prst="ellipse">
            <a:avLst/>
          </a:prstGeom>
          <a:solidFill>
            <a:srgbClr val="0A2240"/>
          </a:solidFill>
          <a:ln w="12700">
            <a:solidFill>
              <a:srgbClr val="FFFFFF"/>
            </a:solidFill>
            <a:prstDash val="solid"/>
          </a:ln>
        </p:spPr>
        <p:txBody>
          <a:bodyPr/>
          <a:lstStyle/>
          <a:p>
            <a:endParaRPr lang="es-CL"/>
          </a:p>
        </p:txBody>
      </p:sp>
      <p:sp>
        <p:nvSpPr>
          <p:cNvPr id="14" name="Text 12"/>
          <p:cNvSpPr txBox="1"/>
          <p:nvPr/>
        </p:nvSpPr>
        <p:spPr>
          <a:xfrm>
            <a:off x="347472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FT</a:t>
            </a:r>
            <a:endParaRPr lang="en-US" sz="1600" dirty="0"/>
          </a:p>
        </p:txBody>
      </p:sp>
      <p:sp>
        <p:nvSpPr>
          <p:cNvPr id="15" name="Text 13"/>
          <p:cNvSpPr txBox="1"/>
          <p:nvPr/>
        </p:nvSpPr>
        <p:spPr>
          <a:xfrm>
            <a:off x="4224528" y="1463040"/>
            <a:ext cx="1508760" cy="658368"/>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Francisco Tejeda</a:t>
            </a:r>
            <a:endParaRPr lang="en-US" sz="1500" dirty="0"/>
          </a:p>
          <a:p>
            <a:pPr marL="0" indent="0">
              <a:buNone/>
            </a:pPr>
            <a:r>
              <a:rPr lang="en-US" sz="1100" dirty="0">
                <a:solidFill>
                  <a:srgbClr val="5A6478"/>
                </a:solidFill>
                <a:latin typeface="Calibri" pitchFamily="34" charset="0"/>
                <a:ea typeface="Calibri" pitchFamily="34" charset="-122"/>
                <a:cs typeface="Calibri" pitchFamily="34" charset="-120"/>
              </a:rPr>
              <a:t>Developer</a:t>
            </a:r>
            <a:endParaRPr lang="en-US" sz="1500" dirty="0"/>
          </a:p>
        </p:txBody>
      </p:sp>
      <p:sp>
        <p:nvSpPr>
          <p:cNvPr id="16" name="Text 14"/>
          <p:cNvSpPr txBox="1"/>
          <p:nvPr/>
        </p:nvSpPr>
        <p:spPr>
          <a:xfrm>
            <a:off x="3474720" y="2304288"/>
            <a:ext cx="2194560" cy="201168"/>
          </a:xfrm>
          <a:prstGeom prst="rect">
            <a:avLst/>
          </a:prstGeom>
          <a:noFill/>
          <a:ln/>
        </p:spPr>
        <p:txBody>
          <a:bodyPr wrap="square" lIns="0" tIns="0" rIns="0" bIns="0" rtlCol="0" anchor="t"/>
          <a:lstStyle/>
          <a:p>
            <a:pPr marL="0" indent="0">
              <a:buNone/>
            </a:pPr>
            <a:r>
              <a:rPr lang="en-US" sz="1000" b="1" kern="0" spc="200" dirty="0">
                <a:solidFill>
                  <a:srgbClr val="1D4E89"/>
                </a:solidFill>
                <a:latin typeface="Calibri" pitchFamily="34" charset="0"/>
                <a:ea typeface="Calibri" pitchFamily="34" charset="-122"/>
                <a:cs typeface="Calibri" pitchFamily="34" charset="-120"/>
              </a:rPr>
              <a:t>EN EL PROYECTO</a:t>
            </a:r>
            <a:endParaRPr lang="en-US" sz="1000" dirty="0"/>
          </a:p>
        </p:txBody>
      </p:sp>
      <p:sp>
        <p:nvSpPr>
          <p:cNvPr id="17" name="Text 15"/>
          <p:cNvSpPr txBox="1"/>
          <p:nvPr/>
        </p:nvSpPr>
        <p:spPr>
          <a:xfrm>
            <a:off x="3474720" y="2523744"/>
            <a:ext cx="2194560" cy="868680"/>
          </a:xfrm>
          <a:prstGeom prst="rect">
            <a:avLst/>
          </a:prstGeom>
          <a:noFill/>
          <a:ln/>
        </p:spPr>
        <p:txBody>
          <a:bodyPr wrap="square" lIns="0" tIns="0" rIns="0" bIns="0" rtlCol="0" anchor="t"/>
          <a:lstStyle/>
          <a:p>
            <a:pPr marL="0" indent="0">
              <a:buNone/>
            </a:pPr>
            <a:r>
              <a:rPr lang="en-US" sz="1250" dirty="0">
                <a:solidFill>
                  <a:srgbClr val="1E2A3A"/>
                </a:solidFill>
                <a:latin typeface="Calibri" pitchFamily="34" charset="0"/>
                <a:ea typeface="Calibri" pitchFamily="34" charset="-122"/>
                <a:cs typeface="Calibri" pitchFamily="34" charset="-120"/>
              </a:rPr>
              <a:t>Catálogo académico, evaluaciones, panel de administración y base del frontend en React.</a:t>
            </a:r>
            <a:endParaRPr lang="en-US" sz="1250" dirty="0"/>
          </a:p>
        </p:txBody>
      </p:sp>
      <p:sp>
        <p:nvSpPr>
          <p:cNvPr id="20" name="Shape 18"/>
          <p:cNvSpPr/>
          <p:nvPr/>
        </p:nvSpPr>
        <p:spPr>
          <a:xfrm>
            <a:off x="6126480" y="1280160"/>
            <a:ext cx="2560320" cy="3337560"/>
          </a:xfrm>
          <a:prstGeom prst="roundRect">
            <a:avLst>
              <a:gd name="adj" fmla="val 2857"/>
            </a:avLst>
          </a:prstGeom>
          <a:solidFill>
            <a:srgbClr val="EDF1F7"/>
          </a:solidFill>
          <a:ln w="12700">
            <a:solidFill>
              <a:srgbClr val="EDF1F7"/>
            </a:solidFill>
            <a:prstDash val="solid"/>
          </a:ln>
        </p:spPr>
        <p:txBody>
          <a:bodyPr/>
          <a:lstStyle/>
          <a:p>
            <a:endParaRPr lang="es-CL"/>
          </a:p>
        </p:txBody>
      </p:sp>
      <p:sp>
        <p:nvSpPr>
          <p:cNvPr id="21" name="Shape 19"/>
          <p:cNvSpPr/>
          <p:nvPr/>
        </p:nvSpPr>
        <p:spPr>
          <a:xfrm>
            <a:off x="6309360" y="1463040"/>
            <a:ext cx="640080" cy="640080"/>
          </a:xfrm>
          <a:prstGeom prst="ellipse">
            <a:avLst/>
          </a:prstGeom>
          <a:solidFill>
            <a:srgbClr val="0A2240"/>
          </a:solidFill>
          <a:ln w="12700">
            <a:solidFill>
              <a:srgbClr val="FFFFFF"/>
            </a:solidFill>
            <a:prstDash val="solid"/>
          </a:ln>
        </p:spPr>
        <p:txBody>
          <a:bodyPr/>
          <a:lstStyle/>
          <a:p>
            <a:endParaRPr lang="es-CL"/>
          </a:p>
        </p:txBody>
      </p:sp>
      <p:sp>
        <p:nvSpPr>
          <p:cNvPr id="22" name="Text 20"/>
          <p:cNvSpPr txBox="1"/>
          <p:nvPr/>
        </p:nvSpPr>
        <p:spPr>
          <a:xfrm>
            <a:off x="630936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DI</a:t>
            </a:r>
            <a:endParaRPr lang="en-US" sz="1600" dirty="0"/>
          </a:p>
        </p:txBody>
      </p:sp>
      <p:sp>
        <p:nvSpPr>
          <p:cNvPr id="23" name="Text 21"/>
          <p:cNvSpPr txBox="1"/>
          <p:nvPr/>
        </p:nvSpPr>
        <p:spPr>
          <a:xfrm>
            <a:off x="7059168" y="1463040"/>
            <a:ext cx="1508760" cy="658368"/>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Damaris Iriarte</a:t>
            </a:r>
            <a:endParaRPr lang="en-US" sz="1500" dirty="0"/>
          </a:p>
          <a:p>
            <a:pPr marL="0" indent="0">
              <a:buNone/>
            </a:pPr>
            <a:r>
              <a:rPr lang="en-US" sz="1100" dirty="0">
                <a:solidFill>
                  <a:srgbClr val="5A6478"/>
                </a:solidFill>
                <a:latin typeface="Calibri" pitchFamily="34" charset="0"/>
                <a:ea typeface="Calibri" pitchFamily="34" charset="-122"/>
                <a:cs typeface="Calibri" pitchFamily="34" charset="-120"/>
              </a:rPr>
              <a:t>Developer</a:t>
            </a:r>
            <a:endParaRPr lang="en-US" sz="1500" dirty="0"/>
          </a:p>
        </p:txBody>
      </p:sp>
      <p:sp>
        <p:nvSpPr>
          <p:cNvPr id="24" name="Text 22"/>
          <p:cNvSpPr txBox="1"/>
          <p:nvPr/>
        </p:nvSpPr>
        <p:spPr>
          <a:xfrm>
            <a:off x="6309360" y="2304288"/>
            <a:ext cx="2194560" cy="201168"/>
          </a:xfrm>
          <a:prstGeom prst="rect">
            <a:avLst/>
          </a:prstGeom>
          <a:noFill/>
          <a:ln/>
        </p:spPr>
        <p:txBody>
          <a:bodyPr wrap="square" lIns="0" tIns="0" rIns="0" bIns="0" rtlCol="0" anchor="t"/>
          <a:lstStyle/>
          <a:p>
            <a:pPr marL="0" indent="0">
              <a:buNone/>
            </a:pPr>
            <a:r>
              <a:rPr lang="en-US" sz="1000" b="1" kern="0" spc="200" dirty="0">
                <a:solidFill>
                  <a:srgbClr val="1D4E89"/>
                </a:solidFill>
                <a:latin typeface="Calibri" pitchFamily="34" charset="0"/>
                <a:ea typeface="Calibri" pitchFamily="34" charset="-122"/>
                <a:cs typeface="Calibri" pitchFamily="34" charset="-120"/>
              </a:rPr>
              <a:t>EN EL PROYECTO</a:t>
            </a:r>
            <a:endParaRPr lang="en-US" sz="1000" dirty="0"/>
          </a:p>
        </p:txBody>
      </p:sp>
      <p:sp>
        <p:nvSpPr>
          <p:cNvPr id="25" name="Text 23"/>
          <p:cNvSpPr txBox="1"/>
          <p:nvPr/>
        </p:nvSpPr>
        <p:spPr>
          <a:xfrm>
            <a:off x="6309360" y="2523744"/>
            <a:ext cx="2194560" cy="868680"/>
          </a:xfrm>
          <a:prstGeom prst="rect">
            <a:avLst/>
          </a:prstGeom>
          <a:noFill/>
          <a:ln/>
        </p:spPr>
        <p:txBody>
          <a:bodyPr wrap="square" lIns="0" tIns="0" rIns="0" bIns="0" rtlCol="0" anchor="t"/>
          <a:lstStyle/>
          <a:p>
            <a:pPr marL="0" indent="0">
              <a:buNone/>
            </a:pPr>
            <a:r>
              <a:rPr lang="en-US" sz="1250" dirty="0">
                <a:solidFill>
                  <a:srgbClr val="1E2A3A"/>
                </a:solidFill>
                <a:latin typeface="Calibri" pitchFamily="34" charset="0"/>
                <a:ea typeface="Calibri" pitchFamily="34" charset="-122"/>
                <a:cs typeface="Calibri" pitchFamily="34" charset="-120"/>
              </a:rPr>
              <a:t>Servicio de Tutorías y sistema visual del frontend.</a:t>
            </a:r>
            <a:endParaRPr lang="en-US" sz="1250" dirty="0"/>
          </a:p>
        </p:txBody>
      </p:sp>
      <p:sp>
        <p:nvSpPr>
          <p:cNvPr id="28"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ARQUITECTURA</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Cuatro microservicios detrás de un punto de entrada</a:t>
            </a:r>
            <a:endParaRPr lang="en-US" sz="2800" dirty="0"/>
          </a:p>
        </p:txBody>
      </p:sp>
      <p:sp>
        <p:nvSpPr>
          <p:cNvPr id="4" name="Shape 2"/>
          <p:cNvSpPr/>
          <p:nvPr/>
        </p:nvSpPr>
        <p:spPr>
          <a:xfrm>
            <a:off x="3200400" y="1188720"/>
            <a:ext cx="2743200" cy="457200"/>
          </a:xfrm>
          <a:prstGeom prst="roundRect">
            <a:avLst>
              <a:gd name="adj" fmla="val 16000"/>
            </a:avLst>
          </a:prstGeom>
          <a:solidFill>
            <a:srgbClr val="FFFFFF"/>
          </a:solidFill>
          <a:ln w="12700">
            <a:solidFill>
              <a:srgbClr val="1D4E89"/>
            </a:solidFill>
            <a:prstDash val="solid"/>
          </a:ln>
        </p:spPr>
        <p:txBody>
          <a:bodyPr/>
          <a:lstStyle/>
          <a:p>
            <a:endParaRPr lang="es-CL"/>
          </a:p>
        </p:txBody>
      </p:sp>
      <p:sp>
        <p:nvSpPr>
          <p:cNvPr id="5" name="Text 3"/>
          <p:cNvSpPr txBox="1"/>
          <p:nvPr/>
        </p:nvSpPr>
        <p:spPr>
          <a:xfrm>
            <a:off x="3200400" y="1188720"/>
            <a:ext cx="2743200" cy="457200"/>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Cliente web · </a:t>
            </a:r>
            <a:r>
              <a:rPr lang="en-US" sz="1300" dirty="0">
                <a:solidFill>
                  <a:srgbClr val="1E2A3A"/>
                </a:solidFill>
                <a:latin typeface="Calibri" pitchFamily="34" charset="0"/>
                <a:ea typeface="Calibri" pitchFamily="34" charset="-122"/>
                <a:cs typeface="Calibri" pitchFamily="34" charset="-120"/>
              </a:rPr>
              <a:t>React</a:t>
            </a:r>
            <a:endParaRPr lang="en-US" sz="1300" dirty="0"/>
          </a:p>
        </p:txBody>
      </p:sp>
      <p:sp>
        <p:nvSpPr>
          <p:cNvPr id="6" name="Shape 4"/>
          <p:cNvSpPr/>
          <p:nvPr/>
        </p:nvSpPr>
        <p:spPr>
          <a:xfrm>
            <a:off x="4572000" y="1645920"/>
            <a:ext cx="0" cy="228600"/>
          </a:xfrm>
          <a:prstGeom prst="line">
            <a:avLst/>
          </a:prstGeom>
          <a:noFill/>
          <a:ln w="19050">
            <a:solidFill>
              <a:srgbClr val="1D4E89"/>
            </a:solidFill>
            <a:prstDash val="solid"/>
            <a:tailEnd type="triangle"/>
          </a:ln>
        </p:spPr>
        <p:txBody>
          <a:bodyPr/>
          <a:lstStyle/>
          <a:p>
            <a:endParaRPr lang="es-CL"/>
          </a:p>
        </p:txBody>
      </p:sp>
      <p:sp>
        <p:nvSpPr>
          <p:cNvPr id="7" name="Shape 5"/>
          <p:cNvSpPr/>
          <p:nvPr/>
        </p:nvSpPr>
        <p:spPr>
          <a:xfrm>
            <a:off x="822960" y="1901952"/>
            <a:ext cx="7498080" cy="502920"/>
          </a:xfrm>
          <a:prstGeom prst="roundRect">
            <a:avLst>
              <a:gd name="adj" fmla="val 14545"/>
            </a:avLst>
          </a:prstGeom>
          <a:solidFill>
            <a:srgbClr val="0A2240"/>
          </a:solidFill>
          <a:ln w="12700">
            <a:solidFill>
              <a:srgbClr val="0A2240"/>
            </a:solidFill>
            <a:prstDash val="solid"/>
          </a:ln>
        </p:spPr>
        <p:txBody>
          <a:bodyPr/>
          <a:lstStyle/>
          <a:p>
            <a:endParaRPr lang="es-CL"/>
          </a:p>
        </p:txBody>
      </p:sp>
      <p:sp>
        <p:nvSpPr>
          <p:cNvPr id="8" name="Text 6"/>
          <p:cNvSpPr txBox="1"/>
          <p:nvPr/>
        </p:nvSpPr>
        <p:spPr>
          <a:xfrm>
            <a:off x="822960" y="1901952"/>
            <a:ext cx="749808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API Gateway · Nginx   </a:t>
            </a:r>
            <a:r>
              <a:rPr lang="en-US" sz="1250" dirty="0">
                <a:solidFill>
                  <a:srgbClr val="C9D6EA"/>
                </a:solidFill>
                <a:latin typeface="Calibri" pitchFamily="34" charset="0"/>
                <a:ea typeface="Calibri" pitchFamily="34" charset="-122"/>
                <a:cs typeface="Calibri" pitchFamily="34" charset="-120"/>
              </a:rPr>
              <a:t>único punto de entrada: enrutamiento, CORS y límite de intentos de inicio de sesión</a:t>
            </a:r>
            <a:endParaRPr lang="en-US" sz="1250" dirty="0"/>
          </a:p>
        </p:txBody>
      </p:sp>
      <p:sp>
        <p:nvSpPr>
          <p:cNvPr id="9" name="Shape 7"/>
          <p:cNvSpPr/>
          <p:nvPr/>
        </p:nvSpPr>
        <p:spPr>
          <a:xfrm>
            <a:off x="1691640" y="2404872"/>
            <a:ext cx="0" cy="210312"/>
          </a:xfrm>
          <a:prstGeom prst="line">
            <a:avLst/>
          </a:prstGeom>
          <a:noFill/>
          <a:ln w="19050">
            <a:solidFill>
              <a:srgbClr val="1D4E89"/>
            </a:solidFill>
            <a:prstDash val="solid"/>
            <a:tailEnd type="triangle"/>
          </a:ln>
        </p:spPr>
        <p:txBody>
          <a:bodyPr/>
          <a:lstStyle/>
          <a:p>
            <a:endParaRPr lang="es-CL"/>
          </a:p>
        </p:txBody>
      </p:sp>
      <p:sp>
        <p:nvSpPr>
          <p:cNvPr id="10" name="Shape 8"/>
          <p:cNvSpPr/>
          <p:nvPr/>
        </p:nvSpPr>
        <p:spPr>
          <a:xfrm>
            <a:off x="822960" y="2633472"/>
            <a:ext cx="1737360" cy="713232"/>
          </a:xfrm>
          <a:prstGeom prst="roundRect">
            <a:avLst>
              <a:gd name="adj" fmla="val 10256"/>
            </a:avLst>
          </a:prstGeom>
          <a:solidFill>
            <a:srgbClr val="EDF1F7"/>
          </a:solidFill>
          <a:ln w="12700">
            <a:solidFill>
              <a:srgbClr val="1D4E89"/>
            </a:solidFill>
            <a:prstDash val="solid"/>
          </a:ln>
        </p:spPr>
        <p:txBody>
          <a:bodyPr/>
          <a:lstStyle/>
          <a:p>
            <a:endParaRPr lang="es-CL"/>
          </a:p>
        </p:txBody>
      </p:sp>
      <p:sp>
        <p:nvSpPr>
          <p:cNvPr id="11" name="Text 9"/>
          <p:cNvSpPr txBox="1"/>
          <p:nvPr/>
        </p:nvSpPr>
        <p:spPr>
          <a:xfrm>
            <a:off x="896112" y="2651760"/>
            <a:ext cx="1591056" cy="67665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Identidad</a:t>
            </a:r>
            <a:endParaRPr lang="en-US" sz="1300" dirty="0"/>
          </a:p>
          <a:p>
            <a:pPr marL="0" indent="0" algn="ctr">
              <a:buNone/>
            </a:pPr>
            <a:r>
              <a:rPr lang="en-US" sz="1000" dirty="0">
                <a:solidFill>
                  <a:srgbClr val="5A6478"/>
                </a:solidFill>
                <a:latin typeface="Calibri" pitchFamily="34" charset="0"/>
                <a:ea typeface="Calibri" pitchFamily="34" charset="-122"/>
                <a:cs typeface="Calibri" pitchFamily="34" charset="-120"/>
              </a:rPr>
              <a:t>Django REST · cuentas, sesión y avisos</a:t>
            </a:r>
            <a:endParaRPr lang="en-US" sz="1300" dirty="0"/>
          </a:p>
        </p:txBody>
      </p:sp>
      <p:sp>
        <p:nvSpPr>
          <p:cNvPr id="12" name="Shape 10"/>
          <p:cNvSpPr/>
          <p:nvPr/>
        </p:nvSpPr>
        <p:spPr>
          <a:xfrm>
            <a:off x="1691640" y="3346704"/>
            <a:ext cx="0" cy="182880"/>
          </a:xfrm>
          <a:prstGeom prst="line">
            <a:avLst/>
          </a:prstGeom>
          <a:noFill/>
          <a:ln w="15875">
            <a:solidFill>
              <a:srgbClr val="8A93A6"/>
            </a:solidFill>
            <a:prstDash val="solid"/>
          </a:ln>
        </p:spPr>
        <p:txBody>
          <a:bodyPr/>
          <a:lstStyle/>
          <a:p>
            <a:endParaRPr lang="es-CL"/>
          </a:p>
        </p:txBody>
      </p:sp>
      <p:sp>
        <p:nvSpPr>
          <p:cNvPr id="13" name="Shape 11"/>
          <p:cNvSpPr/>
          <p:nvPr/>
        </p:nvSpPr>
        <p:spPr>
          <a:xfrm>
            <a:off x="1005840" y="3529584"/>
            <a:ext cx="1371600" cy="438912"/>
          </a:xfrm>
          <a:prstGeom prst="roundRect">
            <a:avLst>
              <a:gd name="adj" fmla="val 16667"/>
            </a:avLst>
          </a:prstGeom>
          <a:solidFill>
            <a:srgbClr val="F2F4F7"/>
          </a:solidFill>
          <a:ln w="12700">
            <a:solidFill>
              <a:srgbClr val="C9D3E3"/>
            </a:solidFill>
            <a:prstDash val="solid"/>
          </a:ln>
        </p:spPr>
        <p:txBody>
          <a:bodyPr/>
          <a:lstStyle/>
          <a:p>
            <a:endParaRPr lang="es-CL"/>
          </a:p>
        </p:txBody>
      </p:sp>
      <p:sp>
        <p:nvSpPr>
          <p:cNvPr id="14" name="Text 12"/>
          <p:cNvSpPr txBox="1"/>
          <p:nvPr/>
        </p:nvSpPr>
        <p:spPr>
          <a:xfrm>
            <a:off x="1005840" y="3529584"/>
            <a:ext cx="1371600" cy="438912"/>
          </a:xfrm>
          <a:prstGeom prst="rect">
            <a:avLst/>
          </a:prstGeom>
          <a:noFill/>
          <a:ln/>
        </p:spPr>
        <p:txBody>
          <a:bodyPr wrap="square" lIns="0" tIns="0" rIns="0" bIns="0" rtlCol="0" anchor="ctr"/>
          <a:lstStyle/>
          <a:p>
            <a:pPr marL="0" indent="0" algn="ctr">
              <a:buNone/>
            </a:pPr>
            <a:r>
              <a:rPr lang="en-US" sz="1100" b="1" dirty="0">
                <a:solidFill>
                  <a:srgbClr val="1E2A3A"/>
                </a:solidFill>
                <a:latin typeface="Calibri" pitchFamily="34" charset="0"/>
                <a:ea typeface="Calibri" pitchFamily="34" charset="-122"/>
                <a:cs typeface="Calibri" pitchFamily="34" charset="-120"/>
              </a:rPr>
              <a:t>PostgreSQL</a:t>
            </a:r>
            <a:endParaRPr lang="en-US" sz="1100" dirty="0"/>
          </a:p>
          <a:p>
            <a:pPr marL="0" indent="0" algn="ctr">
              <a:buNone/>
            </a:pPr>
            <a:r>
              <a:rPr lang="en-US" sz="1000" dirty="0">
                <a:solidFill>
                  <a:srgbClr val="5A6478"/>
                </a:solidFill>
                <a:latin typeface="Calibri" pitchFamily="34" charset="0"/>
                <a:ea typeface="Calibri" pitchFamily="34" charset="-122"/>
                <a:cs typeface="Calibri" pitchFamily="34" charset="-120"/>
              </a:rPr>
              <a:t>identity_db</a:t>
            </a:r>
            <a:endParaRPr lang="en-US" sz="1100" dirty="0"/>
          </a:p>
        </p:txBody>
      </p:sp>
      <p:sp>
        <p:nvSpPr>
          <p:cNvPr id="15" name="Shape 13"/>
          <p:cNvSpPr/>
          <p:nvPr/>
        </p:nvSpPr>
        <p:spPr>
          <a:xfrm>
            <a:off x="3611880" y="2404872"/>
            <a:ext cx="0" cy="210312"/>
          </a:xfrm>
          <a:prstGeom prst="line">
            <a:avLst/>
          </a:prstGeom>
          <a:noFill/>
          <a:ln w="19050">
            <a:solidFill>
              <a:srgbClr val="1D4E89"/>
            </a:solidFill>
            <a:prstDash val="solid"/>
            <a:tailEnd type="triangle"/>
          </a:ln>
        </p:spPr>
        <p:txBody>
          <a:bodyPr/>
          <a:lstStyle/>
          <a:p>
            <a:endParaRPr lang="es-CL"/>
          </a:p>
        </p:txBody>
      </p:sp>
      <p:sp>
        <p:nvSpPr>
          <p:cNvPr id="16" name="Shape 14"/>
          <p:cNvSpPr/>
          <p:nvPr/>
        </p:nvSpPr>
        <p:spPr>
          <a:xfrm>
            <a:off x="2743200" y="2633472"/>
            <a:ext cx="1737360" cy="713232"/>
          </a:xfrm>
          <a:prstGeom prst="roundRect">
            <a:avLst>
              <a:gd name="adj" fmla="val 10256"/>
            </a:avLst>
          </a:prstGeom>
          <a:solidFill>
            <a:srgbClr val="EDF1F7"/>
          </a:solidFill>
          <a:ln w="12700">
            <a:solidFill>
              <a:srgbClr val="1D4E89"/>
            </a:solidFill>
            <a:prstDash val="solid"/>
          </a:ln>
        </p:spPr>
        <p:txBody>
          <a:bodyPr/>
          <a:lstStyle/>
          <a:p>
            <a:endParaRPr lang="es-CL"/>
          </a:p>
        </p:txBody>
      </p:sp>
      <p:sp>
        <p:nvSpPr>
          <p:cNvPr id="17" name="Text 15"/>
          <p:cNvSpPr txBox="1"/>
          <p:nvPr/>
        </p:nvSpPr>
        <p:spPr>
          <a:xfrm>
            <a:off x="2816352" y="2651760"/>
            <a:ext cx="1591056" cy="67665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Catálogo académico</a:t>
            </a:r>
            <a:endParaRPr lang="en-US" sz="1300" dirty="0"/>
          </a:p>
          <a:p>
            <a:pPr marL="0" indent="0" algn="ctr">
              <a:buNone/>
            </a:pPr>
            <a:r>
              <a:rPr lang="en-US" sz="1000" dirty="0">
                <a:solidFill>
                  <a:srgbClr val="5A6478"/>
                </a:solidFill>
                <a:latin typeface="Calibri" pitchFamily="34" charset="0"/>
                <a:ea typeface="Calibri" pitchFamily="34" charset="-122"/>
                <a:cs typeface="Calibri" pitchFamily="34" charset="-120"/>
              </a:rPr>
              <a:t>Django REST · carreras, mallas y asignaturas</a:t>
            </a:r>
            <a:endParaRPr lang="en-US" sz="1300" dirty="0"/>
          </a:p>
        </p:txBody>
      </p:sp>
      <p:sp>
        <p:nvSpPr>
          <p:cNvPr id="18" name="Shape 16"/>
          <p:cNvSpPr/>
          <p:nvPr/>
        </p:nvSpPr>
        <p:spPr>
          <a:xfrm>
            <a:off x="3611880" y="3346704"/>
            <a:ext cx="0" cy="182880"/>
          </a:xfrm>
          <a:prstGeom prst="line">
            <a:avLst/>
          </a:prstGeom>
          <a:noFill/>
          <a:ln w="15875">
            <a:solidFill>
              <a:srgbClr val="8A93A6"/>
            </a:solidFill>
            <a:prstDash val="solid"/>
          </a:ln>
        </p:spPr>
        <p:txBody>
          <a:bodyPr/>
          <a:lstStyle/>
          <a:p>
            <a:endParaRPr lang="es-CL"/>
          </a:p>
        </p:txBody>
      </p:sp>
      <p:sp>
        <p:nvSpPr>
          <p:cNvPr id="19" name="Shape 17"/>
          <p:cNvSpPr/>
          <p:nvPr/>
        </p:nvSpPr>
        <p:spPr>
          <a:xfrm>
            <a:off x="2926080" y="3529584"/>
            <a:ext cx="1371600" cy="438912"/>
          </a:xfrm>
          <a:prstGeom prst="roundRect">
            <a:avLst>
              <a:gd name="adj" fmla="val 16667"/>
            </a:avLst>
          </a:prstGeom>
          <a:solidFill>
            <a:srgbClr val="F2F4F7"/>
          </a:solidFill>
          <a:ln w="12700">
            <a:solidFill>
              <a:srgbClr val="C9D3E3"/>
            </a:solidFill>
            <a:prstDash val="solid"/>
          </a:ln>
        </p:spPr>
        <p:txBody>
          <a:bodyPr/>
          <a:lstStyle/>
          <a:p>
            <a:endParaRPr lang="es-CL"/>
          </a:p>
        </p:txBody>
      </p:sp>
      <p:sp>
        <p:nvSpPr>
          <p:cNvPr id="20" name="Text 18"/>
          <p:cNvSpPr txBox="1"/>
          <p:nvPr/>
        </p:nvSpPr>
        <p:spPr>
          <a:xfrm>
            <a:off x="2926080" y="3529584"/>
            <a:ext cx="1371600" cy="438912"/>
          </a:xfrm>
          <a:prstGeom prst="rect">
            <a:avLst/>
          </a:prstGeom>
          <a:noFill/>
          <a:ln/>
        </p:spPr>
        <p:txBody>
          <a:bodyPr wrap="square" lIns="0" tIns="0" rIns="0" bIns="0" rtlCol="0" anchor="ctr"/>
          <a:lstStyle/>
          <a:p>
            <a:pPr marL="0" indent="0" algn="ctr">
              <a:buNone/>
            </a:pPr>
            <a:r>
              <a:rPr lang="en-US" sz="1100" b="1" dirty="0">
                <a:solidFill>
                  <a:srgbClr val="1E2A3A"/>
                </a:solidFill>
                <a:latin typeface="Calibri" pitchFamily="34" charset="0"/>
                <a:ea typeface="Calibri" pitchFamily="34" charset="-122"/>
                <a:cs typeface="Calibri" pitchFamily="34" charset="-120"/>
              </a:rPr>
              <a:t>PostgreSQL</a:t>
            </a:r>
            <a:endParaRPr lang="en-US" sz="1100" dirty="0"/>
          </a:p>
          <a:p>
            <a:pPr marL="0" indent="0" algn="ctr">
              <a:buNone/>
            </a:pPr>
            <a:r>
              <a:rPr lang="en-US" sz="1000" dirty="0">
                <a:solidFill>
                  <a:srgbClr val="5A6478"/>
                </a:solidFill>
                <a:latin typeface="Calibri" pitchFamily="34" charset="0"/>
                <a:ea typeface="Calibri" pitchFamily="34" charset="-122"/>
                <a:cs typeface="Calibri" pitchFamily="34" charset="-120"/>
              </a:rPr>
              <a:t>catalog_db</a:t>
            </a:r>
            <a:endParaRPr lang="en-US" sz="1100" dirty="0"/>
          </a:p>
        </p:txBody>
      </p:sp>
      <p:sp>
        <p:nvSpPr>
          <p:cNvPr id="21" name="Shape 19"/>
          <p:cNvSpPr/>
          <p:nvPr/>
        </p:nvSpPr>
        <p:spPr>
          <a:xfrm>
            <a:off x="5532120" y="2404872"/>
            <a:ext cx="0" cy="210312"/>
          </a:xfrm>
          <a:prstGeom prst="line">
            <a:avLst/>
          </a:prstGeom>
          <a:noFill/>
          <a:ln w="19050">
            <a:solidFill>
              <a:srgbClr val="1D4E89"/>
            </a:solidFill>
            <a:prstDash val="solid"/>
            <a:tailEnd type="triangle"/>
          </a:ln>
        </p:spPr>
        <p:txBody>
          <a:bodyPr/>
          <a:lstStyle/>
          <a:p>
            <a:endParaRPr lang="es-CL"/>
          </a:p>
        </p:txBody>
      </p:sp>
      <p:sp>
        <p:nvSpPr>
          <p:cNvPr id="22" name="Shape 20"/>
          <p:cNvSpPr/>
          <p:nvPr/>
        </p:nvSpPr>
        <p:spPr>
          <a:xfrm>
            <a:off x="4663440" y="2633472"/>
            <a:ext cx="1737360" cy="713232"/>
          </a:xfrm>
          <a:prstGeom prst="roundRect">
            <a:avLst>
              <a:gd name="adj" fmla="val 10256"/>
            </a:avLst>
          </a:prstGeom>
          <a:solidFill>
            <a:srgbClr val="EDF1F7"/>
          </a:solidFill>
          <a:ln w="12700">
            <a:solidFill>
              <a:srgbClr val="1D4E89"/>
            </a:solidFill>
            <a:prstDash val="solid"/>
          </a:ln>
        </p:spPr>
        <p:txBody>
          <a:bodyPr/>
          <a:lstStyle/>
          <a:p>
            <a:endParaRPr lang="es-CL"/>
          </a:p>
        </p:txBody>
      </p:sp>
      <p:sp>
        <p:nvSpPr>
          <p:cNvPr id="23" name="Text 21"/>
          <p:cNvSpPr txBox="1"/>
          <p:nvPr/>
        </p:nvSpPr>
        <p:spPr>
          <a:xfrm>
            <a:off x="4736592" y="2651760"/>
            <a:ext cx="1591056" cy="67665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Tutorías</a:t>
            </a:r>
            <a:endParaRPr lang="en-US" sz="1300" dirty="0"/>
          </a:p>
          <a:p>
            <a:pPr marL="0" indent="0" algn="ctr">
              <a:buNone/>
            </a:pPr>
            <a:r>
              <a:rPr lang="en-US" sz="1000" dirty="0">
                <a:solidFill>
                  <a:srgbClr val="5A6478"/>
                </a:solidFill>
                <a:latin typeface="Calibri" pitchFamily="34" charset="0"/>
                <a:ea typeface="Calibri" pitchFamily="34" charset="-122"/>
                <a:cs typeface="Calibri" pitchFamily="34" charset="-120"/>
              </a:rPr>
              <a:t>Django REST · tutores, agenda y reservas</a:t>
            </a:r>
            <a:endParaRPr lang="en-US" sz="1300" dirty="0"/>
          </a:p>
        </p:txBody>
      </p:sp>
      <p:sp>
        <p:nvSpPr>
          <p:cNvPr id="24" name="Shape 22"/>
          <p:cNvSpPr/>
          <p:nvPr/>
        </p:nvSpPr>
        <p:spPr>
          <a:xfrm>
            <a:off x="5532120" y="3346704"/>
            <a:ext cx="0" cy="182880"/>
          </a:xfrm>
          <a:prstGeom prst="line">
            <a:avLst/>
          </a:prstGeom>
          <a:noFill/>
          <a:ln w="15875">
            <a:solidFill>
              <a:srgbClr val="8A93A6"/>
            </a:solidFill>
            <a:prstDash val="solid"/>
          </a:ln>
        </p:spPr>
        <p:txBody>
          <a:bodyPr/>
          <a:lstStyle/>
          <a:p>
            <a:endParaRPr lang="es-CL"/>
          </a:p>
        </p:txBody>
      </p:sp>
      <p:sp>
        <p:nvSpPr>
          <p:cNvPr id="25" name="Shape 23"/>
          <p:cNvSpPr/>
          <p:nvPr/>
        </p:nvSpPr>
        <p:spPr>
          <a:xfrm>
            <a:off x="4846320" y="3529584"/>
            <a:ext cx="1371600" cy="438912"/>
          </a:xfrm>
          <a:prstGeom prst="roundRect">
            <a:avLst>
              <a:gd name="adj" fmla="val 16667"/>
            </a:avLst>
          </a:prstGeom>
          <a:solidFill>
            <a:srgbClr val="F2F4F7"/>
          </a:solidFill>
          <a:ln w="12700">
            <a:solidFill>
              <a:srgbClr val="C9D3E3"/>
            </a:solidFill>
            <a:prstDash val="solid"/>
          </a:ln>
        </p:spPr>
        <p:txBody>
          <a:bodyPr/>
          <a:lstStyle/>
          <a:p>
            <a:endParaRPr lang="es-CL"/>
          </a:p>
        </p:txBody>
      </p:sp>
      <p:sp>
        <p:nvSpPr>
          <p:cNvPr id="26" name="Text 24"/>
          <p:cNvSpPr txBox="1"/>
          <p:nvPr/>
        </p:nvSpPr>
        <p:spPr>
          <a:xfrm>
            <a:off x="4846320" y="3529584"/>
            <a:ext cx="1371600" cy="438912"/>
          </a:xfrm>
          <a:prstGeom prst="rect">
            <a:avLst/>
          </a:prstGeom>
          <a:noFill/>
          <a:ln/>
        </p:spPr>
        <p:txBody>
          <a:bodyPr wrap="square" lIns="0" tIns="0" rIns="0" bIns="0" rtlCol="0" anchor="ctr"/>
          <a:lstStyle/>
          <a:p>
            <a:pPr marL="0" indent="0" algn="ctr">
              <a:buNone/>
            </a:pPr>
            <a:r>
              <a:rPr lang="en-US" sz="1100" b="1" dirty="0">
                <a:solidFill>
                  <a:srgbClr val="1E2A3A"/>
                </a:solidFill>
                <a:latin typeface="Calibri" pitchFamily="34" charset="0"/>
                <a:ea typeface="Calibri" pitchFamily="34" charset="-122"/>
                <a:cs typeface="Calibri" pitchFamily="34" charset="-120"/>
              </a:rPr>
              <a:t>PostgreSQL</a:t>
            </a:r>
            <a:endParaRPr lang="en-US" sz="1100" dirty="0"/>
          </a:p>
          <a:p>
            <a:pPr marL="0" indent="0" algn="ctr">
              <a:buNone/>
            </a:pPr>
            <a:r>
              <a:rPr lang="en-US" sz="1000" dirty="0">
                <a:solidFill>
                  <a:srgbClr val="5A6478"/>
                </a:solidFill>
                <a:latin typeface="Calibri" pitchFamily="34" charset="0"/>
                <a:ea typeface="Calibri" pitchFamily="34" charset="-122"/>
                <a:cs typeface="Calibri" pitchFamily="34" charset="-120"/>
              </a:rPr>
              <a:t>tutoring_db</a:t>
            </a:r>
            <a:endParaRPr lang="en-US" sz="1100" dirty="0"/>
          </a:p>
        </p:txBody>
      </p:sp>
      <p:sp>
        <p:nvSpPr>
          <p:cNvPr id="27" name="Shape 25"/>
          <p:cNvSpPr/>
          <p:nvPr/>
        </p:nvSpPr>
        <p:spPr>
          <a:xfrm>
            <a:off x="7452360" y="2404872"/>
            <a:ext cx="0" cy="210312"/>
          </a:xfrm>
          <a:prstGeom prst="line">
            <a:avLst/>
          </a:prstGeom>
          <a:noFill/>
          <a:ln w="19050">
            <a:solidFill>
              <a:srgbClr val="1D4E89"/>
            </a:solidFill>
            <a:prstDash val="solid"/>
            <a:tailEnd type="triangle"/>
          </a:ln>
        </p:spPr>
        <p:txBody>
          <a:bodyPr/>
          <a:lstStyle/>
          <a:p>
            <a:endParaRPr lang="es-CL"/>
          </a:p>
        </p:txBody>
      </p:sp>
      <p:sp>
        <p:nvSpPr>
          <p:cNvPr id="28" name="Shape 26"/>
          <p:cNvSpPr/>
          <p:nvPr/>
        </p:nvSpPr>
        <p:spPr>
          <a:xfrm>
            <a:off x="6583680" y="2633472"/>
            <a:ext cx="1737360" cy="713232"/>
          </a:xfrm>
          <a:prstGeom prst="roundRect">
            <a:avLst>
              <a:gd name="adj" fmla="val 10256"/>
            </a:avLst>
          </a:prstGeom>
          <a:solidFill>
            <a:srgbClr val="FDF3E7"/>
          </a:solidFill>
          <a:ln w="12700">
            <a:solidFill>
              <a:srgbClr val="D9822B"/>
            </a:solidFill>
            <a:prstDash val="solid"/>
          </a:ln>
        </p:spPr>
        <p:txBody>
          <a:bodyPr/>
          <a:lstStyle/>
          <a:p>
            <a:endParaRPr lang="es-CL"/>
          </a:p>
        </p:txBody>
      </p:sp>
      <p:sp>
        <p:nvSpPr>
          <p:cNvPr id="29" name="Text 27"/>
          <p:cNvSpPr txBox="1"/>
          <p:nvPr/>
        </p:nvSpPr>
        <p:spPr>
          <a:xfrm>
            <a:off x="6656832" y="2651760"/>
            <a:ext cx="1591056" cy="67665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Pagos</a:t>
            </a:r>
            <a:endParaRPr lang="en-US" sz="1300" dirty="0"/>
          </a:p>
          <a:p>
            <a:pPr marL="0" indent="0" algn="ctr">
              <a:buNone/>
            </a:pPr>
            <a:r>
              <a:rPr lang="en-US" sz="1000" dirty="0">
                <a:solidFill>
                  <a:srgbClr val="5A6478"/>
                </a:solidFill>
                <a:latin typeface="Calibri" pitchFamily="34" charset="0"/>
                <a:ea typeface="Calibri" pitchFamily="34" charset="-122"/>
                <a:cs typeface="Calibri" pitchFamily="34" charset="-120"/>
              </a:rPr>
              <a:t>Django REST · pago simulado · desactivable</a:t>
            </a:r>
            <a:endParaRPr lang="en-US" sz="1300" dirty="0"/>
          </a:p>
        </p:txBody>
      </p:sp>
      <p:sp>
        <p:nvSpPr>
          <p:cNvPr id="30" name="Shape 28"/>
          <p:cNvSpPr/>
          <p:nvPr/>
        </p:nvSpPr>
        <p:spPr>
          <a:xfrm>
            <a:off x="7452360" y="3346704"/>
            <a:ext cx="0" cy="182880"/>
          </a:xfrm>
          <a:prstGeom prst="line">
            <a:avLst/>
          </a:prstGeom>
          <a:noFill/>
          <a:ln w="15875">
            <a:solidFill>
              <a:srgbClr val="8A93A6"/>
            </a:solidFill>
            <a:prstDash val="solid"/>
          </a:ln>
        </p:spPr>
        <p:txBody>
          <a:bodyPr/>
          <a:lstStyle/>
          <a:p>
            <a:endParaRPr lang="es-CL"/>
          </a:p>
        </p:txBody>
      </p:sp>
      <p:sp>
        <p:nvSpPr>
          <p:cNvPr id="31" name="Shape 29"/>
          <p:cNvSpPr/>
          <p:nvPr/>
        </p:nvSpPr>
        <p:spPr>
          <a:xfrm>
            <a:off x="6766560" y="3529584"/>
            <a:ext cx="1371600" cy="438912"/>
          </a:xfrm>
          <a:prstGeom prst="roundRect">
            <a:avLst>
              <a:gd name="adj" fmla="val 16667"/>
            </a:avLst>
          </a:prstGeom>
          <a:solidFill>
            <a:srgbClr val="F2F4F7"/>
          </a:solidFill>
          <a:ln w="12700">
            <a:solidFill>
              <a:srgbClr val="C9D3E3"/>
            </a:solidFill>
            <a:prstDash val="solid"/>
          </a:ln>
        </p:spPr>
        <p:txBody>
          <a:bodyPr/>
          <a:lstStyle/>
          <a:p>
            <a:endParaRPr lang="es-CL"/>
          </a:p>
        </p:txBody>
      </p:sp>
      <p:sp>
        <p:nvSpPr>
          <p:cNvPr id="32" name="Text 30"/>
          <p:cNvSpPr txBox="1"/>
          <p:nvPr/>
        </p:nvSpPr>
        <p:spPr>
          <a:xfrm>
            <a:off x="6766560" y="3529584"/>
            <a:ext cx="1371600" cy="438912"/>
          </a:xfrm>
          <a:prstGeom prst="rect">
            <a:avLst/>
          </a:prstGeom>
          <a:noFill/>
          <a:ln/>
        </p:spPr>
        <p:txBody>
          <a:bodyPr wrap="square" lIns="0" tIns="0" rIns="0" bIns="0" rtlCol="0" anchor="ctr"/>
          <a:lstStyle/>
          <a:p>
            <a:pPr marL="0" indent="0" algn="ctr">
              <a:buNone/>
            </a:pPr>
            <a:r>
              <a:rPr lang="en-US" sz="1100" b="1" dirty="0">
                <a:solidFill>
                  <a:srgbClr val="1E2A3A"/>
                </a:solidFill>
                <a:latin typeface="Calibri" pitchFamily="34" charset="0"/>
                <a:ea typeface="Calibri" pitchFamily="34" charset="-122"/>
                <a:cs typeface="Calibri" pitchFamily="34" charset="-120"/>
              </a:rPr>
              <a:t>PostgreSQL</a:t>
            </a:r>
            <a:endParaRPr lang="en-US" sz="1100" dirty="0"/>
          </a:p>
          <a:p>
            <a:pPr marL="0" indent="0" algn="ctr">
              <a:buNone/>
            </a:pPr>
            <a:r>
              <a:rPr lang="en-US" sz="1000" dirty="0">
                <a:solidFill>
                  <a:srgbClr val="5A6478"/>
                </a:solidFill>
                <a:latin typeface="Calibri" pitchFamily="34" charset="0"/>
                <a:ea typeface="Calibri" pitchFamily="34" charset="-122"/>
                <a:cs typeface="Calibri" pitchFamily="34" charset="-120"/>
              </a:rPr>
              <a:t>payment_db</a:t>
            </a:r>
            <a:endParaRPr lang="en-US" sz="1100" dirty="0"/>
          </a:p>
        </p:txBody>
      </p:sp>
      <p:sp>
        <p:nvSpPr>
          <p:cNvPr id="33" name="Shape 31"/>
          <p:cNvSpPr/>
          <p:nvPr/>
        </p:nvSpPr>
        <p:spPr>
          <a:xfrm>
            <a:off x="822960" y="4114800"/>
            <a:ext cx="2743200" cy="384048"/>
          </a:xfrm>
          <a:prstGeom prst="roundRect">
            <a:avLst>
              <a:gd name="adj" fmla="val 19048"/>
            </a:avLst>
          </a:prstGeom>
          <a:solidFill>
            <a:srgbClr val="FFFFFF"/>
          </a:solidFill>
          <a:ln w="12700">
            <a:solidFill>
              <a:srgbClr val="C9D3E3"/>
            </a:solidFill>
            <a:prstDash val="solid"/>
          </a:ln>
        </p:spPr>
        <p:txBody>
          <a:bodyPr/>
          <a:lstStyle/>
          <a:p>
            <a:endParaRPr lang="es-CL"/>
          </a:p>
        </p:txBody>
      </p:sp>
      <p:sp>
        <p:nvSpPr>
          <p:cNvPr id="34" name="Text 32"/>
          <p:cNvSpPr txBox="1"/>
          <p:nvPr/>
        </p:nvSpPr>
        <p:spPr>
          <a:xfrm>
            <a:off x="822960" y="4114800"/>
            <a:ext cx="2743200" cy="384048"/>
          </a:xfrm>
          <a:prstGeom prst="rect">
            <a:avLst/>
          </a:prstGeom>
          <a:noFill/>
          <a:ln/>
        </p:spPr>
        <p:txBody>
          <a:bodyPr wrap="square" lIns="0" tIns="0" rIns="0" bIns="0" rtlCol="0" anchor="ctr"/>
          <a:lstStyle/>
          <a:p>
            <a:pPr marL="0" indent="0" algn="ctr">
              <a:buNone/>
            </a:pPr>
            <a:r>
              <a:rPr lang="en-US" sz="1050" dirty="0">
                <a:solidFill>
                  <a:srgbClr val="1E2A3A"/>
                </a:solidFill>
                <a:latin typeface="Calibri" pitchFamily="34" charset="0"/>
                <a:ea typeface="Calibri" pitchFamily="34" charset="-122"/>
                <a:cs typeface="Calibri" pitchFamily="34" charset="-120"/>
              </a:rPr>
              <a:t>Mailpit · correo de desarrollo para los avisos</a:t>
            </a:r>
            <a:endParaRPr lang="en-US" sz="1050" dirty="0"/>
          </a:p>
        </p:txBody>
      </p:sp>
      <p:sp>
        <p:nvSpPr>
          <p:cNvPr id="35" name="Shape 33"/>
          <p:cNvSpPr/>
          <p:nvPr/>
        </p:nvSpPr>
        <p:spPr>
          <a:xfrm>
            <a:off x="4663440" y="4114800"/>
            <a:ext cx="3657600" cy="384048"/>
          </a:xfrm>
          <a:prstGeom prst="roundRect">
            <a:avLst>
              <a:gd name="adj" fmla="val 19048"/>
            </a:avLst>
          </a:prstGeom>
          <a:solidFill>
            <a:srgbClr val="FFFFFF"/>
          </a:solidFill>
          <a:ln w="12700">
            <a:solidFill>
              <a:srgbClr val="C9D3E3"/>
            </a:solidFill>
            <a:prstDash val="solid"/>
          </a:ln>
        </p:spPr>
        <p:txBody>
          <a:bodyPr/>
          <a:lstStyle/>
          <a:p>
            <a:endParaRPr lang="es-CL"/>
          </a:p>
        </p:txBody>
      </p:sp>
      <p:sp>
        <p:nvSpPr>
          <p:cNvPr id="36" name="Text 34"/>
          <p:cNvSpPr txBox="1"/>
          <p:nvPr/>
        </p:nvSpPr>
        <p:spPr>
          <a:xfrm>
            <a:off x="4663440" y="4114800"/>
            <a:ext cx="3657600" cy="384048"/>
          </a:xfrm>
          <a:prstGeom prst="rect">
            <a:avLst/>
          </a:prstGeom>
          <a:noFill/>
          <a:ln/>
        </p:spPr>
        <p:txBody>
          <a:bodyPr wrap="square" lIns="0" tIns="0" rIns="0" bIns="0" rtlCol="0" anchor="ctr"/>
          <a:lstStyle/>
          <a:p>
            <a:pPr marL="0" indent="0" algn="ctr">
              <a:buNone/>
            </a:pPr>
            <a:r>
              <a:rPr lang="en-US" sz="1050" dirty="0">
                <a:solidFill>
                  <a:srgbClr val="1E2A3A"/>
                </a:solidFill>
                <a:latin typeface="Calibri" pitchFamily="34" charset="0"/>
                <a:ea typeface="Calibri" pitchFamily="34" charset="-122"/>
                <a:cs typeface="Calibri" pitchFamily="34" charset="-120"/>
              </a:rPr>
              <a:t>Programador de tareas · cierra reservas y expira solicitudes</a:t>
            </a:r>
            <a:endParaRPr lang="en-US" sz="1050" dirty="0"/>
          </a:p>
        </p:txBody>
      </p:sp>
      <p:sp>
        <p:nvSpPr>
          <p:cNvPr id="37" name="Text 35"/>
          <p:cNvSpPr txBox="1"/>
          <p:nvPr/>
        </p:nvSpPr>
        <p:spPr>
          <a:xfrm>
            <a:off x="457200" y="4572000"/>
            <a:ext cx="7680960" cy="274320"/>
          </a:xfrm>
          <a:prstGeom prst="rect">
            <a:avLst/>
          </a:prstGeom>
          <a:noFill/>
          <a:ln/>
        </p:spPr>
        <p:txBody>
          <a:bodyPr wrap="square" lIns="0" tIns="0" rIns="0" bIns="0" rtlCol="0" anchor="t"/>
          <a:lstStyle/>
          <a:p>
            <a:pPr marL="0" indent="0">
              <a:buNone/>
            </a:pPr>
            <a:r>
              <a:rPr lang="en-US" sz="1100" i="1" dirty="0">
                <a:solidFill>
                  <a:srgbClr val="5A6478"/>
                </a:solidFill>
                <a:latin typeface="Calibri" pitchFamily="34" charset="0"/>
                <a:ea typeface="Calibri" pitchFamily="34" charset="-122"/>
                <a:cs typeface="Calibri" pitchFamily="34" charset="-120"/>
              </a:rPr>
              <a:t>Ningún servicio lee la base de datos de otro. Todo se levanta con un solo comando, con Docker Compose.</a:t>
            </a:r>
            <a:endParaRPr lang="en-US" sz="1100" dirty="0"/>
          </a:p>
        </p:txBody>
      </p:sp>
      <p:sp>
        <p:nvSpPr>
          <p:cNvPr id="38"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CATÁLOGO ACADÉMICO</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La malla decide quién puede enseñar qué</a:t>
            </a:r>
            <a:endParaRPr lang="en-US" sz="2800" dirty="0"/>
          </a:p>
        </p:txBody>
      </p:sp>
      <p:sp>
        <p:nvSpPr>
          <p:cNvPr id="4" name="Shape 2"/>
          <p:cNvSpPr/>
          <p:nvPr/>
        </p:nvSpPr>
        <p:spPr>
          <a:xfrm>
            <a:off x="457200" y="1261872"/>
            <a:ext cx="3749040" cy="566928"/>
          </a:xfrm>
          <a:prstGeom prst="roundRect">
            <a:avLst>
              <a:gd name="adj" fmla="val 12903"/>
            </a:avLst>
          </a:prstGeom>
          <a:solidFill>
            <a:srgbClr val="EDF1F7"/>
          </a:solidFill>
          <a:ln w="12700">
            <a:solidFill>
              <a:srgbClr val="EDF1F7"/>
            </a:solidFill>
            <a:prstDash val="solid"/>
          </a:ln>
        </p:spPr>
        <p:txBody>
          <a:bodyPr/>
          <a:lstStyle/>
          <a:p>
            <a:endParaRPr lang="es-CL"/>
          </a:p>
        </p:txBody>
      </p:sp>
      <p:sp>
        <p:nvSpPr>
          <p:cNvPr id="5" name="Text 3"/>
          <p:cNvSpPr txBox="1"/>
          <p:nvPr/>
        </p:nvSpPr>
        <p:spPr>
          <a:xfrm>
            <a:off x="658368" y="1261872"/>
            <a:ext cx="3474720" cy="566928"/>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Carrera</a:t>
            </a:r>
            <a:endParaRPr lang="en-US" sz="1400" dirty="0"/>
          </a:p>
          <a:p>
            <a:pPr marL="0" indent="0">
              <a:buNone/>
            </a:pPr>
            <a:r>
              <a:rPr lang="en-US" sz="1150" dirty="0">
                <a:solidFill>
                  <a:srgbClr val="5A6478"/>
                </a:solidFill>
                <a:latin typeface="Calibri" pitchFamily="34" charset="0"/>
                <a:ea typeface="Calibri" pitchFamily="34" charset="-122"/>
                <a:cs typeface="Calibri" pitchFamily="34" charset="-120"/>
              </a:rPr>
              <a:t>por ejemplo, Ingeniería en Informática</a:t>
            </a:r>
            <a:endParaRPr lang="en-US" sz="1400" dirty="0"/>
          </a:p>
        </p:txBody>
      </p:sp>
      <p:sp>
        <p:nvSpPr>
          <p:cNvPr id="6" name="Shape 4"/>
          <p:cNvSpPr/>
          <p:nvPr/>
        </p:nvSpPr>
        <p:spPr>
          <a:xfrm>
            <a:off x="2331720" y="1828800"/>
            <a:ext cx="0" cy="201168"/>
          </a:xfrm>
          <a:prstGeom prst="line">
            <a:avLst/>
          </a:prstGeom>
          <a:noFill/>
          <a:ln w="19050">
            <a:solidFill>
              <a:srgbClr val="1D4E89"/>
            </a:solidFill>
            <a:prstDash val="solid"/>
            <a:tailEnd type="triangle"/>
          </a:ln>
        </p:spPr>
        <p:txBody>
          <a:bodyPr/>
          <a:lstStyle/>
          <a:p>
            <a:endParaRPr lang="es-CL"/>
          </a:p>
        </p:txBody>
      </p:sp>
      <p:sp>
        <p:nvSpPr>
          <p:cNvPr id="7" name="Shape 5"/>
          <p:cNvSpPr/>
          <p:nvPr/>
        </p:nvSpPr>
        <p:spPr>
          <a:xfrm>
            <a:off x="457200" y="2048256"/>
            <a:ext cx="3749040" cy="566928"/>
          </a:xfrm>
          <a:prstGeom prst="roundRect">
            <a:avLst>
              <a:gd name="adj" fmla="val 12903"/>
            </a:avLst>
          </a:prstGeom>
          <a:solidFill>
            <a:srgbClr val="EDF1F7"/>
          </a:solidFill>
          <a:ln w="12700">
            <a:solidFill>
              <a:srgbClr val="EDF1F7"/>
            </a:solidFill>
            <a:prstDash val="solid"/>
          </a:ln>
        </p:spPr>
        <p:txBody>
          <a:bodyPr/>
          <a:lstStyle/>
          <a:p>
            <a:endParaRPr lang="es-CL"/>
          </a:p>
        </p:txBody>
      </p:sp>
      <p:sp>
        <p:nvSpPr>
          <p:cNvPr id="8" name="Text 6"/>
          <p:cNvSpPr txBox="1"/>
          <p:nvPr/>
        </p:nvSpPr>
        <p:spPr>
          <a:xfrm>
            <a:off x="658368" y="2048256"/>
            <a:ext cx="3474720" cy="566928"/>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Malla vigente</a:t>
            </a:r>
            <a:endParaRPr lang="en-US" sz="1400" dirty="0"/>
          </a:p>
          <a:p>
            <a:pPr marL="0" indent="0">
              <a:buNone/>
            </a:pPr>
            <a:r>
              <a:rPr lang="en-US" sz="1150" dirty="0">
                <a:solidFill>
                  <a:srgbClr val="5A6478"/>
                </a:solidFill>
                <a:latin typeface="Calibri" pitchFamily="34" charset="0"/>
                <a:ea typeface="Calibri" pitchFamily="34" charset="-122"/>
                <a:cs typeface="Calibri" pitchFamily="34" charset="-120"/>
              </a:rPr>
              <a:t>el plan de estudios de esa carrera</a:t>
            </a:r>
            <a:endParaRPr lang="en-US" sz="1400" dirty="0"/>
          </a:p>
        </p:txBody>
      </p:sp>
      <p:sp>
        <p:nvSpPr>
          <p:cNvPr id="9" name="Shape 7"/>
          <p:cNvSpPr/>
          <p:nvPr/>
        </p:nvSpPr>
        <p:spPr>
          <a:xfrm>
            <a:off x="2331720" y="2615184"/>
            <a:ext cx="0" cy="201168"/>
          </a:xfrm>
          <a:prstGeom prst="line">
            <a:avLst/>
          </a:prstGeom>
          <a:noFill/>
          <a:ln w="19050">
            <a:solidFill>
              <a:srgbClr val="1D4E89"/>
            </a:solidFill>
            <a:prstDash val="solid"/>
            <a:tailEnd type="triangle"/>
          </a:ln>
        </p:spPr>
        <p:txBody>
          <a:bodyPr/>
          <a:lstStyle/>
          <a:p>
            <a:endParaRPr lang="es-CL"/>
          </a:p>
        </p:txBody>
      </p:sp>
      <p:sp>
        <p:nvSpPr>
          <p:cNvPr id="10" name="Shape 8"/>
          <p:cNvSpPr/>
          <p:nvPr/>
        </p:nvSpPr>
        <p:spPr>
          <a:xfrm>
            <a:off x="457200" y="2834640"/>
            <a:ext cx="3749040" cy="566928"/>
          </a:xfrm>
          <a:prstGeom prst="roundRect">
            <a:avLst>
              <a:gd name="adj" fmla="val 12903"/>
            </a:avLst>
          </a:prstGeom>
          <a:solidFill>
            <a:srgbClr val="0A2240"/>
          </a:solidFill>
          <a:ln w="12700">
            <a:solidFill>
              <a:srgbClr val="0A2240"/>
            </a:solidFill>
            <a:prstDash val="solid"/>
          </a:ln>
        </p:spPr>
        <p:txBody>
          <a:bodyPr/>
          <a:lstStyle/>
          <a:p>
            <a:endParaRPr lang="es-CL"/>
          </a:p>
        </p:txBody>
      </p:sp>
      <p:sp>
        <p:nvSpPr>
          <p:cNvPr id="11" name="Text 9"/>
          <p:cNvSpPr txBox="1"/>
          <p:nvPr/>
        </p:nvSpPr>
        <p:spPr>
          <a:xfrm>
            <a:off x="658368" y="2834640"/>
            <a:ext cx="3474720" cy="566928"/>
          </a:xfrm>
          <a:prstGeom prst="rect">
            <a:avLst/>
          </a:prstGeom>
          <a:noFill/>
          <a:ln/>
        </p:spPr>
        <p:txBody>
          <a:bodyPr wrap="square" lIns="0" tIns="0" rIns="0" bIns="0" rtlCol="0" anchor="ctr"/>
          <a:lstStyle/>
          <a:p>
            <a:pPr marL="0" indent="0">
              <a:buNone/>
            </a:pPr>
            <a:r>
              <a:rPr lang="en-US" sz="1400" b="1" dirty="0">
                <a:solidFill>
                  <a:srgbClr val="F9B934"/>
                </a:solidFill>
                <a:latin typeface="Calibri" pitchFamily="34" charset="0"/>
                <a:ea typeface="Calibri" pitchFamily="34" charset="-122"/>
                <a:cs typeface="Calibri" pitchFamily="34" charset="-120"/>
              </a:rPr>
              <a:t>Semestre</a:t>
            </a:r>
            <a:endParaRPr lang="en-US" sz="1400" dirty="0"/>
          </a:p>
          <a:p>
            <a:pPr marL="0" indent="0">
              <a:buNone/>
            </a:pPr>
            <a:r>
              <a:rPr lang="en-US" sz="1150" dirty="0">
                <a:solidFill>
                  <a:srgbClr val="FFFFFF"/>
                </a:solidFill>
                <a:latin typeface="Calibri" pitchFamily="34" charset="0"/>
                <a:ea typeface="Calibri" pitchFamily="34" charset="-122"/>
                <a:cs typeface="Calibri" pitchFamily="34" charset="-120"/>
              </a:rPr>
              <a:t>cada asignatura ocupa uno dentro de la malla</a:t>
            </a:r>
            <a:endParaRPr lang="en-US" sz="1400" dirty="0"/>
          </a:p>
        </p:txBody>
      </p:sp>
      <p:sp>
        <p:nvSpPr>
          <p:cNvPr id="12" name="Shape 10"/>
          <p:cNvSpPr/>
          <p:nvPr/>
        </p:nvSpPr>
        <p:spPr>
          <a:xfrm>
            <a:off x="2331720" y="3401568"/>
            <a:ext cx="0" cy="201168"/>
          </a:xfrm>
          <a:prstGeom prst="line">
            <a:avLst/>
          </a:prstGeom>
          <a:noFill/>
          <a:ln w="19050">
            <a:solidFill>
              <a:srgbClr val="1D4E89"/>
            </a:solidFill>
            <a:prstDash val="solid"/>
            <a:tailEnd type="triangle"/>
          </a:ln>
        </p:spPr>
        <p:txBody>
          <a:bodyPr/>
          <a:lstStyle/>
          <a:p>
            <a:endParaRPr lang="es-CL"/>
          </a:p>
        </p:txBody>
      </p:sp>
      <p:sp>
        <p:nvSpPr>
          <p:cNvPr id="13" name="Shape 11"/>
          <p:cNvSpPr/>
          <p:nvPr/>
        </p:nvSpPr>
        <p:spPr>
          <a:xfrm>
            <a:off x="457200" y="3621024"/>
            <a:ext cx="3749040" cy="566928"/>
          </a:xfrm>
          <a:prstGeom prst="roundRect">
            <a:avLst>
              <a:gd name="adj" fmla="val 12903"/>
            </a:avLst>
          </a:prstGeom>
          <a:solidFill>
            <a:srgbClr val="EDF1F7"/>
          </a:solidFill>
          <a:ln w="12700">
            <a:solidFill>
              <a:srgbClr val="EDF1F7"/>
            </a:solidFill>
            <a:prstDash val="solid"/>
          </a:ln>
        </p:spPr>
        <p:txBody>
          <a:bodyPr/>
          <a:lstStyle/>
          <a:p>
            <a:endParaRPr lang="es-CL"/>
          </a:p>
        </p:txBody>
      </p:sp>
      <p:sp>
        <p:nvSpPr>
          <p:cNvPr id="14" name="Text 12"/>
          <p:cNvSpPr txBox="1"/>
          <p:nvPr/>
        </p:nvSpPr>
        <p:spPr>
          <a:xfrm>
            <a:off x="658368" y="3621024"/>
            <a:ext cx="3474720" cy="566928"/>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Asignatura</a:t>
            </a:r>
            <a:endParaRPr lang="en-US" sz="1400" dirty="0"/>
          </a:p>
          <a:p>
            <a:pPr marL="0" indent="0">
              <a:buNone/>
            </a:pPr>
            <a:r>
              <a:rPr lang="en-US" sz="1150" dirty="0">
                <a:solidFill>
                  <a:srgbClr val="5A6478"/>
                </a:solidFill>
                <a:latin typeface="Calibri" pitchFamily="34" charset="0"/>
                <a:ea typeface="Calibri" pitchFamily="34" charset="-122"/>
                <a:cs typeface="Calibri" pitchFamily="34" charset="-120"/>
              </a:rPr>
              <a:t>es la misma en todas las carreras que la dictan</a:t>
            </a:r>
            <a:endParaRPr lang="en-US" sz="1400" dirty="0"/>
          </a:p>
        </p:txBody>
      </p:sp>
      <p:sp>
        <p:nvSpPr>
          <p:cNvPr id="15" name="Text 13"/>
          <p:cNvSpPr txBox="1"/>
          <p:nvPr/>
        </p:nvSpPr>
        <p:spPr>
          <a:xfrm>
            <a:off x="457200" y="4462272"/>
            <a:ext cx="3749040" cy="256032"/>
          </a:xfrm>
          <a:prstGeom prst="rect">
            <a:avLst/>
          </a:prstGeom>
          <a:noFill/>
          <a:ln/>
        </p:spPr>
        <p:txBody>
          <a:bodyPr wrap="square" lIns="0" tIns="0" rIns="0" bIns="0" rtlCol="0" anchor="t"/>
          <a:lstStyle/>
          <a:p>
            <a:pPr marL="0" indent="0">
              <a:buNone/>
            </a:pPr>
            <a:r>
              <a:rPr lang="en-US" sz="1100" i="1" dirty="0">
                <a:solidFill>
                  <a:srgbClr val="5A6478"/>
                </a:solidFill>
                <a:latin typeface="Calibri" pitchFamily="34" charset="0"/>
                <a:ea typeface="Calibri" pitchFamily="34" charset="-122"/>
                <a:cs typeface="Calibri" pitchFamily="34" charset="-120"/>
              </a:rPr>
              <a:t>Los prerrequisitos quedan modelados para una versión futura.</a:t>
            </a:r>
            <a:endParaRPr lang="en-US" sz="1100" dirty="0"/>
          </a:p>
        </p:txBody>
      </p:sp>
      <p:sp>
        <p:nvSpPr>
          <p:cNvPr id="16" name="Shape 14"/>
          <p:cNvSpPr/>
          <p:nvPr/>
        </p:nvSpPr>
        <p:spPr>
          <a:xfrm>
            <a:off x="4572000" y="1261872"/>
            <a:ext cx="4114800" cy="3456432"/>
          </a:xfrm>
          <a:prstGeom prst="roundRect">
            <a:avLst>
              <a:gd name="adj" fmla="val 2116"/>
            </a:avLst>
          </a:prstGeom>
          <a:solidFill>
            <a:srgbClr val="EDF1F7"/>
          </a:solidFill>
          <a:ln w="12700">
            <a:solidFill>
              <a:srgbClr val="EDF1F7"/>
            </a:solidFill>
            <a:prstDash val="solid"/>
          </a:ln>
        </p:spPr>
        <p:txBody>
          <a:bodyPr/>
          <a:lstStyle/>
          <a:p>
            <a:endParaRPr lang="es-CL"/>
          </a:p>
        </p:txBody>
      </p:sp>
      <p:sp>
        <p:nvSpPr>
          <p:cNvPr id="17" name="Text 15"/>
          <p:cNvSpPr txBox="1"/>
          <p:nvPr/>
        </p:nvSpPr>
        <p:spPr>
          <a:xfrm>
            <a:off x="4800600" y="1417320"/>
            <a:ext cx="3657600" cy="228600"/>
          </a:xfrm>
          <a:prstGeom prst="rect">
            <a:avLst/>
          </a:prstGeom>
          <a:noFill/>
          <a:ln/>
        </p:spPr>
        <p:txBody>
          <a:bodyPr wrap="square" lIns="0" tIns="0" rIns="0" bIns="0" rtlCol="0" anchor="t"/>
          <a:lstStyle/>
          <a:p>
            <a:pPr marL="0" indent="0">
              <a:buNone/>
            </a:pPr>
            <a:r>
              <a:rPr lang="en-US" sz="1100" b="1" kern="0" spc="200" dirty="0">
                <a:solidFill>
                  <a:srgbClr val="1D4E89"/>
                </a:solidFill>
                <a:latin typeface="Calibri" pitchFamily="34" charset="0"/>
                <a:ea typeface="Calibri" pitchFamily="34" charset="-122"/>
                <a:cs typeface="Calibri" pitchFamily="34" charset="-120"/>
              </a:rPr>
              <a:t>REGLA DE HABILITACIÓN</a:t>
            </a:r>
            <a:endParaRPr lang="en-US" sz="1100" dirty="0"/>
          </a:p>
        </p:txBody>
      </p:sp>
      <p:sp>
        <p:nvSpPr>
          <p:cNvPr id="18" name="Text 16"/>
          <p:cNvSpPr txBox="1"/>
          <p:nvPr/>
        </p:nvSpPr>
        <p:spPr>
          <a:xfrm>
            <a:off x="4800600" y="1691640"/>
            <a:ext cx="3703320" cy="777240"/>
          </a:xfrm>
          <a:prstGeom prst="rect">
            <a:avLst/>
          </a:prstGeom>
          <a:noFill/>
          <a:ln/>
        </p:spPr>
        <p:txBody>
          <a:bodyPr wrap="square" lIns="0" tIns="0" rIns="0" bIns="0" rtlCol="0" anchor="t"/>
          <a:lstStyle/>
          <a:p>
            <a:pPr marL="0" indent="0">
              <a:buNone/>
            </a:pPr>
            <a:r>
              <a:rPr lang="en-US" sz="1500" b="1" dirty="0">
                <a:solidFill>
                  <a:srgbClr val="0A2240"/>
                </a:solidFill>
                <a:latin typeface="Calibri" pitchFamily="34" charset="0"/>
                <a:ea typeface="Calibri" pitchFamily="34" charset="-122"/>
                <a:cs typeface="Calibri" pitchFamily="34" charset="-120"/>
              </a:rPr>
              <a:t>Solo puedes ofrecer tutorías de asignaturas de tu malla que estén en semestres anteriores a tu nivel.</a:t>
            </a:r>
            <a:endParaRPr lang="en-US" sz="1500" dirty="0"/>
          </a:p>
        </p:txBody>
      </p:sp>
      <p:sp>
        <p:nvSpPr>
          <p:cNvPr id="19" name="Text 17"/>
          <p:cNvSpPr txBox="1"/>
          <p:nvPr/>
        </p:nvSpPr>
        <p:spPr>
          <a:xfrm>
            <a:off x="4800600" y="2560320"/>
            <a:ext cx="3657600" cy="256032"/>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Ejemplo: si cursas el 4.º semestre</a:t>
            </a:r>
            <a:endParaRPr lang="en-US" sz="1200" dirty="0"/>
          </a:p>
        </p:txBody>
      </p:sp>
      <p:sp>
        <p:nvSpPr>
          <p:cNvPr id="20" name="Shape 18"/>
          <p:cNvSpPr/>
          <p:nvPr/>
        </p:nvSpPr>
        <p:spPr>
          <a:xfrm>
            <a:off x="4800600" y="2880360"/>
            <a:ext cx="512064" cy="512064"/>
          </a:xfrm>
          <a:prstGeom prst="roundRect">
            <a:avLst>
              <a:gd name="adj" fmla="val 14286"/>
            </a:avLst>
          </a:prstGeom>
          <a:solidFill>
            <a:srgbClr val="2E8B57"/>
          </a:solidFill>
          <a:ln w="12700">
            <a:solidFill>
              <a:srgbClr val="2E8B57"/>
            </a:solidFill>
            <a:prstDash val="solid"/>
          </a:ln>
        </p:spPr>
        <p:txBody>
          <a:bodyPr/>
          <a:lstStyle/>
          <a:p>
            <a:endParaRPr lang="es-CL"/>
          </a:p>
        </p:txBody>
      </p:sp>
      <p:sp>
        <p:nvSpPr>
          <p:cNvPr id="21" name="Text 19"/>
          <p:cNvSpPr txBox="1"/>
          <p:nvPr/>
        </p:nvSpPr>
        <p:spPr>
          <a:xfrm>
            <a:off x="4800600" y="288036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2" name="Shape 20"/>
          <p:cNvSpPr/>
          <p:nvPr/>
        </p:nvSpPr>
        <p:spPr>
          <a:xfrm>
            <a:off x="5404104" y="2880360"/>
            <a:ext cx="512064" cy="512064"/>
          </a:xfrm>
          <a:prstGeom prst="roundRect">
            <a:avLst>
              <a:gd name="adj" fmla="val 14286"/>
            </a:avLst>
          </a:prstGeom>
          <a:solidFill>
            <a:srgbClr val="2E8B57"/>
          </a:solidFill>
          <a:ln w="12700">
            <a:solidFill>
              <a:srgbClr val="2E8B57"/>
            </a:solidFill>
            <a:prstDash val="solid"/>
          </a:ln>
        </p:spPr>
        <p:txBody>
          <a:bodyPr/>
          <a:lstStyle/>
          <a:p>
            <a:endParaRPr lang="es-CL"/>
          </a:p>
        </p:txBody>
      </p:sp>
      <p:sp>
        <p:nvSpPr>
          <p:cNvPr id="23" name="Text 21"/>
          <p:cNvSpPr txBox="1"/>
          <p:nvPr/>
        </p:nvSpPr>
        <p:spPr>
          <a:xfrm>
            <a:off x="5404104" y="288036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4" name="Shape 22"/>
          <p:cNvSpPr/>
          <p:nvPr/>
        </p:nvSpPr>
        <p:spPr>
          <a:xfrm>
            <a:off x="6007608" y="2880360"/>
            <a:ext cx="512064" cy="512064"/>
          </a:xfrm>
          <a:prstGeom prst="roundRect">
            <a:avLst>
              <a:gd name="adj" fmla="val 14286"/>
            </a:avLst>
          </a:prstGeom>
          <a:solidFill>
            <a:srgbClr val="2E8B57"/>
          </a:solidFill>
          <a:ln w="12700">
            <a:solidFill>
              <a:srgbClr val="2E8B57"/>
            </a:solidFill>
            <a:prstDash val="solid"/>
          </a:ln>
        </p:spPr>
        <p:txBody>
          <a:bodyPr/>
          <a:lstStyle/>
          <a:p>
            <a:endParaRPr lang="es-CL"/>
          </a:p>
        </p:txBody>
      </p:sp>
      <p:sp>
        <p:nvSpPr>
          <p:cNvPr id="25" name="Text 23"/>
          <p:cNvSpPr txBox="1"/>
          <p:nvPr/>
        </p:nvSpPr>
        <p:spPr>
          <a:xfrm>
            <a:off x="6007608" y="288036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Shape 24"/>
          <p:cNvSpPr/>
          <p:nvPr/>
        </p:nvSpPr>
        <p:spPr>
          <a:xfrm>
            <a:off x="6611112" y="2880360"/>
            <a:ext cx="512064" cy="512064"/>
          </a:xfrm>
          <a:prstGeom prst="roundRect">
            <a:avLst>
              <a:gd name="adj" fmla="val 14286"/>
            </a:avLst>
          </a:prstGeom>
          <a:solidFill>
            <a:srgbClr val="F9B934"/>
          </a:solidFill>
          <a:ln w="12700">
            <a:solidFill>
              <a:srgbClr val="F9B934"/>
            </a:solidFill>
            <a:prstDash val="solid"/>
          </a:ln>
        </p:spPr>
        <p:txBody>
          <a:bodyPr/>
          <a:lstStyle/>
          <a:p>
            <a:endParaRPr lang="es-CL"/>
          </a:p>
        </p:txBody>
      </p:sp>
      <p:sp>
        <p:nvSpPr>
          <p:cNvPr id="27" name="Text 25"/>
          <p:cNvSpPr txBox="1"/>
          <p:nvPr/>
        </p:nvSpPr>
        <p:spPr>
          <a:xfrm>
            <a:off x="6611112" y="2880360"/>
            <a:ext cx="512064" cy="512064"/>
          </a:xfrm>
          <a:prstGeom prst="rect">
            <a:avLst/>
          </a:prstGeom>
          <a:noFill/>
          <a:ln/>
        </p:spPr>
        <p:txBody>
          <a:bodyPr wrap="square" lIns="0" tIns="0" rIns="0" bIns="0" rtlCol="0" anchor="ctr"/>
          <a:lstStyle/>
          <a:p>
            <a:pPr marL="0" indent="0" algn="ctr">
              <a:buNone/>
            </a:pPr>
            <a:r>
              <a:rPr lang="en-US" sz="1600" b="1" dirty="0">
                <a:solidFill>
                  <a:srgbClr val="0A2240"/>
                </a:solidFill>
                <a:latin typeface="Calibri" pitchFamily="34" charset="0"/>
                <a:ea typeface="Calibri" pitchFamily="34" charset="-122"/>
                <a:cs typeface="Calibri" pitchFamily="34" charset="-120"/>
              </a:rPr>
              <a:t>4</a:t>
            </a:r>
            <a:endParaRPr lang="en-US" sz="1600" dirty="0"/>
          </a:p>
        </p:txBody>
      </p:sp>
      <p:sp>
        <p:nvSpPr>
          <p:cNvPr id="28" name="Shape 26"/>
          <p:cNvSpPr/>
          <p:nvPr/>
        </p:nvSpPr>
        <p:spPr>
          <a:xfrm>
            <a:off x="7214616" y="2880360"/>
            <a:ext cx="512064" cy="512064"/>
          </a:xfrm>
          <a:prstGeom prst="roundRect">
            <a:avLst>
              <a:gd name="adj" fmla="val 14286"/>
            </a:avLst>
          </a:prstGeom>
          <a:solidFill>
            <a:srgbClr val="D5DBE5"/>
          </a:solidFill>
          <a:ln w="12700">
            <a:solidFill>
              <a:srgbClr val="D5DBE5"/>
            </a:solidFill>
            <a:prstDash val="solid"/>
          </a:ln>
        </p:spPr>
        <p:txBody>
          <a:bodyPr/>
          <a:lstStyle/>
          <a:p>
            <a:endParaRPr lang="es-CL"/>
          </a:p>
        </p:txBody>
      </p:sp>
      <p:sp>
        <p:nvSpPr>
          <p:cNvPr id="29" name="Text 27"/>
          <p:cNvSpPr txBox="1"/>
          <p:nvPr/>
        </p:nvSpPr>
        <p:spPr>
          <a:xfrm>
            <a:off x="7214616" y="2880360"/>
            <a:ext cx="512064" cy="512064"/>
          </a:xfrm>
          <a:prstGeom prst="rect">
            <a:avLst/>
          </a:prstGeom>
          <a:noFill/>
          <a:ln/>
        </p:spPr>
        <p:txBody>
          <a:bodyPr wrap="square" lIns="0" tIns="0" rIns="0" bIns="0" rtlCol="0" anchor="ctr"/>
          <a:lstStyle/>
          <a:p>
            <a:pPr marL="0" indent="0" algn="ctr">
              <a:buNone/>
            </a:pPr>
            <a:r>
              <a:rPr lang="en-US" sz="1600" b="1" dirty="0">
                <a:solidFill>
                  <a:srgbClr val="0A2240"/>
                </a:solidFill>
                <a:latin typeface="Calibri" pitchFamily="34" charset="0"/>
                <a:ea typeface="Calibri" pitchFamily="34" charset="-122"/>
                <a:cs typeface="Calibri" pitchFamily="34" charset="-120"/>
              </a:rPr>
              <a:t>5</a:t>
            </a:r>
            <a:endParaRPr lang="en-US" sz="1600" dirty="0"/>
          </a:p>
        </p:txBody>
      </p:sp>
      <p:sp>
        <p:nvSpPr>
          <p:cNvPr id="30" name="Shape 28"/>
          <p:cNvSpPr/>
          <p:nvPr/>
        </p:nvSpPr>
        <p:spPr>
          <a:xfrm>
            <a:off x="7818120" y="2880360"/>
            <a:ext cx="512064" cy="512064"/>
          </a:xfrm>
          <a:prstGeom prst="roundRect">
            <a:avLst>
              <a:gd name="adj" fmla="val 14286"/>
            </a:avLst>
          </a:prstGeom>
          <a:solidFill>
            <a:srgbClr val="D5DBE5"/>
          </a:solidFill>
          <a:ln w="12700">
            <a:solidFill>
              <a:srgbClr val="D5DBE5"/>
            </a:solidFill>
            <a:prstDash val="solid"/>
          </a:ln>
        </p:spPr>
        <p:txBody>
          <a:bodyPr/>
          <a:lstStyle/>
          <a:p>
            <a:endParaRPr lang="es-CL"/>
          </a:p>
        </p:txBody>
      </p:sp>
      <p:sp>
        <p:nvSpPr>
          <p:cNvPr id="31" name="Text 29"/>
          <p:cNvSpPr txBox="1"/>
          <p:nvPr/>
        </p:nvSpPr>
        <p:spPr>
          <a:xfrm>
            <a:off x="7818120" y="2880360"/>
            <a:ext cx="512064" cy="512064"/>
          </a:xfrm>
          <a:prstGeom prst="rect">
            <a:avLst/>
          </a:prstGeom>
          <a:noFill/>
          <a:ln/>
        </p:spPr>
        <p:txBody>
          <a:bodyPr wrap="square" lIns="0" tIns="0" rIns="0" bIns="0" rtlCol="0" anchor="ctr"/>
          <a:lstStyle/>
          <a:p>
            <a:pPr marL="0" indent="0" algn="ctr">
              <a:buNone/>
            </a:pPr>
            <a:r>
              <a:rPr lang="en-US" sz="1600" b="1" dirty="0">
                <a:solidFill>
                  <a:srgbClr val="0A2240"/>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4800600" y="3474720"/>
            <a:ext cx="3749040" cy="237744"/>
          </a:xfrm>
          <a:prstGeom prst="rect">
            <a:avLst/>
          </a:prstGeom>
          <a:noFill/>
          <a:ln/>
        </p:spPr>
        <p:txBody>
          <a:bodyPr wrap="square" lIns="0" tIns="0" rIns="0" bIns="0" rtlCol="0" anchor="t"/>
          <a:lstStyle/>
          <a:p>
            <a:pPr marL="0" indent="0">
              <a:buNone/>
            </a:pPr>
            <a:r>
              <a:rPr lang="en-US" sz="1100" dirty="0">
                <a:solidFill>
                  <a:srgbClr val="2E8B57"/>
                </a:solidFill>
                <a:latin typeface="Calibri" pitchFamily="34" charset="0"/>
                <a:ea typeface="Calibri" pitchFamily="34" charset="-122"/>
                <a:cs typeface="Calibri" pitchFamily="34" charset="-120"/>
              </a:rPr>
              <a:t>■ </a:t>
            </a:r>
            <a:r>
              <a:rPr lang="en-US" sz="1100" dirty="0">
                <a:solidFill>
                  <a:srgbClr val="1E2A3A"/>
                </a:solidFill>
                <a:latin typeface="Calibri" pitchFamily="34" charset="0"/>
                <a:ea typeface="Calibri" pitchFamily="34" charset="-122"/>
                <a:cs typeface="Calibri" pitchFamily="34" charset="-120"/>
              </a:rPr>
              <a:t>puedes enseñar   </a:t>
            </a:r>
            <a:r>
              <a:rPr lang="en-US" sz="1100" dirty="0">
                <a:solidFill>
                  <a:srgbClr val="F9B934"/>
                </a:solidFill>
                <a:latin typeface="Calibri" pitchFamily="34" charset="0"/>
                <a:ea typeface="Calibri" pitchFamily="34" charset="-122"/>
                <a:cs typeface="Calibri" pitchFamily="34" charset="-120"/>
              </a:rPr>
              <a:t>■ </a:t>
            </a:r>
            <a:r>
              <a:rPr lang="en-US" sz="1100" dirty="0">
                <a:solidFill>
                  <a:srgbClr val="1E2A3A"/>
                </a:solidFill>
                <a:latin typeface="Calibri" pitchFamily="34" charset="0"/>
                <a:ea typeface="Calibri" pitchFamily="34" charset="-122"/>
                <a:cs typeface="Calibri" pitchFamily="34" charset="-120"/>
              </a:rPr>
              <a:t>tu nivel   </a:t>
            </a:r>
            <a:r>
              <a:rPr lang="en-US" sz="1100" dirty="0">
                <a:solidFill>
                  <a:srgbClr val="B4BDCC"/>
                </a:solidFill>
                <a:latin typeface="Calibri" pitchFamily="34" charset="0"/>
                <a:ea typeface="Calibri" pitchFamily="34" charset="-122"/>
                <a:cs typeface="Calibri" pitchFamily="34" charset="-120"/>
              </a:rPr>
              <a:t>■ </a:t>
            </a:r>
            <a:r>
              <a:rPr lang="en-US" sz="1100" dirty="0">
                <a:solidFill>
                  <a:srgbClr val="1E2A3A"/>
                </a:solidFill>
                <a:latin typeface="Calibri" pitchFamily="34" charset="0"/>
                <a:ea typeface="Calibri" pitchFamily="34" charset="-122"/>
                <a:cs typeface="Calibri" pitchFamily="34" charset="-120"/>
              </a:rPr>
              <a:t>todavía no</a:t>
            </a:r>
            <a:endParaRPr lang="en-US" sz="1100" dirty="0"/>
          </a:p>
        </p:txBody>
      </p:sp>
      <p:sp>
        <p:nvSpPr>
          <p:cNvPr id="33" name="Text 31"/>
          <p:cNvSpPr txBox="1"/>
          <p:nvPr/>
        </p:nvSpPr>
        <p:spPr>
          <a:xfrm>
            <a:off x="4800600" y="3840480"/>
            <a:ext cx="3703320" cy="777240"/>
          </a:xfrm>
          <a:prstGeom prst="rect">
            <a:avLst/>
          </a:prstGeom>
          <a:noFill/>
          <a:ln/>
        </p:spPr>
        <p:txBody>
          <a:bodyPr wrap="square" lIns="0" tIns="0" rIns="0" bIns="0" rtlCol="0" anchor="t"/>
          <a:lstStyle/>
          <a:p>
            <a:pPr marL="0" indent="0">
              <a:buNone/>
            </a:pPr>
            <a:r>
              <a:rPr lang="en-US" sz="1150" dirty="0">
                <a:solidFill>
                  <a:srgbClr val="1E2A3A"/>
                </a:solidFill>
                <a:latin typeface="Calibri" pitchFamily="34" charset="0"/>
                <a:ea typeface="Calibri" pitchFamily="34" charset="-122"/>
                <a:cs typeface="Calibri" pitchFamily="34" charset="-120"/>
              </a:rPr>
              <a:t>Carga inicial: de 3 a 5 carreras completas desde archivos CSV. Si alguien cambia de carrera o de nivel, las asignaturas que dejan de cumplir la regla se desactivan solas.</a:t>
            </a:r>
            <a:endParaRPr lang="en-US" sz="1150" dirty="0"/>
          </a:p>
        </p:txBody>
      </p:sp>
      <p:sp>
        <p:nvSpPr>
          <p:cNvPr id="34"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FLUJO DE UNA TUTORÍA</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De la solicitud a la evaluación</a:t>
            </a:r>
            <a:endParaRPr lang="en-US" sz="2800" dirty="0"/>
          </a:p>
        </p:txBody>
      </p:sp>
      <p:sp>
        <p:nvSpPr>
          <p:cNvPr id="4" name="Shape 2"/>
          <p:cNvSpPr/>
          <p:nvPr/>
        </p:nvSpPr>
        <p:spPr>
          <a:xfrm>
            <a:off x="457200" y="1261872"/>
            <a:ext cx="1828800" cy="868680"/>
          </a:xfrm>
          <a:prstGeom prst="roundRect">
            <a:avLst>
              <a:gd name="adj" fmla="val 8421"/>
            </a:avLst>
          </a:prstGeom>
          <a:solidFill>
            <a:srgbClr val="EDF1F7"/>
          </a:solidFill>
          <a:ln w="12700">
            <a:solidFill>
              <a:srgbClr val="1D4E89"/>
            </a:solidFill>
            <a:prstDash val="solid"/>
          </a:ln>
        </p:spPr>
        <p:txBody>
          <a:bodyPr/>
          <a:lstStyle/>
          <a:p>
            <a:endParaRPr lang="es-CL"/>
          </a:p>
        </p:txBody>
      </p:sp>
      <p:sp>
        <p:nvSpPr>
          <p:cNvPr id="5" name="Text 3"/>
          <p:cNvSpPr txBox="1"/>
          <p:nvPr/>
        </p:nvSpPr>
        <p:spPr>
          <a:xfrm>
            <a:off x="548640" y="1280160"/>
            <a:ext cx="1645920" cy="832104"/>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SOLICITADA</a:t>
            </a:r>
            <a:endParaRPr lang="en-US" sz="1400" dirty="0"/>
          </a:p>
          <a:p>
            <a:pPr marL="0" indent="0" algn="ctr">
              <a:buNone/>
            </a:pPr>
            <a:r>
              <a:rPr lang="en-US" sz="1100" dirty="0">
                <a:solidFill>
                  <a:srgbClr val="5A6478"/>
                </a:solidFill>
                <a:latin typeface="Calibri" pitchFamily="34" charset="0"/>
                <a:ea typeface="Calibri" pitchFamily="34" charset="-122"/>
                <a:cs typeface="Calibri" pitchFamily="34" charset="-120"/>
              </a:rPr>
              <a:t>el estudiante pide un bloque</a:t>
            </a:r>
            <a:endParaRPr lang="en-US" sz="1400" dirty="0"/>
          </a:p>
        </p:txBody>
      </p:sp>
      <p:sp>
        <p:nvSpPr>
          <p:cNvPr id="6" name="Shape 4"/>
          <p:cNvSpPr/>
          <p:nvPr/>
        </p:nvSpPr>
        <p:spPr>
          <a:xfrm>
            <a:off x="2331720" y="1696212"/>
            <a:ext cx="213360" cy="0"/>
          </a:xfrm>
          <a:prstGeom prst="line">
            <a:avLst/>
          </a:prstGeom>
          <a:noFill/>
          <a:ln w="25400">
            <a:solidFill>
              <a:srgbClr val="1D4E89"/>
            </a:solidFill>
            <a:prstDash val="solid"/>
            <a:tailEnd type="triangle"/>
          </a:ln>
        </p:spPr>
        <p:txBody>
          <a:bodyPr/>
          <a:lstStyle/>
          <a:p>
            <a:endParaRPr lang="es-CL"/>
          </a:p>
        </p:txBody>
      </p:sp>
      <p:sp>
        <p:nvSpPr>
          <p:cNvPr id="7" name="Shape 5"/>
          <p:cNvSpPr/>
          <p:nvPr/>
        </p:nvSpPr>
        <p:spPr>
          <a:xfrm>
            <a:off x="1371600" y="2130552"/>
            <a:ext cx="0" cy="256032"/>
          </a:xfrm>
          <a:prstGeom prst="line">
            <a:avLst/>
          </a:prstGeom>
          <a:noFill/>
          <a:ln w="15875">
            <a:solidFill>
              <a:srgbClr val="8A93A6"/>
            </a:solidFill>
            <a:prstDash val="dash"/>
          </a:ln>
        </p:spPr>
        <p:txBody>
          <a:bodyPr/>
          <a:lstStyle/>
          <a:p>
            <a:endParaRPr lang="es-CL"/>
          </a:p>
        </p:txBody>
      </p:sp>
      <p:sp>
        <p:nvSpPr>
          <p:cNvPr id="8" name="Shape 6"/>
          <p:cNvSpPr/>
          <p:nvPr/>
        </p:nvSpPr>
        <p:spPr>
          <a:xfrm>
            <a:off x="457200" y="2395728"/>
            <a:ext cx="1828800" cy="603504"/>
          </a:xfrm>
          <a:prstGeom prst="roundRect">
            <a:avLst>
              <a:gd name="adj" fmla="val 12121"/>
            </a:avLst>
          </a:prstGeom>
          <a:solidFill>
            <a:srgbClr val="F8E7E7"/>
          </a:solidFill>
          <a:ln w="12700">
            <a:solidFill>
              <a:srgbClr val="E3B3B4"/>
            </a:solidFill>
            <a:prstDash val="solid"/>
          </a:ln>
        </p:spPr>
        <p:txBody>
          <a:bodyPr/>
          <a:lstStyle/>
          <a:p>
            <a:endParaRPr lang="es-CL"/>
          </a:p>
        </p:txBody>
      </p:sp>
      <p:sp>
        <p:nvSpPr>
          <p:cNvPr id="9" name="Text 7"/>
          <p:cNvSpPr txBox="1"/>
          <p:nvPr/>
        </p:nvSpPr>
        <p:spPr>
          <a:xfrm>
            <a:off x="548640" y="2423160"/>
            <a:ext cx="1645920" cy="548640"/>
          </a:xfrm>
          <a:prstGeom prst="rect">
            <a:avLst/>
          </a:prstGeom>
          <a:noFill/>
          <a:ln/>
        </p:spPr>
        <p:txBody>
          <a:bodyPr wrap="square" lIns="0" tIns="0" rIns="0" bIns="0" rtlCol="0" anchor="ctr"/>
          <a:lstStyle/>
          <a:p>
            <a:pPr marL="0" indent="0">
              <a:buNone/>
            </a:pPr>
            <a:r>
              <a:rPr lang="en-US" sz="1150" b="1" dirty="0">
                <a:solidFill>
                  <a:srgbClr val="B8474A"/>
                </a:solidFill>
                <a:latin typeface="Calibri" pitchFamily="34" charset="0"/>
                <a:ea typeface="Calibri" pitchFamily="34" charset="-122"/>
                <a:cs typeface="Calibri" pitchFamily="34" charset="-120"/>
              </a:rPr>
              <a:t>Rechazada</a:t>
            </a:r>
            <a:endParaRPr lang="en-US" sz="1150" dirty="0"/>
          </a:p>
          <a:p>
            <a:pPr marL="0" indent="0">
              <a:buNone/>
            </a:pPr>
            <a:r>
              <a:rPr lang="en-US" sz="1050" dirty="0">
                <a:solidFill>
                  <a:srgbClr val="1E2A3A"/>
                </a:solidFill>
                <a:latin typeface="Calibri" pitchFamily="34" charset="0"/>
                <a:ea typeface="Calibri" pitchFamily="34" charset="-122"/>
                <a:cs typeface="Calibri" pitchFamily="34" charset="-120"/>
              </a:rPr>
              <a:t>el tutor no acepta u otra solicitud gana</a:t>
            </a:r>
            <a:endParaRPr lang="en-US" sz="1150" dirty="0"/>
          </a:p>
        </p:txBody>
      </p:sp>
      <p:sp>
        <p:nvSpPr>
          <p:cNvPr id="10" name="Shape 8"/>
          <p:cNvSpPr/>
          <p:nvPr/>
        </p:nvSpPr>
        <p:spPr>
          <a:xfrm>
            <a:off x="457200" y="3072384"/>
            <a:ext cx="1828800" cy="603504"/>
          </a:xfrm>
          <a:prstGeom prst="roundRect">
            <a:avLst>
              <a:gd name="adj" fmla="val 12121"/>
            </a:avLst>
          </a:prstGeom>
          <a:solidFill>
            <a:srgbClr val="F8E7E7"/>
          </a:solidFill>
          <a:ln w="12700">
            <a:solidFill>
              <a:srgbClr val="E3B3B4"/>
            </a:solidFill>
            <a:prstDash val="solid"/>
          </a:ln>
        </p:spPr>
        <p:txBody>
          <a:bodyPr/>
          <a:lstStyle/>
          <a:p>
            <a:endParaRPr lang="es-CL"/>
          </a:p>
        </p:txBody>
      </p:sp>
      <p:sp>
        <p:nvSpPr>
          <p:cNvPr id="11" name="Text 9"/>
          <p:cNvSpPr txBox="1"/>
          <p:nvPr/>
        </p:nvSpPr>
        <p:spPr>
          <a:xfrm>
            <a:off x="548640" y="3099816"/>
            <a:ext cx="1645920" cy="548640"/>
          </a:xfrm>
          <a:prstGeom prst="rect">
            <a:avLst/>
          </a:prstGeom>
          <a:noFill/>
          <a:ln/>
        </p:spPr>
        <p:txBody>
          <a:bodyPr wrap="square" lIns="0" tIns="0" rIns="0" bIns="0" rtlCol="0" anchor="ctr"/>
          <a:lstStyle/>
          <a:p>
            <a:pPr marL="0" indent="0">
              <a:buNone/>
            </a:pPr>
            <a:r>
              <a:rPr lang="en-US" sz="1150" b="1" dirty="0">
                <a:solidFill>
                  <a:srgbClr val="B8474A"/>
                </a:solidFill>
                <a:latin typeface="Calibri" pitchFamily="34" charset="0"/>
                <a:ea typeface="Calibri" pitchFamily="34" charset="-122"/>
                <a:cs typeface="Calibri" pitchFamily="34" charset="-120"/>
              </a:rPr>
              <a:t>Expirada</a:t>
            </a:r>
            <a:endParaRPr lang="en-US" sz="1150" dirty="0"/>
          </a:p>
          <a:p>
            <a:pPr marL="0" indent="0">
              <a:buNone/>
            </a:pPr>
            <a:r>
              <a:rPr lang="en-US" sz="1050" dirty="0">
                <a:solidFill>
                  <a:srgbClr val="1E2A3A"/>
                </a:solidFill>
                <a:latin typeface="Calibri" pitchFamily="34" charset="0"/>
                <a:ea typeface="Calibri" pitchFamily="34" charset="-122"/>
                <a:cs typeface="Calibri" pitchFamily="34" charset="-120"/>
              </a:rPr>
              <a:t>nadie respondió antes de la hora</a:t>
            </a:r>
            <a:endParaRPr lang="en-US" sz="1150" dirty="0"/>
          </a:p>
        </p:txBody>
      </p:sp>
      <p:sp>
        <p:nvSpPr>
          <p:cNvPr id="12" name="Shape 10"/>
          <p:cNvSpPr/>
          <p:nvPr/>
        </p:nvSpPr>
        <p:spPr>
          <a:xfrm>
            <a:off x="457200" y="3749040"/>
            <a:ext cx="1828800" cy="603504"/>
          </a:xfrm>
          <a:prstGeom prst="roundRect">
            <a:avLst>
              <a:gd name="adj" fmla="val 12121"/>
            </a:avLst>
          </a:prstGeom>
          <a:solidFill>
            <a:srgbClr val="F8E7E7"/>
          </a:solidFill>
          <a:ln w="12700">
            <a:solidFill>
              <a:srgbClr val="E3B3B4"/>
            </a:solidFill>
            <a:prstDash val="solid"/>
          </a:ln>
        </p:spPr>
        <p:txBody>
          <a:bodyPr/>
          <a:lstStyle/>
          <a:p>
            <a:endParaRPr lang="es-CL"/>
          </a:p>
        </p:txBody>
      </p:sp>
      <p:sp>
        <p:nvSpPr>
          <p:cNvPr id="13" name="Text 11"/>
          <p:cNvSpPr txBox="1"/>
          <p:nvPr/>
        </p:nvSpPr>
        <p:spPr>
          <a:xfrm>
            <a:off x="548640" y="3776472"/>
            <a:ext cx="1645920" cy="548640"/>
          </a:xfrm>
          <a:prstGeom prst="rect">
            <a:avLst/>
          </a:prstGeom>
          <a:noFill/>
          <a:ln/>
        </p:spPr>
        <p:txBody>
          <a:bodyPr wrap="square" lIns="0" tIns="0" rIns="0" bIns="0" rtlCol="0" anchor="ctr"/>
          <a:lstStyle/>
          <a:p>
            <a:pPr marL="0" indent="0">
              <a:buNone/>
            </a:pPr>
            <a:r>
              <a:rPr lang="en-US" sz="1150" b="1" dirty="0">
                <a:solidFill>
                  <a:srgbClr val="B8474A"/>
                </a:solidFill>
                <a:latin typeface="Calibri" pitchFamily="34" charset="0"/>
                <a:ea typeface="Calibri" pitchFamily="34" charset="-122"/>
                <a:cs typeface="Calibri" pitchFamily="34" charset="-120"/>
              </a:rPr>
              <a:t>Cancelada</a:t>
            </a:r>
            <a:endParaRPr lang="en-US" sz="1150" dirty="0"/>
          </a:p>
          <a:p>
            <a:pPr marL="0" indent="0">
              <a:buNone/>
            </a:pPr>
            <a:r>
              <a:rPr lang="en-US" sz="1050" dirty="0">
                <a:solidFill>
                  <a:srgbClr val="1E2A3A"/>
                </a:solidFill>
                <a:latin typeface="Calibri" pitchFamily="34" charset="0"/>
                <a:ea typeface="Calibri" pitchFamily="34" charset="-122"/>
                <a:cs typeface="Calibri" pitchFamily="34" charset="-120"/>
              </a:rPr>
              <a:t>el estudiante la retira</a:t>
            </a:r>
            <a:endParaRPr lang="en-US" sz="1150" dirty="0"/>
          </a:p>
        </p:txBody>
      </p:sp>
      <p:sp>
        <p:nvSpPr>
          <p:cNvPr id="14" name="Shape 12"/>
          <p:cNvSpPr/>
          <p:nvPr/>
        </p:nvSpPr>
        <p:spPr>
          <a:xfrm>
            <a:off x="2590800" y="1261872"/>
            <a:ext cx="1828800" cy="868680"/>
          </a:xfrm>
          <a:prstGeom prst="roundRect">
            <a:avLst>
              <a:gd name="adj" fmla="val 8421"/>
            </a:avLst>
          </a:prstGeom>
          <a:solidFill>
            <a:srgbClr val="EDF1F7"/>
          </a:solidFill>
          <a:ln w="12700">
            <a:solidFill>
              <a:srgbClr val="1D4E89"/>
            </a:solidFill>
            <a:prstDash val="solid"/>
          </a:ln>
        </p:spPr>
        <p:txBody>
          <a:bodyPr/>
          <a:lstStyle/>
          <a:p>
            <a:endParaRPr lang="es-CL"/>
          </a:p>
        </p:txBody>
      </p:sp>
      <p:sp>
        <p:nvSpPr>
          <p:cNvPr id="15" name="Text 13"/>
          <p:cNvSpPr txBox="1"/>
          <p:nvPr/>
        </p:nvSpPr>
        <p:spPr>
          <a:xfrm>
            <a:off x="2682240" y="1280160"/>
            <a:ext cx="1645920" cy="832104"/>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CONFIRMADA</a:t>
            </a:r>
            <a:endParaRPr lang="en-US" sz="1400" dirty="0"/>
          </a:p>
          <a:p>
            <a:pPr marL="0" indent="0" algn="ctr">
              <a:buNone/>
            </a:pPr>
            <a:r>
              <a:rPr lang="en-US" sz="1100" dirty="0">
                <a:solidFill>
                  <a:srgbClr val="5A6478"/>
                </a:solidFill>
                <a:latin typeface="Calibri" pitchFamily="34" charset="0"/>
                <a:ea typeface="Calibri" pitchFamily="34" charset="-122"/>
                <a:cs typeface="Calibri" pitchFamily="34" charset="-120"/>
              </a:rPr>
              <a:t>el tutor acepta y el bloque queda ocupado</a:t>
            </a:r>
            <a:endParaRPr lang="en-US" sz="1400" dirty="0"/>
          </a:p>
        </p:txBody>
      </p:sp>
      <p:sp>
        <p:nvSpPr>
          <p:cNvPr id="16" name="Shape 14"/>
          <p:cNvSpPr/>
          <p:nvPr/>
        </p:nvSpPr>
        <p:spPr>
          <a:xfrm>
            <a:off x="4465320" y="1696212"/>
            <a:ext cx="213360" cy="0"/>
          </a:xfrm>
          <a:prstGeom prst="line">
            <a:avLst/>
          </a:prstGeom>
          <a:noFill/>
          <a:ln w="25400">
            <a:solidFill>
              <a:srgbClr val="1D4E89"/>
            </a:solidFill>
            <a:prstDash val="solid"/>
            <a:tailEnd type="triangle"/>
          </a:ln>
        </p:spPr>
        <p:txBody>
          <a:bodyPr/>
          <a:lstStyle/>
          <a:p>
            <a:endParaRPr lang="es-CL"/>
          </a:p>
        </p:txBody>
      </p:sp>
      <p:sp>
        <p:nvSpPr>
          <p:cNvPr id="17" name="Shape 15"/>
          <p:cNvSpPr/>
          <p:nvPr/>
        </p:nvSpPr>
        <p:spPr>
          <a:xfrm>
            <a:off x="3505200" y="2130552"/>
            <a:ext cx="0" cy="256032"/>
          </a:xfrm>
          <a:prstGeom prst="line">
            <a:avLst/>
          </a:prstGeom>
          <a:noFill/>
          <a:ln w="15875">
            <a:solidFill>
              <a:srgbClr val="8A93A6"/>
            </a:solidFill>
            <a:prstDash val="dash"/>
          </a:ln>
        </p:spPr>
        <p:txBody>
          <a:bodyPr/>
          <a:lstStyle/>
          <a:p>
            <a:endParaRPr lang="es-CL"/>
          </a:p>
        </p:txBody>
      </p:sp>
      <p:sp>
        <p:nvSpPr>
          <p:cNvPr id="18" name="Shape 16"/>
          <p:cNvSpPr/>
          <p:nvPr/>
        </p:nvSpPr>
        <p:spPr>
          <a:xfrm>
            <a:off x="2590800" y="2395728"/>
            <a:ext cx="1828800" cy="603504"/>
          </a:xfrm>
          <a:prstGeom prst="roundRect">
            <a:avLst>
              <a:gd name="adj" fmla="val 12121"/>
            </a:avLst>
          </a:prstGeom>
          <a:solidFill>
            <a:srgbClr val="F8E7E7"/>
          </a:solidFill>
          <a:ln w="12700">
            <a:solidFill>
              <a:srgbClr val="E3B3B4"/>
            </a:solidFill>
            <a:prstDash val="solid"/>
          </a:ln>
        </p:spPr>
        <p:txBody>
          <a:bodyPr/>
          <a:lstStyle/>
          <a:p>
            <a:endParaRPr lang="es-CL"/>
          </a:p>
        </p:txBody>
      </p:sp>
      <p:sp>
        <p:nvSpPr>
          <p:cNvPr id="19" name="Text 17"/>
          <p:cNvSpPr txBox="1"/>
          <p:nvPr/>
        </p:nvSpPr>
        <p:spPr>
          <a:xfrm>
            <a:off x="2682240" y="2423160"/>
            <a:ext cx="1645920" cy="548640"/>
          </a:xfrm>
          <a:prstGeom prst="rect">
            <a:avLst/>
          </a:prstGeom>
          <a:noFill/>
          <a:ln/>
        </p:spPr>
        <p:txBody>
          <a:bodyPr wrap="square" lIns="0" tIns="0" rIns="0" bIns="0" rtlCol="0" anchor="ctr"/>
          <a:lstStyle/>
          <a:p>
            <a:pPr marL="0" indent="0">
              <a:buNone/>
            </a:pPr>
            <a:r>
              <a:rPr lang="en-US" sz="1150" b="1" dirty="0">
                <a:solidFill>
                  <a:srgbClr val="B8474A"/>
                </a:solidFill>
                <a:latin typeface="Calibri" pitchFamily="34" charset="0"/>
                <a:ea typeface="Calibri" pitchFamily="34" charset="-122"/>
                <a:cs typeface="Calibri" pitchFamily="34" charset="-120"/>
              </a:rPr>
              <a:t>Cancelada</a:t>
            </a:r>
            <a:endParaRPr lang="en-US" sz="1150" dirty="0"/>
          </a:p>
          <a:p>
            <a:pPr marL="0" indent="0">
              <a:buNone/>
            </a:pPr>
            <a:r>
              <a:rPr lang="en-US" sz="1050" dirty="0">
                <a:solidFill>
                  <a:srgbClr val="1E2A3A"/>
                </a:solidFill>
                <a:latin typeface="Calibri" pitchFamily="34" charset="0"/>
                <a:ea typeface="Calibri" pitchFamily="34" charset="-122"/>
                <a:cs typeface="Calibri" pitchFamily="34" charset="-120"/>
              </a:rPr>
              <a:t>cualquiera de las partes, antes del inicio; el bloque se libera</a:t>
            </a:r>
            <a:endParaRPr lang="en-US" sz="1150" dirty="0"/>
          </a:p>
        </p:txBody>
      </p:sp>
      <p:sp>
        <p:nvSpPr>
          <p:cNvPr id="20" name="Shape 18"/>
          <p:cNvSpPr/>
          <p:nvPr/>
        </p:nvSpPr>
        <p:spPr>
          <a:xfrm>
            <a:off x="4724400" y="1261872"/>
            <a:ext cx="1828800" cy="868680"/>
          </a:xfrm>
          <a:prstGeom prst="roundRect">
            <a:avLst>
              <a:gd name="adj" fmla="val 8421"/>
            </a:avLst>
          </a:prstGeom>
          <a:solidFill>
            <a:srgbClr val="EDF1F7"/>
          </a:solidFill>
          <a:ln w="12700">
            <a:solidFill>
              <a:srgbClr val="1D4E89"/>
            </a:solidFill>
            <a:prstDash val="solid"/>
          </a:ln>
        </p:spPr>
        <p:txBody>
          <a:bodyPr/>
          <a:lstStyle/>
          <a:p>
            <a:endParaRPr lang="es-CL"/>
          </a:p>
        </p:txBody>
      </p:sp>
      <p:sp>
        <p:nvSpPr>
          <p:cNvPr id="21" name="Text 19"/>
          <p:cNvSpPr txBox="1"/>
          <p:nvPr/>
        </p:nvSpPr>
        <p:spPr>
          <a:xfrm>
            <a:off x="4815840" y="1280160"/>
            <a:ext cx="1645920" cy="832104"/>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REALIZADA</a:t>
            </a:r>
            <a:endParaRPr lang="en-US" sz="1400" dirty="0"/>
          </a:p>
          <a:p>
            <a:pPr marL="0" indent="0" algn="ctr">
              <a:buNone/>
            </a:pPr>
            <a:r>
              <a:rPr lang="en-US" sz="1100" dirty="0">
                <a:solidFill>
                  <a:srgbClr val="5A6478"/>
                </a:solidFill>
                <a:latin typeface="Calibri" pitchFamily="34" charset="0"/>
                <a:ea typeface="Calibri" pitchFamily="34" charset="-122"/>
                <a:cs typeface="Calibri" pitchFamily="34" charset="-120"/>
              </a:rPr>
              <a:t>pasó la hora de término de la sesión</a:t>
            </a:r>
            <a:endParaRPr lang="en-US" sz="1400" dirty="0"/>
          </a:p>
        </p:txBody>
      </p:sp>
      <p:sp>
        <p:nvSpPr>
          <p:cNvPr id="22" name="Shape 20"/>
          <p:cNvSpPr/>
          <p:nvPr/>
        </p:nvSpPr>
        <p:spPr>
          <a:xfrm>
            <a:off x="6598920" y="1696212"/>
            <a:ext cx="213360" cy="0"/>
          </a:xfrm>
          <a:prstGeom prst="line">
            <a:avLst/>
          </a:prstGeom>
          <a:noFill/>
          <a:ln w="25400">
            <a:solidFill>
              <a:srgbClr val="1D4E89"/>
            </a:solidFill>
            <a:prstDash val="solid"/>
            <a:tailEnd type="triangle"/>
          </a:ln>
        </p:spPr>
        <p:txBody>
          <a:bodyPr/>
          <a:lstStyle/>
          <a:p>
            <a:endParaRPr lang="es-CL"/>
          </a:p>
        </p:txBody>
      </p:sp>
      <p:sp>
        <p:nvSpPr>
          <p:cNvPr id="23" name="Shape 21"/>
          <p:cNvSpPr/>
          <p:nvPr/>
        </p:nvSpPr>
        <p:spPr>
          <a:xfrm>
            <a:off x="5638800" y="2130552"/>
            <a:ext cx="0" cy="256032"/>
          </a:xfrm>
          <a:prstGeom prst="line">
            <a:avLst/>
          </a:prstGeom>
          <a:noFill/>
          <a:ln w="15875">
            <a:solidFill>
              <a:srgbClr val="8A93A6"/>
            </a:solidFill>
            <a:prstDash val="dash"/>
          </a:ln>
        </p:spPr>
        <p:txBody>
          <a:bodyPr/>
          <a:lstStyle/>
          <a:p>
            <a:endParaRPr lang="es-CL"/>
          </a:p>
        </p:txBody>
      </p:sp>
      <p:sp>
        <p:nvSpPr>
          <p:cNvPr id="24" name="Shape 22"/>
          <p:cNvSpPr/>
          <p:nvPr/>
        </p:nvSpPr>
        <p:spPr>
          <a:xfrm>
            <a:off x="4724400" y="2395728"/>
            <a:ext cx="1828800" cy="603504"/>
          </a:xfrm>
          <a:prstGeom prst="roundRect">
            <a:avLst>
              <a:gd name="adj" fmla="val 12121"/>
            </a:avLst>
          </a:prstGeom>
          <a:solidFill>
            <a:srgbClr val="F2F4F7"/>
          </a:solidFill>
          <a:ln w="12700">
            <a:solidFill>
              <a:srgbClr val="C9D3E3"/>
            </a:solidFill>
            <a:prstDash val="solid"/>
          </a:ln>
        </p:spPr>
        <p:txBody>
          <a:bodyPr/>
          <a:lstStyle/>
          <a:p>
            <a:endParaRPr lang="es-CL"/>
          </a:p>
        </p:txBody>
      </p:sp>
      <p:sp>
        <p:nvSpPr>
          <p:cNvPr id="25" name="Text 23"/>
          <p:cNvSpPr txBox="1"/>
          <p:nvPr/>
        </p:nvSpPr>
        <p:spPr>
          <a:xfrm>
            <a:off x="4815840" y="2423160"/>
            <a:ext cx="1645920" cy="548640"/>
          </a:xfrm>
          <a:prstGeom prst="rect">
            <a:avLst/>
          </a:prstGeom>
          <a:noFill/>
          <a:ln/>
        </p:spPr>
        <p:txBody>
          <a:bodyPr wrap="square" lIns="0" tIns="0" rIns="0" bIns="0" rtlCol="0" anchor="ctr"/>
          <a:lstStyle/>
          <a:p>
            <a:pPr marL="0" indent="0">
              <a:buNone/>
            </a:pPr>
            <a:r>
              <a:rPr lang="en-US" sz="1150" b="1" dirty="0">
                <a:solidFill>
                  <a:srgbClr val="0A2240"/>
                </a:solidFill>
                <a:latin typeface="Calibri" pitchFamily="34" charset="0"/>
                <a:ea typeface="Calibri" pitchFamily="34" charset="-122"/>
                <a:cs typeface="Calibri" pitchFamily="34" charset="-120"/>
              </a:rPr>
              <a:t>Automático</a:t>
            </a:r>
            <a:endParaRPr lang="en-US" sz="1150" dirty="0"/>
          </a:p>
          <a:p>
            <a:pPr marL="0" indent="0">
              <a:buNone/>
            </a:pPr>
            <a:r>
              <a:rPr lang="en-US" sz="1050" dirty="0">
                <a:solidFill>
                  <a:srgbClr val="1E2A3A"/>
                </a:solidFill>
                <a:latin typeface="Calibri" pitchFamily="34" charset="0"/>
                <a:ea typeface="Calibri" pitchFamily="34" charset="-122"/>
                <a:cs typeface="Calibri" pitchFamily="34" charset="-120"/>
              </a:rPr>
              <a:t>el programador de tareas la cierra</a:t>
            </a:r>
            <a:endParaRPr lang="en-US" sz="1150" dirty="0"/>
          </a:p>
        </p:txBody>
      </p:sp>
      <p:sp>
        <p:nvSpPr>
          <p:cNvPr id="26" name="Shape 24"/>
          <p:cNvSpPr/>
          <p:nvPr/>
        </p:nvSpPr>
        <p:spPr>
          <a:xfrm>
            <a:off x="6858000" y="1261872"/>
            <a:ext cx="1828800" cy="868680"/>
          </a:xfrm>
          <a:prstGeom prst="roundRect">
            <a:avLst>
              <a:gd name="adj" fmla="val 8421"/>
            </a:avLst>
          </a:prstGeom>
          <a:solidFill>
            <a:srgbClr val="0A2240"/>
          </a:solidFill>
          <a:ln w="12700">
            <a:solidFill>
              <a:srgbClr val="0A2240"/>
            </a:solidFill>
            <a:prstDash val="solid"/>
          </a:ln>
        </p:spPr>
        <p:txBody>
          <a:bodyPr/>
          <a:lstStyle/>
          <a:p>
            <a:endParaRPr lang="es-CL"/>
          </a:p>
        </p:txBody>
      </p:sp>
      <p:sp>
        <p:nvSpPr>
          <p:cNvPr id="27" name="Text 25"/>
          <p:cNvSpPr txBox="1"/>
          <p:nvPr/>
        </p:nvSpPr>
        <p:spPr>
          <a:xfrm>
            <a:off x="6949440" y="1280160"/>
            <a:ext cx="1645920" cy="832104"/>
          </a:xfrm>
          <a:prstGeom prst="rect">
            <a:avLst/>
          </a:prstGeom>
          <a:noFill/>
          <a:ln/>
        </p:spPr>
        <p:txBody>
          <a:bodyPr wrap="square" lIns="0" tIns="0" rIns="0" bIns="0" rtlCol="0" anchor="ctr"/>
          <a:lstStyle/>
          <a:p>
            <a:pPr marL="0" indent="0" algn="ctr">
              <a:buNone/>
            </a:pPr>
            <a:r>
              <a:rPr lang="en-US" sz="1400" b="1" dirty="0">
                <a:solidFill>
                  <a:srgbClr val="F9B934"/>
                </a:solidFill>
                <a:latin typeface="Calibri" pitchFamily="34" charset="0"/>
                <a:ea typeface="Calibri" pitchFamily="34" charset="-122"/>
                <a:cs typeface="Calibri" pitchFamily="34" charset="-120"/>
              </a:rPr>
              <a:t>EVALUADA</a:t>
            </a:r>
            <a:endParaRPr lang="en-US" sz="1400" dirty="0"/>
          </a:p>
          <a:p>
            <a:pPr marL="0" indent="0" algn="ctr">
              <a:buNone/>
            </a:pPr>
            <a:r>
              <a:rPr lang="en-US" sz="1100" dirty="0">
                <a:solidFill>
                  <a:srgbClr val="FFFFFF"/>
                </a:solidFill>
                <a:latin typeface="Calibri" pitchFamily="34" charset="0"/>
                <a:ea typeface="Calibri" pitchFamily="34" charset="-122"/>
                <a:cs typeface="Calibri" pitchFamily="34" charset="-120"/>
              </a:rPr>
              <a:t>el estudiante calificó al tutor</a:t>
            </a:r>
            <a:endParaRPr lang="en-US" sz="1400" dirty="0"/>
          </a:p>
        </p:txBody>
      </p:sp>
      <p:sp>
        <p:nvSpPr>
          <p:cNvPr id="28" name="Shape 26"/>
          <p:cNvSpPr/>
          <p:nvPr/>
        </p:nvSpPr>
        <p:spPr>
          <a:xfrm>
            <a:off x="7772400" y="2130552"/>
            <a:ext cx="0" cy="256032"/>
          </a:xfrm>
          <a:prstGeom prst="line">
            <a:avLst/>
          </a:prstGeom>
          <a:noFill/>
          <a:ln w="15875">
            <a:solidFill>
              <a:srgbClr val="8A93A6"/>
            </a:solidFill>
            <a:prstDash val="dash"/>
          </a:ln>
        </p:spPr>
        <p:txBody>
          <a:bodyPr/>
          <a:lstStyle/>
          <a:p>
            <a:endParaRPr lang="es-CL"/>
          </a:p>
        </p:txBody>
      </p:sp>
      <p:sp>
        <p:nvSpPr>
          <p:cNvPr id="29" name="Shape 27"/>
          <p:cNvSpPr/>
          <p:nvPr/>
        </p:nvSpPr>
        <p:spPr>
          <a:xfrm>
            <a:off x="6858000" y="2395728"/>
            <a:ext cx="1828800" cy="603504"/>
          </a:xfrm>
          <a:prstGeom prst="roundRect">
            <a:avLst>
              <a:gd name="adj" fmla="val 12121"/>
            </a:avLst>
          </a:prstGeom>
          <a:solidFill>
            <a:srgbClr val="F2F4F7"/>
          </a:solidFill>
          <a:ln w="12700">
            <a:solidFill>
              <a:srgbClr val="C9D3E3"/>
            </a:solidFill>
            <a:prstDash val="solid"/>
          </a:ln>
        </p:spPr>
        <p:txBody>
          <a:bodyPr/>
          <a:lstStyle/>
          <a:p>
            <a:endParaRPr lang="es-CL"/>
          </a:p>
        </p:txBody>
      </p:sp>
      <p:sp>
        <p:nvSpPr>
          <p:cNvPr id="30" name="Text 28"/>
          <p:cNvSpPr txBox="1"/>
          <p:nvPr/>
        </p:nvSpPr>
        <p:spPr>
          <a:xfrm>
            <a:off x="6949440" y="2423160"/>
            <a:ext cx="1645920" cy="548640"/>
          </a:xfrm>
          <a:prstGeom prst="rect">
            <a:avLst/>
          </a:prstGeom>
          <a:noFill/>
          <a:ln/>
        </p:spPr>
        <p:txBody>
          <a:bodyPr wrap="square" lIns="0" tIns="0" rIns="0" bIns="0" rtlCol="0" anchor="ctr"/>
          <a:lstStyle/>
          <a:p>
            <a:pPr marL="0" indent="0">
              <a:buNone/>
            </a:pPr>
            <a:r>
              <a:rPr lang="en-US" sz="1150" b="1" dirty="0">
                <a:solidFill>
                  <a:srgbClr val="0A2240"/>
                </a:solidFill>
                <a:latin typeface="Calibri" pitchFamily="34" charset="0"/>
                <a:ea typeface="Calibri" pitchFamily="34" charset="-122"/>
                <a:cs typeface="Calibri" pitchFamily="34" charset="-120"/>
              </a:rPr>
              <a:t>Reputación</a:t>
            </a:r>
            <a:endParaRPr lang="en-US" sz="1150" dirty="0"/>
          </a:p>
          <a:p>
            <a:pPr marL="0" indent="0">
              <a:buNone/>
            </a:pPr>
            <a:r>
              <a:rPr lang="en-US" sz="1050" dirty="0">
                <a:solidFill>
                  <a:srgbClr val="1E2A3A"/>
                </a:solidFill>
                <a:latin typeface="Calibri" pitchFamily="34" charset="0"/>
                <a:ea typeface="Calibri" pitchFamily="34" charset="-122"/>
                <a:cs typeface="Calibri" pitchFamily="34" charset="-120"/>
              </a:rPr>
              <a:t>la nota se suma al promedio del tutor</a:t>
            </a:r>
            <a:endParaRPr lang="en-US" sz="1150" dirty="0"/>
          </a:p>
        </p:txBody>
      </p:sp>
      <p:sp>
        <p:nvSpPr>
          <p:cNvPr id="31" name="Shape 29"/>
          <p:cNvSpPr/>
          <p:nvPr/>
        </p:nvSpPr>
        <p:spPr>
          <a:xfrm>
            <a:off x="4480560" y="3913632"/>
            <a:ext cx="4206240" cy="749808"/>
          </a:xfrm>
          <a:prstGeom prst="roundRect">
            <a:avLst>
              <a:gd name="adj" fmla="val 9756"/>
            </a:avLst>
          </a:prstGeom>
          <a:solidFill>
            <a:srgbClr val="FFFFFF"/>
          </a:solidFill>
          <a:ln w="12700">
            <a:solidFill>
              <a:srgbClr val="C9D3E3"/>
            </a:solidFill>
            <a:prstDash val="solid"/>
          </a:ln>
        </p:spPr>
        <p:txBody>
          <a:bodyPr/>
          <a:lstStyle/>
          <a:p>
            <a:endParaRPr lang="es-CL"/>
          </a:p>
        </p:txBody>
      </p:sp>
      <p:sp>
        <p:nvSpPr>
          <p:cNvPr id="32" name="Shape 30"/>
          <p:cNvSpPr/>
          <p:nvPr/>
        </p:nvSpPr>
        <p:spPr>
          <a:xfrm>
            <a:off x="4617720" y="4059936"/>
            <a:ext cx="457200" cy="457200"/>
          </a:xfrm>
          <a:prstGeom prst="ellipse">
            <a:avLst/>
          </a:prstGeom>
          <a:solidFill>
            <a:srgbClr val="F9B934"/>
          </a:solidFill>
          <a:ln w="12700">
            <a:solidFill>
              <a:srgbClr val="F9B934"/>
            </a:solidFill>
            <a:prstDash val="solid"/>
          </a:ln>
        </p:spPr>
        <p:txBody>
          <a:bodyPr/>
          <a:lstStyle/>
          <a:p>
            <a:endParaRPr lang="es-CL"/>
          </a:p>
        </p:txBody>
      </p:sp>
      <p:pic>
        <p:nvPicPr>
          <p:cNvPr id="33" name="Image 0" descr="preencoded.png"/>
          <p:cNvPicPr>
            <a:picLocks noChangeAspect="1"/>
          </p:cNvPicPr>
          <p:nvPr/>
        </p:nvPicPr>
        <p:blipFill>
          <a:blip r:embed="rId3"/>
          <a:stretch>
            <a:fillRect/>
          </a:stretch>
        </p:blipFill>
        <p:spPr>
          <a:xfrm>
            <a:off x="4727448" y="4169664"/>
            <a:ext cx="237744" cy="237744"/>
          </a:xfrm>
          <a:prstGeom prst="rect">
            <a:avLst/>
          </a:prstGeom>
        </p:spPr>
      </p:pic>
      <p:sp>
        <p:nvSpPr>
          <p:cNvPr id="34" name="Text 31"/>
          <p:cNvSpPr txBox="1"/>
          <p:nvPr/>
        </p:nvSpPr>
        <p:spPr>
          <a:xfrm>
            <a:off x="5212080" y="3950208"/>
            <a:ext cx="3383280" cy="676656"/>
          </a:xfrm>
          <a:prstGeom prst="rect">
            <a:avLst/>
          </a:prstGeom>
          <a:noFill/>
          <a:ln/>
        </p:spPr>
        <p:txBody>
          <a:bodyPr wrap="square" lIns="0" tIns="0" rIns="0" bIns="0" rtlCol="0" anchor="ctr"/>
          <a:lstStyle/>
          <a:p>
            <a:pPr marL="0" indent="0">
              <a:buNone/>
            </a:pPr>
            <a:r>
              <a:rPr lang="en-US" sz="1150" b="1" dirty="0">
                <a:solidFill>
                  <a:srgbClr val="0A2240"/>
                </a:solidFill>
                <a:latin typeface="Calibri" pitchFamily="34" charset="0"/>
                <a:ea typeface="Calibri" pitchFamily="34" charset="-122"/>
                <a:cs typeface="Calibri" pitchFamily="34" charset="-120"/>
              </a:rPr>
              <a:t>El pago va aparte. </a:t>
            </a:r>
            <a:r>
              <a:rPr lang="en-US" sz="1150" dirty="0">
                <a:solidFill>
                  <a:srgbClr val="1E2A3A"/>
                </a:solidFill>
                <a:latin typeface="Calibri" pitchFamily="34" charset="0"/>
                <a:ea typeface="Calibri" pitchFamily="34" charset="-122"/>
                <a:cs typeface="Calibri" pitchFamily="34" charset="-120"/>
              </a:rPr>
              <a:t>Es un atributo de la reserva: si hubiera que quitar el pago simulado, este ciclo no cambia.</a:t>
            </a:r>
            <a:endParaRPr lang="en-US" sz="1150" dirty="0"/>
          </a:p>
        </p:txBody>
      </p:sp>
      <p:sp>
        <p:nvSpPr>
          <p:cNvPr id="3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METODOLOGÍA</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Scrum adaptado a un equipo de tres</a:t>
            </a:r>
            <a:endParaRPr lang="en-US" sz="2800" dirty="0"/>
          </a:p>
        </p:txBody>
      </p:sp>
      <p:sp>
        <p:nvSpPr>
          <p:cNvPr id="4" name="Shape 2"/>
          <p:cNvSpPr/>
          <p:nvPr/>
        </p:nvSpPr>
        <p:spPr>
          <a:xfrm>
            <a:off x="457200" y="1261872"/>
            <a:ext cx="2606040" cy="1920240"/>
          </a:xfrm>
          <a:prstGeom prst="roundRect">
            <a:avLst>
              <a:gd name="adj" fmla="val 3810"/>
            </a:avLst>
          </a:prstGeom>
          <a:solidFill>
            <a:srgbClr val="EDF1F7"/>
          </a:solidFill>
          <a:ln w="12700">
            <a:solidFill>
              <a:srgbClr val="EDF1F7"/>
            </a:solidFill>
            <a:prstDash val="solid"/>
          </a:ln>
        </p:spPr>
        <p:txBody>
          <a:bodyPr/>
          <a:lstStyle/>
          <a:p>
            <a:endParaRPr lang="es-CL"/>
          </a:p>
        </p:txBody>
      </p:sp>
      <p:sp>
        <p:nvSpPr>
          <p:cNvPr id="5" name="Shape 3"/>
          <p:cNvSpPr/>
          <p:nvPr/>
        </p:nvSpPr>
        <p:spPr>
          <a:xfrm>
            <a:off x="621792" y="1426464"/>
            <a:ext cx="457200" cy="457200"/>
          </a:xfrm>
          <a:prstGeom prst="ellipse">
            <a:avLst/>
          </a:prstGeom>
          <a:solidFill>
            <a:srgbClr val="0A2240"/>
          </a:solidFill>
          <a:ln w="12700">
            <a:solidFill>
              <a:srgbClr val="0A2240"/>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731520" y="1536192"/>
            <a:ext cx="237744" cy="237744"/>
          </a:xfrm>
          <a:prstGeom prst="rect">
            <a:avLst/>
          </a:prstGeom>
        </p:spPr>
      </p:pic>
      <p:sp>
        <p:nvSpPr>
          <p:cNvPr id="7" name="Text 4"/>
          <p:cNvSpPr txBox="1"/>
          <p:nvPr/>
        </p:nvSpPr>
        <p:spPr>
          <a:xfrm>
            <a:off x="1188720" y="1426464"/>
            <a:ext cx="1737360" cy="457200"/>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Roles</a:t>
            </a:r>
            <a:endParaRPr lang="en-US" sz="1400" dirty="0"/>
          </a:p>
        </p:txBody>
      </p:sp>
      <p:sp>
        <p:nvSpPr>
          <p:cNvPr id="8" name="Text 5"/>
          <p:cNvSpPr txBox="1"/>
          <p:nvPr/>
        </p:nvSpPr>
        <p:spPr>
          <a:xfrm>
            <a:off x="621792" y="1993392"/>
            <a:ext cx="2304288" cy="1143000"/>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Bryan concentra los roles de Scrum Master y Product Owner. Los tres son Developers, dueños de sus servicios de punta a punta y con un segundo que puede reemplazarlos.</a:t>
            </a:r>
            <a:endParaRPr lang="en-US" sz="1200" dirty="0"/>
          </a:p>
        </p:txBody>
      </p:sp>
      <p:sp>
        <p:nvSpPr>
          <p:cNvPr id="9" name="Shape 6"/>
          <p:cNvSpPr/>
          <p:nvPr/>
        </p:nvSpPr>
        <p:spPr>
          <a:xfrm>
            <a:off x="3268980" y="1261872"/>
            <a:ext cx="2606040" cy="1920240"/>
          </a:xfrm>
          <a:prstGeom prst="roundRect">
            <a:avLst>
              <a:gd name="adj" fmla="val 3810"/>
            </a:avLst>
          </a:prstGeom>
          <a:solidFill>
            <a:srgbClr val="EDF1F7"/>
          </a:solidFill>
          <a:ln w="12700">
            <a:solidFill>
              <a:srgbClr val="EDF1F7"/>
            </a:solidFill>
            <a:prstDash val="solid"/>
          </a:ln>
        </p:spPr>
        <p:txBody>
          <a:bodyPr/>
          <a:lstStyle/>
          <a:p>
            <a:endParaRPr lang="es-CL"/>
          </a:p>
        </p:txBody>
      </p:sp>
      <p:sp>
        <p:nvSpPr>
          <p:cNvPr id="10" name="Shape 7"/>
          <p:cNvSpPr/>
          <p:nvPr/>
        </p:nvSpPr>
        <p:spPr>
          <a:xfrm>
            <a:off x="3433572" y="1426464"/>
            <a:ext cx="457200" cy="457200"/>
          </a:xfrm>
          <a:prstGeom prst="ellipse">
            <a:avLst/>
          </a:prstGeom>
          <a:solidFill>
            <a:srgbClr val="0A2240"/>
          </a:solidFill>
          <a:ln w="12700">
            <a:solidFill>
              <a:srgbClr val="0A2240"/>
            </a:solidFill>
            <a:prstDash val="solid"/>
          </a:ln>
        </p:spPr>
        <p:txBody>
          <a:bodyPr/>
          <a:lstStyle/>
          <a:p>
            <a:endParaRPr lang="es-CL"/>
          </a:p>
        </p:txBody>
      </p:sp>
      <p:pic>
        <p:nvPicPr>
          <p:cNvPr id="11" name="Image 1" descr="preencoded.png"/>
          <p:cNvPicPr>
            <a:picLocks noChangeAspect="1"/>
          </p:cNvPicPr>
          <p:nvPr/>
        </p:nvPicPr>
        <p:blipFill>
          <a:blip r:embed="rId4"/>
          <a:stretch>
            <a:fillRect/>
          </a:stretch>
        </p:blipFill>
        <p:spPr>
          <a:xfrm>
            <a:off x="3543300" y="1536192"/>
            <a:ext cx="237744" cy="237744"/>
          </a:xfrm>
          <a:prstGeom prst="rect">
            <a:avLst/>
          </a:prstGeom>
        </p:spPr>
      </p:pic>
      <p:sp>
        <p:nvSpPr>
          <p:cNvPr id="12" name="Text 8"/>
          <p:cNvSpPr txBox="1"/>
          <p:nvPr/>
        </p:nvSpPr>
        <p:spPr>
          <a:xfrm>
            <a:off x="4000500" y="1426464"/>
            <a:ext cx="1737360" cy="457200"/>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Eventos</a:t>
            </a:r>
            <a:endParaRPr lang="en-US" sz="1400" dirty="0"/>
          </a:p>
        </p:txBody>
      </p:sp>
      <p:sp>
        <p:nvSpPr>
          <p:cNvPr id="13" name="Text 9"/>
          <p:cNvSpPr txBox="1"/>
          <p:nvPr/>
        </p:nvSpPr>
        <p:spPr>
          <a:xfrm>
            <a:off x="3433572" y="1993392"/>
            <a:ext cx="2304288" cy="1143000"/>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Sprints de dos semanas (el último, de una). Planificación, review y retrospectiva al cierre de cada sprint, dos sincronizaciones por semana y un reporte al docente.</a:t>
            </a:r>
            <a:endParaRPr lang="en-US" sz="1200" dirty="0"/>
          </a:p>
        </p:txBody>
      </p:sp>
      <p:sp>
        <p:nvSpPr>
          <p:cNvPr id="14" name="Shape 10"/>
          <p:cNvSpPr/>
          <p:nvPr/>
        </p:nvSpPr>
        <p:spPr>
          <a:xfrm>
            <a:off x="6080760" y="1261872"/>
            <a:ext cx="2606040" cy="1920240"/>
          </a:xfrm>
          <a:prstGeom prst="roundRect">
            <a:avLst>
              <a:gd name="adj" fmla="val 3810"/>
            </a:avLst>
          </a:prstGeom>
          <a:solidFill>
            <a:srgbClr val="EDF1F7"/>
          </a:solidFill>
          <a:ln w="12700">
            <a:solidFill>
              <a:srgbClr val="EDF1F7"/>
            </a:solidFill>
            <a:prstDash val="solid"/>
          </a:ln>
        </p:spPr>
        <p:txBody>
          <a:bodyPr/>
          <a:lstStyle/>
          <a:p>
            <a:endParaRPr lang="es-CL"/>
          </a:p>
        </p:txBody>
      </p:sp>
      <p:sp>
        <p:nvSpPr>
          <p:cNvPr id="15" name="Shape 11"/>
          <p:cNvSpPr/>
          <p:nvPr/>
        </p:nvSpPr>
        <p:spPr>
          <a:xfrm>
            <a:off x="6245352" y="1426464"/>
            <a:ext cx="457200" cy="457200"/>
          </a:xfrm>
          <a:prstGeom prst="ellipse">
            <a:avLst/>
          </a:prstGeom>
          <a:solidFill>
            <a:srgbClr val="0A2240"/>
          </a:solidFill>
          <a:ln w="12700">
            <a:solidFill>
              <a:srgbClr val="0A2240"/>
            </a:solidFill>
            <a:prstDash val="solid"/>
          </a:ln>
        </p:spPr>
        <p:txBody>
          <a:bodyPr/>
          <a:lstStyle/>
          <a:p>
            <a:endParaRPr lang="es-CL"/>
          </a:p>
        </p:txBody>
      </p:sp>
      <p:pic>
        <p:nvPicPr>
          <p:cNvPr id="16" name="Image 2" descr="preencoded.png"/>
          <p:cNvPicPr>
            <a:picLocks noChangeAspect="1"/>
          </p:cNvPicPr>
          <p:nvPr/>
        </p:nvPicPr>
        <p:blipFill>
          <a:blip r:embed="rId5"/>
          <a:stretch>
            <a:fillRect/>
          </a:stretch>
        </p:blipFill>
        <p:spPr>
          <a:xfrm>
            <a:off x="6355080" y="1536192"/>
            <a:ext cx="237744" cy="237744"/>
          </a:xfrm>
          <a:prstGeom prst="rect">
            <a:avLst/>
          </a:prstGeom>
        </p:spPr>
      </p:pic>
      <p:sp>
        <p:nvSpPr>
          <p:cNvPr id="17" name="Text 12"/>
          <p:cNvSpPr txBox="1"/>
          <p:nvPr/>
        </p:nvSpPr>
        <p:spPr>
          <a:xfrm>
            <a:off x="6812280" y="1426464"/>
            <a:ext cx="1737360" cy="457200"/>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Definición de terminado</a:t>
            </a:r>
            <a:endParaRPr lang="en-US" sz="1400" dirty="0"/>
          </a:p>
        </p:txBody>
      </p:sp>
      <p:sp>
        <p:nvSpPr>
          <p:cNvPr id="18" name="Text 13"/>
          <p:cNvSpPr txBox="1"/>
          <p:nvPr/>
        </p:nvSpPr>
        <p:spPr>
          <a:xfrm>
            <a:off x="6245352" y="1993392"/>
            <a:ext cx="2304288" cy="1143000"/>
          </a:xfrm>
          <a:prstGeom prst="rect">
            <a:avLst/>
          </a:prstGeom>
          <a:noFill/>
          <a:ln/>
        </p:spPr>
        <p:txBody>
          <a:bodyPr wrap="square" lIns="0" tIns="0" rIns="0" bIns="0" rtlCol="0" anchor="t"/>
          <a:lstStyle/>
          <a:p>
            <a:pPr marL="0" indent="0">
              <a:buNone/>
            </a:pPr>
            <a:r>
              <a:rPr lang="en-US" sz="1200" dirty="0">
                <a:solidFill>
                  <a:srgbClr val="1E2A3A"/>
                </a:solidFill>
                <a:latin typeface="Calibri" pitchFamily="34" charset="0"/>
                <a:ea typeface="Calibri" pitchFamily="34" charset="-122"/>
                <a:cs typeface="Calibri" pitchFamily="34" charset="-120"/>
              </a:rPr>
              <a:t>Cumple su criterio de aceptación, tiene pruebas automáticas, otro integrante la aprobó y está integrada en develop.</a:t>
            </a:r>
            <a:endParaRPr lang="en-US" sz="1200" dirty="0"/>
          </a:p>
        </p:txBody>
      </p:sp>
      <p:sp>
        <p:nvSpPr>
          <p:cNvPr id="19" name="Text 14"/>
          <p:cNvSpPr txBox="1"/>
          <p:nvPr/>
        </p:nvSpPr>
        <p:spPr>
          <a:xfrm>
            <a:off x="457200" y="3364992"/>
            <a:ext cx="5486400" cy="256032"/>
          </a:xfrm>
          <a:prstGeom prst="rect">
            <a:avLst/>
          </a:prstGeom>
          <a:noFill/>
          <a:ln/>
        </p:spPr>
        <p:txBody>
          <a:bodyPr wrap="square" lIns="0" tIns="0" rIns="0" bIns="0" rtlCol="0" anchor="t"/>
          <a:lstStyle/>
          <a:p>
            <a:pPr marL="0" indent="0">
              <a:buNone/>
            </a:pPr>
            <a:r>
              <a:rPr lang="en-US" sz="1250" b="1" dirty="0">
                <a:solidFill>
                  <a:srgbClr val="0A2240"/>
                </a:solidFill>
                <a:latin typeface="Calibri" pitchFamily="34" charset="0"/>
                <a:ea typeface="Calibri" pitchFamily="34" charset="-122"/>
                <a:cs typeface="Calibri" pitchFamily="34" charset="-120"/>
              </a:rPr>
              <a:t>Cada cambio entra por un Pull Request:</a:t>
            </a:r>
            <a:endParaRPr lang="en-US" sz="1250" dirty="0"/>
          </a:p>
        </p:txBody>
      </p:sp>
      <p:sp>
        <p:nvSpPr>
          <p:cNvPr id="20" name="Shape 15"/>
          <p:cNvSpPr/>
          <p:nvPr/>
        </p:nvSpPr>
        <p:spPr>
          <a:xfrm>
            <a:off x="457200" y="3703320"/>
            <a:ext cx="1737360" cy="502920"/>
          </a:xfrm>
          <a:prstGeom prst="chevron">
            <a:avLst/>
          </a:prstGeom>
          <a:solidFill>
            <a:srgbClr val="0A2240"/>
          </a:solidFill>
          <a:ln w="12700">
            <a:solidFill>
              <a:srgbClr val="FFFFFF"/>
            </a:solidFill>
            <a:prstDash val="solid"/>
          </a:ln>
        </p:spPr>
        <p:txBody>
          <a:bodyPr/>
          <a:lstStyle/>
          <a:p>
            <a:endParaRPr lang="es-CL"/>
          </a:p>
        </p:txBody>
      </p:sp>
      <p:sp>
        <p:nvSpPr>
          <p:cNvPr id="21" name="Text 16"/>
          <p:cNvSpPr txBox="1"/>
          <p:nvPr/>
        </p:nvSpPr>
        <p:spPr>
          <a:xfrm>
            <a:off x="713232" y="3703320"/>
            <a:ext cx="1225296"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Estilo</a:t>
            </a:r>
            <a:endParaRPr lang="en-US" sz="1150" dirty="0"/>
          </a:p>
        </p:txBody>
      </p:sp>
      <p:sp>
        <p:nvSpPr>
          <p:cNvPr id="22" name="Shape 17"/>
          <p:cNvSpPr/>
          <p:nvPr/>
        </p:nvSpPr>
        <p:spPr>
          <a:xfrm>
            <a:off x="2084832" y="3703320"/>
            <a:ext cx="1737360" cy="502920"/>
          </a:xfrm>
          <a:prstGeom prst="chevron">
            <a:avLst/>
          </a:prstGeom>
          <a:solidFill>
            <a:srgbClr val="1D4E89"/>
          </a:solidFill>
          <a:ln w="12700">
            <a:solidFill>
              <a:srgbClr val="FFFFFF"/>
            </a:solidFill>
            <a:prstDash val="solid"/>
          </a:ln>
        </p:spPr>
        <p:txBody>
          <a:bodyPr/>
          <a:lstStyle/>
          <a:p>
            <a:endParaRPr lang="es-CL"/>
          </a:p>
        </p:txBody>
      </p:sp>
      <p:sp>
        <p:nvSpPr>
          <p:cNvPr id="23" name="Text 18"/>
          <p:cNvSpPr txBox="1"/>
          <p:nvPr/>
        </p:nvSpPr>
        <p:spPr>
          <a:xfrm>
            <a:off x="2340864" y="3703320"/>
            <a:ext cx="1225296"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Pruebas</a:t>
            </a:r>
            <a:endParaRPr lang="en-US" sz="1150" dirty="0"/>
          </a:p>
        </p:txBody>
      </p:sp>
      <p:sp>
        <p:nvSpPr>
          <p:cNvPr id="24" name="Shape 19"/>
          <p:cNvSpPr/>
          <p:nvPr/>
        </p:nvSpPr>
        <p:spPr>
          <a:xfrm>
            <a:off x="3712464" y="3703320"/>
            <a:ext cx="1737360" cy="502920"/>
          </a:xfrm>
          <a:prstGeom prst="chevron">
            <a:avLst/>
          </a:prstGeom>
          <a:solidFill>
            <a:srgbClr val="0A2240"/>
          </a:solidFill>
          <a:ln w="12700">
            <a:solidFill>
              <a:srgbClr val="FFFFFF"/>
            </a:solidFill>
            <a:prstDash val="solid"/>
          </a:ln>
        </p:spPr>
        <p:txBody>
          <a:bodyPr/>
          <a:lstStyle/>
          <a:p>
            <a:endParaRPr lang="es-CL"/>
          </a:p>
        </p:txBody>
      </p:sp>
      <p:sp>
        <p:nvSpPr>
          <p:cNvPr id="25" name="Text 20"/>
          <p:cNvSpPr txBox="1"/>
          <p:nvPr/>
        </p:nvSpPr>
        <p:spPr>
          <a:xfrm>
            <a:off x="3968496" y="3703320"/>
            <a:ext cx="1225296"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Sistema levantado</a:t>
            </a:r>
            <a:endParaRPr lang="en-US" sz="1150" dirty="0"/>
          </a:p>
        </p:txBody>
      </p:sp>
      <p:sp>
        <p:nvSpPr>
          <p:cNvPr id="26" name="Shape 21"/>
          <p:cNvSpPr/>
          <p:nvPr/>
        </p:nvSpPr>
        <p:spPr>
          <a:xfrm>
            <a:off x="5340096" y="3703320"/>
            <a:ext cx="1737360" cy="502920"/>
          </a:xfrm>
          <a:prstGeom prst="chevron">
            <a:avLst/>
          </a:prstGeom>
          <a:solidFill>
            <a:srgbClr val="1D4E89"/>
          </a:solidFill>
          <a:ln w="12700">
            <a:solidFill>
              <a:srgbClr val="FFFFFF"/>
            </a:solidFill>
            <a:prstDash val="solid"/>
          </a:ln>
        </p:spPr>
        <p:txBody>
          <a:bodyPr/>
          <a:lstStyle/>
          <a:p>
            <a:endParaRPr lang="es-CL"/>
          </a:p>
        </p:txBody>
      </p:sp>
      <p:sp>
        <p:nvSpPr>
          <p:cNvPr id="27" name="Text 22"/>
          <p:cNvSpPr txBox="1"/>
          <p:nvPr/>
        </p:nvSpPr>
        <p:spPr>
          <a:xfrm>
            <a:off x="5596128" y="3703320"/>
            <a:ext cx="1225296"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 aprobación</a:t>
            </a:r>
            <a:endParaRPr lang="en-US" sz="1150" dirty="0"/>
          </a:p>
        </p:txBody>
      </p:sp>
      <p:sp>
        <p:nvSpPr>
          <p:cNvPr id="28" name="Shape 23"/>
          <p:cNvSpPr/>
          <p:nvPr/>
        </p:nvSpPr>
        <p:spPr>
          <a:xfrm>
            <a:off x="6967728" y="3703320"/>
            <a:ext cx="1737360" cy="502920"/>
          </a:xfrm>
          <a:prstGeom prst="chevron">
            <a:avLst/>
          </a:prstGeom>
          <a:solidFill>
            <a:srgbClr val="2E8B57"/>
          </a:solidFill>
          <a:ln w="12700">
            <a:solidFill>
              <a:srgbClr val="FFFFFF"/>
            </a:solidFill>
            <a:prstDash val="solid"/>
          </a:ln>
        </p:spPr>
        <p:txBody>
          <a:bodyPr/>
          <a:lstStyle/>
          <a:p>
            <a:endParaRPr lang="es-CL"/>
          </a:p>
        </p:txBody>
      </p:sp>
      <p:sp>
        <p:nvSpPr>
          <p:cNvPr id="29" name="Text 24"/>
          <p:cNvSpPr txBox="1"/>
          <p:nvPr/>
        </p:nvSpPr>
        <p:spPr>
          <a:xfrm>
            <a:off x="7223760" y="3703320"/>
            <a:ext cx="1225296"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Fusión a develop</a:t>
            </a:r>
            <a:endParaRPr lang="en-US" sz="1150" dirty="0"/>
          </a:p>
        </p:txBody>
      </p:sp>
      <p:sp>
        <p:nvSpPr>
          <p:cNvPr id="30" name="Text 25"/>
          <p:cNvSpPr txBox="1"/>
          <p:nvPr/>
        </p:nvSpPr>
        <p:spPr>
          <a:xfrm>
            <a:off x="457200" y="4370832"/>
            <a:ext cx="8229600" cy="274320"/>
          </a:xfrm>
          <a:prstGeom prst="rect">
            <a:avLst/>
          </a:prstGeom>
          <a:noFill/>
          <a:ln/>
        </p:spPr>
        <p:txBody>
          <a:bodyPr wrap="square" lIns="0" tIns="0" rIns="0" bIns="0" rtlCol="0" anchor="t"/>
          <a:lstStyle/>
          <a:p>
            <a:pPr marL="0" indent="0">
              <a:buNone/>
            </a:pPr>
            <a:r>
              <a:rPr lang="en-US" sz="1100" i="1" dirty="0">
                <a:solidFill>
                  <a:srgbClr val="5A6478"/>
                </a:solidFill>
                <a:latin typeface="Calibri" pitchFamily="34" charset="0"/>
                <a:ea typeface="Calibri" pitchFamily="34" charset="-122"/>
                <a:cs typeface="Calibri" pitchFamily="34" charset="-120"/>
              </a:rPr>
              <a:t>Estilo, pruebas y sistema levantado los revisa GitHub Actions; si algo falla, no hay fusión. Backlog: 37 historias (355 h) priorizadas con MoSCoW.</a:t>
            </a:r>
            <a:endParaRPr lang="en-US" sz="1100" dirty="0"/>
          </a:p>
        </p:txBody>
      </p:sp>
      <p:sp>
        <p:nvSpPr>
          <p:cNvPr id="31"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PLAN DE TRABAJO</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Cuatro sprints hasta el 8 de noviembre</a:t>
            </a:r>
            <a:endParaRPr lang="en-US" sz="2800" dirty="0"/>
          </a:p>
        </p:txBody>
      </p:sp>
      <p:sp>
        <p:nvSpPr>
          <p:cNvPr id="4" name="Text 2"/>
          <p:cNvSpPr txBox="1"/>
          <p:nvPr/>
        </p:nvSpPr>
        <p:spPr>
          <a:xfrm>
            <a:off x="214884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a:t>
            </a:r>
            <a:endParaRPr lang="en-US" sz="950" dirty="0"/>
          </a:p>
        </p:txBody>
      </p:sp>
      <p:sp>
        <p:nvSpPr>
          <p:cNvPr id="5" name="Text 3"/>
          <p:cNvSpPr txBox="1"/>
          <p:nvPr/>
        </p:nvSpPr>
        <p:spPr>
          <a:xfrm>
            <a:off x="251206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2</a:t>
            </a:r>
            <a:endParaRPr lang="en-US" sz="950" dirty="0"/>
          </a:p>
        </p:txBody>
      </p:sp>
      <p:sp>
        <p:nvSpPr>
          <p:cNvPr id="6" name="Text 4"/>
          <p:cNvSpPr txBox="1"/>
          <p:nvPr/>
        </p:nvSpPr>
        <p:spPr>
          <a:xfrm>
            <a:off x="287528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3</a:t>
            </a:r>
            <a:endParaRPr lang="en-US" sz="950" dirty="0"/>
          </a:p>
        </p:txBody>
      </p:sp>
      <p:sp>
        <p:nvSpPr>
          <p:cNvPr id="7" name="Text 5"/>
          <p:cNvSpPr txBox="1"/>
          <p:nvPr/>
        </p:nvSpPr>
        <p:spPr>
          <a:xfrm>
            <a:off x="323850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4</a:t>
            </a:r>
            <a:endParaRPr lang="en-US" sz="950" dirty="0"/>
          </a:p>
        </p:txBody>
      </p:sp>
      <p:sp>
        <p:nvSpPr>
          <p:cNvPr id="8" name="Text 6"/>
          <p:cNvSpPr txBox="1"/>
          <p:nvPr/>
        </p:nvSpPr>
        <p:spPr>
          <a:xfrm>
            <a:off x="360172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5</a:t>
            </a:r>
            <a:endParaRPr lang="en-US" sz="950" dirty="0"/>
          </a:p>
        </p:txBody>
      </p:sp>
      <p:sp>
        <p:nvSpPr>
          <p:cNvPr id="9" name="Text 7"/>
          <p:cNvSpPr txBox="1"/>
          <p:nvPr/>
        </p:nvSpPr>
        <p:spPr>
          <a:xfrm>
            <a:off x="396494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6</a:t>
            </a:r>
            <a:endParaRPr lang="en-US" sz="950" dirty="0"/>
          </a:p>
        </p:txBody>
      </p:sp>
      <p:sp>
        <p:nvSpPr>
          <p:cNvPr id="10" name="Text 8"/>
          <p:cNvSpPr txBox="1"/>
          <p:nvPr/>
        </p:nvSpPr>
        <p:spPr>
          <a:xfrm>
            <a:off x="432816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7</a:t>
            </a:r>
            <a:endParaRPr lang="en-US" sz="950" dirty="0"/>
          </a:p>
        </p:txBody>
      </p:sp>
      <p:sp>
        <p:nvSpPr>
          <p:cNvPr id="11" name="Text 9"/>
          <p:cNvSpPr txBox="1"/>
          <p:nvPr/>
        </p:nvSpPr>
        <p:spPr>
          <a:xfrm>
            <a:off x="469138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8</a:t>
            </a:r>
            <a:endParaRPr lang="en-US" sz="950" dirty="0"/>
          </a:p>
        </p:txBody>
      </p:sp>
      <p:sp>
        <p:nvSpPr>
          <p:cNvPr id="12" name="Text 10"/>
          <p:cNvSpPr txBox="1"/>
          <p:nvPr/>
        </p:nvSpPr>
        <p:spPr>
          <a:xfrm>
            <a:off x="505460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9</a:t>
            </a:r>
            <a:endParaRPr lang="en-US" sz="950" dirty="0"/>
          </a:p>
        </p:txBody>
      </p:sp>
      <p:sp>
        <p:nvSpPr>
          <p:cNvPr id="13" name="Text 11"/>
          <p:cNvSpPr txBox="1"/>
          <p:nvPr/>
        </p:nvSpPr>
        <p:spPr>
          <a:xfrm>
            <a:off x="541782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10</a:t>
            </a:r>
            <a:endParaRPr lang="en-US" sz="950" dirty="0"/>
          </a:p>
        </p:txBody>
      </p:sp>
      <p:sp>
        <p:nvSpPr>
          <p:cNvPr id="14" name="Text 12"/>
          <p:cNvSpPr txBox="1"/>
          <p:nvPr/>
        </p:nvSpPr>
        <p:spPr>
          <a:xfrm>
            <a:off x="578104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11</a:t>
            </a:r>
            <a:endParaRPr lang="en-US" sz="950" dirty="0"/>
          </a:p>
        </p:txBody>
      </p:sp>
      <p:sp>
        <p:nvSpPr>
          <p:cNvPr id="15" name="Text 13"/>
          <p:cNvSpPr txBox="1"/>
          <p:nvPr/>
        </p:nvSpPr>
        <p:spPr>
          <a:xfrm>
            <a:off x="614426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12</a:t>
            </a:r>
            <a:endParaRPr lang="en-US" sz="950" dirty="0"/>
          </a:p>
        </p:txBody>
      </p:sp>
      <p:sp>
        <p:nvSpPr>
          <p:cNvPr id="16" name="Text 14"/>
          <p:cNvSpPr txBox="1"/>
          <p:nvPr/>
        </p:nvSpPr>
        <p:spPr>
          <a:xfrm>
            <a:off x="650748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13</a:t>
            </a:r>
            <a:endParaRPr lang="en-US" sz="950" dirty="0"/>
          </a:p>
        </p:txBody>
      </p:sp>
      <p:sp>
        <p:nvSpPr>
          <p:cNvPr id="17" name="Text 15"/>
          <p:cNvSpPr txBox="1"/>
          <p:nvPr/>
        </p:nvSpPr>
        <p:spPr>
          <a:xfrm>
            <a:off x="687070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14</a:t>
            </a:r>
            <a:endParaRPr lang="en-US" sz="950" dirty="0"/>
          </a:p>
        </p:txBody>
      </p:sp>
      <p:sp>
        <p:nvSpPr>
          <p:cNvPr id="18" name="Text 16"/>
          <p:cNvSpPr txBox="1"/>
          <p:nvPr/>
        </p:nvSpPr>
        <p:spPr>
          <a:xfrm>
            <a:off x="723392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15</a:t>
            </a:r>
            <a:endParaRPr lang="en-US" sz="950" dirty="0"/>
          </a:p>
        </p:txBody>
      </p:sp>
      <p:sp>
        <p:nvSpPr>
          <p:cNvPr id="19" name="Text 17"/>
          <p:cNvSpPr txBox="1"/>
          <p:nvPr/>
        </p:nvSpPr>
        <p:spPr>
          <a:xfrm>
            <a:off x="759714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16</a:t>
            </a:r>
            <a:endParaRPr lang="en-US" sz="950" dirty="0"/>
          </a:p>
        </p:txBody>
      </p:sp>
      <p:sp>
        <p:nvSpPr>
          <p:cNvPr id="20" name="Text 18"/>
          <p:cNvSpPr txBox="1"/>
          <p:nvPr/>
        </p:nvSpPr>
        <p:spPr>
          <a:xfrm>
            <a:off x="796036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17</a:t>
            </a:r>
            <a:endParaRPr lang="en-US" sz="950" dirty="0"/>
          </a:p>
        </p:txBody>
      </p:sp>
      <p:sp>
        <p:nvSpPr>
          <p:cNvPr id="21" name="Text 19"/>
          <p:cNvSpPr txBox="1"/>
          <p:nvPr/>
        </p:nvSpPr>
        <p:spPr>
          <a:xfrm>
            <a:off x="8323580" y="1207008"/>
            <a:ext cx="363220" cy="219456"/>
          </a:xfrm>
          <a:prstGeom prst="rect">
            <a:avLst/>
          </a:prstGeom>
          <a:noFill/>
          <a:ln/>
        </p:spPr>
        <p:txBody>
          <a:bodyPr wrap="square" lIns="0" tIns="0" rIns="0" bIns="0" rtlCol="0" anchor="t"/>
          <a:lstStyle/>
          <a:p>
            <a:pPr marL="0" indent="0" algn="ctr">
              <a:buNone/>
            </a:pPr>
            <a:r>
              <a:rPr lang="en-US" sz="950" dirty="0">
                <a:solidFill>
                  <a:srgbClr val="5A6478"/>
                </a:solidFill>
                <a:latin typeface="Calibri" pitchFamily="34" charset="0"/>
                <a:ea typeface="Calibri" pitchFamily="34" charset="-122"/>
                <a:cs typeface="Calibri" pitchFamily="34" charset="-120"/>
              </a:rPr>
              <a:t>18</a:t>
            </a:r>
            <a:endParaRPr lang="en-US" sz="950" dirty="0"/>
          </a:p>
        </p:txBody>
      </p:sp>
      <p:sp>
        <p:nvSpPr>
          <p:cNvPr id="22" name="Text 20"/>
          <p:cNvSpPr txBox="1"/>
          <p:nvPr/>
        </p:nvSpPr>
        <p:spPr>
          <a:xfrm>
            <a:off x="457200" y="1207008"/>
            <a:ext cx="1645920" cy="219456"/>
          </a:xfrm>
          <a:prstGeom prst="rect">
            <a:avLst/>
          </a:prstGeom>
          <a:noFill/>
          <a:ln/>
        </p:spPr>
        <p:txBody>
          <a:bodyPr wrap="square" lIns="0" tIns="0" rIns="0" bIns="0" rtlCol="0" anchor="t"/>
          <a:lstStyle/>
          <a:p>
            <a:pPr marL="0" indent="0">
              <a:buNone/>
            </a:pPr>
            <a:r>
              <a:rPr lang="en-US" sz="950" dirty="0">
                <a:solidFill>
                  <a:srgbClr val="5A6478"/>
                </a:solidFill>
                <a:latin typeface="Calibri" pitchFamily="34" charset="0"/>
                <a:ea typeface="Calibri" pitchFamily="34" charset="-122"/>
                <a:cs typeface="Calibri" pitchFamily="34" charset="-120"/>
              </a:rPr>
              <a:t>Semana del curso</a:t>
            </a:r>
            <a:endParaRPr lang="en-US" sz="950" dirty="0"/>
          </a:p>
        </p:txBody>
      </p:sp>
      <p:sp>
        <p:nvSpPr>
          <p:cNvPr id="23" name="Shape 21"/>
          <p:cNvSpPr/>
          <p:nvPr/>
        </p:nvSpPr>
        <p:spPr>
          <a:xfrm>
            <a:off x="214884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24" name="Shape 22"/>
          <p:cNvSpPr/>
          <p:nvPr/>
        </p:nvSpPr>
        <p:spPr>
          <a:xfrm>
            <a:off x="287528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25" name="Shape 23"/>
          <p:cNvSpPr/>
          <p:nvPr/>
        </p:nvSpPr>
        <p:spPr>
          <a:xfrm>
            <a:off x="360172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26" name="Shape 24"/>
          <p:cNvSpPr/>
          <p:nvPr/>
        </p:nvSpPr>
        <p:spPr>
          <a:xfrm>
            <a:off x="432816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27" name="Shape 25"/>
          <p:cNvSpPr/>
          <p:nvPr/>
        </p:nvSpPr>
        <p:spPr>
          <a:xfrm>
            <a:off x="505460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28" name="Shape 26"/>
          <p:cNvSpPr/>
          <p:nvPr/>
        </p:nvSpPr>
        <p:spPr>
          <a:xfrm>
            <a:off x="578104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29" name="Shape 27"/>
          <p:cNvSpPr/>
          <p:nvPr/>
        </p:nvSpPr>
        <p:spPr>
          <a:xfrm>
            <a:off x="650748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30" name="Shape 28"/>
          <p:cNvSpPr/>
          <p:nvPr/>
        </p:nvSpPr>
        <p:spPr>
          <a:xfrm>
            <a:off x="723392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31" name="Shape 29"/>
          <p:cNvSpPr/>
          <p:nvPr/>
        </p:nvSpPr>
        <p:spPr>
          <a:xfrm>
            <a:off x="7960360" y="1481328"/>
            <a:ext cx="363220" cy="2551176"/>
          </a:xfrm>
          <a:prstGeom prst="rect">
            <a:avLst/>
          </a:prstGeom>
          <a:solidFill>
            <a:srgbClr val="F6F8FB"/>
          </a:solidFill>
          <a:ln w="12700">
            <a:solidFill>
              <a:srgbClr val="F6F8FB"/>
            </a:solidFill>
            <a:prstDash val="solid"/>
          </a:ln>
        </p:spPr>
        <p:txBody>
          <a:bodyPr/>
          <a:lstStyle/>
          <a:p>
            <a:endParaRPr lang="es-CL"/>
          </a:p>
        </p:txBody>
      </p:sp>
      <p:sp>
        <p:nvSpPr>
          <p:cNvPr id="32" name="Text 30"/>
          <p:cNvSpPr txBox="1"/>
          <p:nvPr/>
        </p:nvSpPr>
        <p:spPr>
          <a:xfrm>
            <a:off x="457200" y="1481328"/>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Definición del proyecto</a:t>
            </a:r>
            <a:endParaRPr lang="en-US" sz="1100" dirty="0"/>
          </a:p>
        </p:txBody>
      </p:sp>
      <p:sp>
        <p:nvSpPr>
          <p:cNvPr id="33" name="Shape 31"/>
          <p:cNvSpPr/>
          <p:nvPr/>
        </p:nvSpPr>
        <p:spPr>
          <a:xfrm>
            <a:off x="2167128" y="1527048"/>
            <a:ext cx="1416304" cy="192024"/>
          </a:xfrm>
          <a:prstGeom prst="roundRect">
            <a:avLst>
              <a:gd name="adj" fmla="val 38095"/>
            </a:avLst>
          </a:prstGeom>
          <a:solidFill>
            <a:srgbClr val="2E8B57"/>
          </a:solidFill>
          <a:ln w="12700">
            <a:solidFill>
              <a:srgbClr val="2E8B57"/>
            </a:solidFill>
            <a:prstDash val="solid"/>
          </a:ln>
        </p:spPr>
        <p:txBody>
          <a:bodyPr/>
          <a:lstStyle/>
          <a:p>
            <a:endParaRPr lang="es-CL"/>
          </a:p>
        </p:txBody>
      </p:sp>
      <p:sp>
        <p:nvSpPr>
          <p:cNvPr id="34" name="Text 32"/>
          <p:cNvSpPr txBox="1"/>
          <p:nvPr/>
        </p:nvSpPr>
        <p:spPr>
          <a:xfrm>
            <a:off x="457200" y="1764792"/>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Planificación</a:t>
            </a:r>
            <a:endParaRPr lang="en-US" sz="1100" dirty="0"/>
          </a:p>
        </p:txBody>
      </p:sp>
      <p:sp>
        <p:nvSpPr>
          <p:cNvPr id="35" name="Shape 33"/>
          <p:cNvSpPr/>
          <p:nvPr/>
        </p:nvSpPr>
        <p:spPr>
          <a:xfrm>
            <a:off x="3620008" y="1810512"/>
            <a:ext cx="326644" cy="192024"/>
          </a:xfrm>
          <a:prstGeom prst="roundRect">
            <a:avLst>
              <a:gd name="adj" fmla="val 38095"/>
            </a:avLst>
          </a:prstGeom>
          <a:solidFill>
            <a:srgbClr val="2E8B57"/>
          </a:solidFill>
          <a:ln w="12700">
            <a:solidFill>
              <a:srgbClr val="2E8B57"/>
            </a:solidFill>
            <a:prstDash val="solid"/>
          </a:ln>
        </p:spPr>
        <p:txBody>
          <a:bodyPr/>
          <a:lstStyle/>
          <a:p>
            <a:endParaRPr lang="es-CL"/>
          </a:p>
        </p:txBody>
      </p:sp>
      <p:sp>
        <p:nvSpPr>
          <p:cNvPr id="36" name="Text 34"/>
          <p:cNvSpPr txBox="1"/>
          <p:nvPr/>
        </p:nvSpPr>
        <p:spPr>
          <a:xfrm>
            <a:off x="457200" y="2048256"/>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Cimientos</a:t>
            </a:r>
            <a:endParaRPr lang="en-US" sz="1100" dirty="0"/>
          </a:p>
        </p:txBody>
      </p:sp>
      <p:sp>
        <p:nvSpPr>
          <p:cNvPr id="37" name="Shape 35"/>
          <p:cNvSpPr/>
          <p:nvPr/>
        </p:nvSpPr>
        <p:spPr>
          <a:xfrm>
            <a:off x="3983228" y="2093976"/>
            <a:ext cx="326644" cy="192024"/>
          </a:xfrm>
          <a:prstGeom prst="roundRect">
            <a:avLst>
              <a:gd name="adj" fmla="val 38095"/>
            </a:avLst>
          </a:prstGeom>
          <a:solidFill>
            <a:srgbClr val="2E8B57"/>
          </a:solidFill>
          <a:ln w="12700">
            <a:solidFill>
              <a:srgbClr val="2E8B57"/>
            </a:solidFill>
            <a:prstDash val="solid"/>
          </a:ln>
        </p:spPr>
        <p:txBody>
          <a:bodyPr/>
          <a:lstStyle/>
          <a:p>
            <a:endParaRPr lang="es-CL"/>
          </a:p>
        </p:txBody>
      </p:sp>
      <p:sp>
        <p:nvSpPr>
          <p:cNvPr id="38" name="Text 36"/>
          <p:cNvSpPr txBox="1"/>
          <p:nvPr/>
        </p:nvSpPr>
        <p:spPr>
          <a:xfrm>
            <a:off x="457200" y="2331720"/>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Sprint 1</a:t>
            </a:r>
            <a:endParaRPr lang="en-US" sz="1100" dirty="0"/>
          </a:p>
        </p:txBody>
      </p:sp>
      <p:sp>
        <p:nvSpPr>
          <p:cNvPr id="39" name="Shape 37"/>
          <p:cNvSpPr/>
          <p:nvPr/>
        </p:nvSpPr>
        <p:spPr>
          <a:xfrm>
            <a:off x="4346448" y="2377440"/>
            <a:ext cx="689864" cy="192024"/>
          </a:xfrm>
          <a:prstGeom prst="roundRect">
            <a:avLst>
              <a:gd name="adj" fmla="val 38095"/>
            </a:avLst>
          </a:prstGeom>
          <a:solidFill>
            <a:srgbClr val="1D4E89"/>
          </a:solidFill>
          <a:ln w="12700">
            <a:solidFill>
              <a:srgbClr val="1D4E89"/>
            </a:solidFill>
            <a:prstDash val="solid"/>
          </a:ln>
        </p:spPr>
        <p:txBody>
          <a:bodyPr/>
          <a:lstStyle/>
          <a:p>
            <a:endParaRPr lang="es-CL"/>
          </a:p>
        </p:txBody>
      </p:sp>
      <p:sp>
        <p:nvSpPr>
          <p:cNvPr id="40" name="Text 38"/>
          <p:cNvSpPr txBox="1"/>
          <p:nvPr/>
        </p:nvSpPr>
        <p:spPr>
          <a:xfrm>
            <a:off x="4328160" y="2377440"/>
            <a:ext cx="653288" cy="192024"/>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v0.1</a:t>
            </a:r>
            <a:endParaRPr lang="en-US" sz="950" dirty="0"/>
          </a:p>
        </p:txBody>
      </p:sp>
      <p:sp>
        <p:nvSpPr>
          <p:cNvPr id="41" name="Text 39"/>
          <p:cNvSpPr txBox="1"/>
          <p:nvPr/>
        </p:nvSpPr>
        <p:spPr>
          <a:xfrm>
            <a:off x="457200" y="2615184"/>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Sprint 2</a:t>
            </a:r>
            <a:endParaRPr lang="en-US" sz="1100" dirty="0"/>
          </a:p>
        </p:txBody>
      </p:sp>
      <p:sp>
        <p:nvSpPr>
          <p:cNvPr id="42" name="Shape 40"/>
          <p:cNvSpPr/>
          <p:nvPr/>
        </p:nvSpPr>
        <p:spPr>
          <a:xfrm>
            <a:off x="5072888" y="2660904"/>
            <a:ext cx="689864" cy="192024"/>
          </a:xfrm>
          <a:prstGeom prst="roundRect">
            <a:avLst>
              <a:gd name="adj" fmla="val 38095"/>
            </a:avLst>
          </a:prstGeom>
          <a:solidFill>
            <a:srgbClr val="1D4E89"/>
          </a:solidFill>
          <a:ln w="12700">
            <a:solidFill>
              <a:srgbClr val="1D4E89"/>
            </a:solidFill>
            <a:prstDash val="solid"/>
          </a:ln>
        </p:spPr>
        <p:txBody>
          <a:bodyPr/>
          <a:lstStyle/>
          <a:p>
            <a:endParaRPr lang="es-CL"/>
          </a:p>
        </p:txBody>
      </p:sp>
      <p:sp>
        <p:nvSpPr>
          <p:cNvPr id="43" name="Text 41"/>
          <p:cNvSpPr txBox="1"/>
          <p:nvPr/>
        </p:nvSpPr>
        <p:spPr>
          <a:xfrm>
            <a:off x="5054600" y="2660904"/>
            <a:ext cx="653288" cy="192024"/>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v0.2</a:t>
            </a:r>
            <a:endParaRPr lang="en-US" sz="950" dirty="0"/>
          </a:p>
        </p:txBody>
      </p:sp>
      <p:sp>
        <p:nvSpPr>
          <p:cNvPr id="44" name="Text 42"/>
          <p:cNvSpPr txBox="1"/>
          <p:nvPr/>
        </p:nvSpPr>
        <p:spPr>
          <a:xfrm>
            <a:off x="457200" y="2898648"/>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Sprint 3</a:t>
            </a:r>
            <a:endParaRPr lang="en-US" sz="1100" dirty="0"/>
          </a:p>
        </p:txBody>
      </p:sp>
      <p:sp>
        <p:nvSpPr>
          <p:cNvPr id="45" name="Shape 43"/>
          <p:cNvSpPr/>
          <p:nvPr/>
        </p:nvSpPr>
        <p:spPr>
          <a:xfrm>
            <a:off x="5799328" y="2944368"/>
            <a:ext cx="689864" cy="192024"/>
          </a:xfrm>
          <a:prstGeom prst="roundRect">
            <a:avLst>
              <a:gd name="adj" fmla="val 38095"/>
            </a:avLst>
          </a:prstGeom>
          <a:solidFill>
            <a:srgbClr val="1D4E89"/>
          </a:solidFill>
          <a:ln w="12700">
            <a:solidFill>
              <a:srgbClr val="1D4E89"/>
            </a:solidFill>
            <a:prstDash val="solid"/>
          </a:ln>
        </p:spPr>
        <p:txBody>
          <a:bodyPr/>
          <a:lstStyle/>
          <a:p>
            <a:endParaRPr lang="es-CL"/>
          </a:p>
        </p:txBody>
      </p:sp>
      <p:sp>
        <p:nvSpPr>
          <p:cNvPr id="46" name="Text 44"/>
          <p:cNvSpPr txBox="1"/>
          <p:nvPr/>
        </p:nvSpPr>
        <p:spPr>
          <a:xfrm>
            <a:off x="5781040" y="2944368"/>
            <a:ext cx="653288" cy="192024"/>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v0.3</a:t>
            </a:r>
            <a:endParaRPr lang="en-US" sz="950" dirty="0"/>
          </a:p>
        </p:txBody>
      </p:sp>
      <p:sp>
        <p:nvSpPr>
          <p:cNvPr id="47" name="Text 45"/>
          <p:cNvSpPr txBox="1"/>
          <p:nvPr/>
        </p:nvSpPr>
        <p:spPr>
          <a:xfrm>
            <a:off x="457200" y="3182112"/>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Sprint 4</a:t>
            </a:r>
            <a:endParaRPr lang="en-US" sz="1100" dirty="0"/>
          </a:p>
        </p:txBody>
      </p:sp>
      <p:sp>
        <p:nvSpPr>
          <p:cNvPr id="48" name="Shape 46"/>
          <p:cNvSpPr/>
          <p:nvPr/>
        </p:nvSpPr>
        <p:spPr>
          <a:xfrm>
            <a:off x="6525768" y="3227832"/>
            <a:ext cx="326644" cy="192024"/>
          </a:xfrm>
          <a:prstGeom prst="roundRect">
            <a:avLst>
              <a:gd name="adj" fmla="val 38095"/>
            </a:avLst>
          </a:prstGeom>
          <a:solidFill>
            <a:srgbClr val="1D4E89"/>
          </a:solidFill>
          <a:ln w="12700">
            <a:solidFill>
              <a:srgbClr val="1D4E89"/>
            </a:solidFill>
            <a:prstDash val="solid"/>
          </a:ln>
        </p:spPr>
        <p:txBody>
          <a:bodyPr/>
          <a:lstStyle/>
          <a:p>
            <a:endParaRPr lang="es-CL"/>
          </a:p>
        </p:txBody>
      </p:sp>
      <p:sp>
        <p:nvSpPr>
          <p:cNvPr id="49" name="Text 47"/>
          <p:cNvSpPr txBox="1"/>
          <p:nvPr/>
        </p:nvSpPr>
        <p:spPr>
          <a:xfrm>
            <a:off x="6507480" y="3227832"/>
            <a:ext cx="290068" cy="192024"/>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v1.0</a:t>
            </a:r>
            <a:endParaRPr lang="en-US" sz="950" dirty="0"/>
          </a:p>
        </p:txBody>
      </p:sp>
      <p:sp>
        <p:nvSpPr>
          <p:cNvPr id="50" name="Text 48"/>
          <p:cNvSpPr txBox="1"/>
          <p:nvPr/>
        </p:nvSpPr>
        <p:spPr>
          <a:xfrm>
            <a:off x="457200" y="3465576"/>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Informe final y ensayo</a:t>
            </a:r>
            <a:endParaRPr lang="en-US" sz="1100" dirty="0"/>
          </a:p>
        </p:txBody>
      </p:sp>
      <p:sp>
        <p:nvSpPr>
          <p:cNvPr id="51" name="Shape 49"/>
          <p:cNvSpPr/>
          <p:nvPr/>
        </p:nvSpPr>
        <p:spPr>
          <a:xfrm>
            <a:off x="6888988" y="3511296"/>
            <a:ext cx="689864" cy="192024"/>
          </a:xfrm>
          <a:prstGeom prst="roundRect">
            <a:avLst>
              <a:gd name="adj" fmla="val 38095"/>
            </a:avLst>
          </a:prstGeom>
          <a:solidFill>
            <a:srgbClr val="F9B934"/>
          </a:solidFill>
          <a:ln w="12700">
            <a:solidFill>
              <a:srgbClr val="F9B934"/>
            </a:solidFill>
            <a:prstDash val="solid"/>
          </a:ln>
        </p:spPr>
        <p:txBody>
          <a:bodyPr/>
          <a:lstStyle/>
          <a:p>
            <a:endParaRPr lang="es-CL"/>
          </a:p>
        </p:txBody>
      </p:sp>
      <p:sp>
        <p:nvSpPr>
          <p:cNvPr id="52" name="Text 50"/>
          <p:cNvSpPr txBox="1"/>
          <p:nvPr/>
        </p:nvSpPr>
        <p:spPr>
          <a:xfrm>
            <a:off x="457200" y="3749040"/>
            <a:ext cx="1645920" cy="28346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Presentación a comisión</a:t>
            </a:r>
            <a:endParaRPr lang="en-US" sz="1100" dirty="0"/>
          </a:p>
        </p:txBody>
      </p:sp>
      <p:sp>
        <p:nvSpPr>
          <p:cNvPr id="53" name="Shape 51"/>
          <p:cNvSpPr/>
          <p:nvPr/>
        </p:nvSpPr>
        <p:spPr>
          <a:xfrm>
            <a:off x="7615428" y="3794760"/>
            <a:ext cx="1053084" cy="192024"/>
          </a:xfrm>
          <a:prstGeom prst="roundRect">
            <a:avLst>
              <a:gd name="adj" fmla="val 38095"/>
            </a:avLst>
          </a:prstGeom>
          <a:solidFill>
            <a:srgbClr val="F9B934"/>
          </a:solidFill>
          <a:ln w="12700">
            <a:solidFill>
              <a:srgbClr val="F9B934"/>
            </a:solidFill>
            <a:prstDash val="solid"/>
          </a:ln>
        </p:spPr>
        <p:txBody>
          <a:bodyPr/>
          <a:lstStyle/>
          <a:p>
            <a:endParaRPr lang="es-CL"/>
          </a:p>
        </p:txBody>
      </p:sp>
      <p:sp>
        <p:nvSpPr>
          <p:cNvPr id="54" name="Shape 52"/>
          <p:cNvSpPr/>
          <p:nvPr/>
        </p:nvSpPr>
        <p:spPr>
          <a:xfrm>
            <a:off x="4509770" y="1463040"/>
            <a:ext cx="0" cy="2587752"/>
          </a:xfrm>
          <a:prstGeom prst="line">
            <a:avLst/>
          </a:prstGeom>
          <a:noFill/>
          <a:ln w="22225">
            <a:solidFill>
              <a:srgbClr val="D9822B"/>
            </a:solidFill>
            <a:prstDash val="dash"/>
          </a:ln>
        </p:spPr>
        <p:txBody>
          <a:bodyPr/>
          <a:lstStyle/>
          <a:p>
            <a:endParaRPr lang="es-CL"/>
          </a:p>
        </p:txBody>
      </p:sp>
      <p:sp>
        <p:nvSpPr>
          <p:cNvPr id="55" name="Text 53"/>
          <p:cNvSpPr txBox="1"/>
          <p:nvPr/>
        </p:nvSpPr>
        <p:spPr>
          <a:xfrm>
            <a:off x="4235450" y="4050792"/>
            <a:ext cx="548640" cy="201168"/>
          </a:xfrm>
          <a:prstGeom prst="rect">
            <a:avLst/>
          </a:prstGeom>
          <a:noFill/>
          <a:ln/>
        </p:spPr>
        <p:txBody>
          <a:bodyPr wrap="square" lIns="0" tIns="0" rIns="0" bIns="0" rtlCol="0" anchor="t"/>
          <a:lstStyle/>
          <a:p>
            <a:pPr marL="0" indent="0" algn="ctr">
              <a:buNone/>
            </a:pPr>
            <a:r>
              <a:rPr lang="en-US" sz="1000" b="1" dirty="0">
                <a:solidFill>
                  <a:srgbClr val="D9822B"/>
                </a:solidFill>
                <a:latin typeface="Calibri" pitchFamily="34" charset="0"/>
                <a:ea typeface="Calibri" pitchFamily="34" charset="-122"/>
                <a:cs typeface="Calibri" pitchFamily="34" charset="-120"/>
              </a:rPr>
              <a:t>hoy</a:t>
            </a:r>
            <a:endParaRPr lang="en-US" sz="1000" dirty="0"/>
          </a:p>
        </p:txBody>
      </p:sp>
      <p:sp>
        <p:nvSpPr>
          <p:cNvPr id="56" name="Shape 54"/>
          <p:cNvSpPr/>
          <p:nvPr/>
        </p:nvSpPr>
        <p:spPr>
          <a:xfrm>
            <a:off x="6870700" y="1463040"/>
            <a:ext cx="0" cy="2587752"/>
          </a:xfrm>
          <a:prstGeom prst="line">
            <a:avLst/>
          </a:prstGeom>
          <a:noFill/>
          <a:ln w="22225">
            <a:solidFill>
              <a:srgbClr val="B8474A"/>
            </a:solidFill>
            <a:prstDash val="solid"/>
          </a:ln>
        </p:spPr>
        <p:txBody>
          <a:bodyPr/>
          <a:lstStyle/>
          <a:p>
            <a:endParaRPr lang="es-CL"/>
          </a:p>
        </p:txBody>
      </p:sp>
      <p:sp>
        <p:nvSpPr>
          <p:cNvPr id="57" name="Text 55"/>
          <p:cNvSpPr txBox="1"/>
          <p:nvPr/>
        </p:nvSpPr>
        <p:spPr>
          <a:xfrm>
            <a:off x="6047740" y="4050792"/>
            <a:ext cx="1645920" cy="201168"/>
          </a:xfrm>
          <a:prstGeom prst="rect">
            <a:avLst/>
          </a:prstGeom>
          <a:noFill/>
          <a:ln/>
        </p:spPr>
        <p:txBody>
          <a:bodyPr wrap="square" lIns="0" tIns="0" rIns="0" bIns="0" rtlCol="0" anchor="t"/>
          <a:lstStyle/>
          <a:p>
            <a:pPr marL="0" indent="0" algn="ctr">
              <a:buNone/>
            </a:pPr>
            <a:r>
              <a:rPr lang="en-US" sz="1000" b="1" dirty="0">
                <a:solidFill>
                  <a:srgbClr val="B8474A"/>
                </a:solidFill>
                <a:latin typeface="Calibri" pitchFamily="34" charset="0"/>
                <a:ea typeface="Calibri" pitchFamily="34" charset="-122"/>
                <a:cs typeface="Calibri" pitchFamily="34" charset="-120"/>
              </a:rPr>
              <a:t>8-nov: fin del desarrollo</a:t>
            </a:r>
            <a:endParaRPr lang="en-US" sz="1000" dirty="0"/>
          </a:p>
        </p:txBody>
      </p:sp>
      <p:sp>
        <p:nvSpPr>
          <p:cNvPr id="58" name="Shape 56"/>
          <p:cNvSpPr/>
          <p:nvPr/>
        </p:nvSpPr>
        <p:spPr>
          <a:xfrm>
            <a:off x="457200" y="4315968"/>
            <a:ext cx="201168" cy="146304"/>
          </a:xfrm>
          <a:prstGeom prst="roundRect">
            <a:avLst>
              <a:gd name="adj" fmla="val 50000"/>
            </a:avLst>
          </a:prstGeom>
          <a:solidFill>
            <a:srgbClr val="2E8B57"/>
          </a:solidFill>
          <a:ln w="12700">
            <a:solidFill>
              <a:srgbClr val="2E8B57"/>
            </a:solidFill>
            <a:prstDash val="solid"/>
          </a:ln>
        </p:spPr>
        <p:txBody>
          <a:bodyPr/>
          <a:lstStyle/>
          <a:p>
            <a:endParaRPr lang="es-CL"/>
          </a:p>
        </p:txBody>
      </p:sp>
      <p:sp>
        <p:nvSpPr>
          <p:cNvPr id="59" name="Text 57"/>
          <p:cNvSpPr txBox="1"/>
          <p:nvPr/>
        </p:nvSpPr>
        <p:spPr>
          <a:xfrm>
            <a:off x="731520" y="4279392"/>
            <a:ext cx="1737360" cy="219456"/>
          </a:xfrm>
          <a:prstGeom prst="rect">
            <a:avLst/>
          </a:prstGeom>
          <a:noFill/>
          <a:ln/>
        </p:spPr>
        <p:txBody>
          <a:bodyPr wrap="square" lIns="0" tIns="0" rIns="0" bIns="0" rtlCol="0" anchor="t"/>
          <a:lstStyle/>
          <a:p>
            <a:pPr marL="0" indent="0">
              <a:buNone/>
            </a:pPr>
            <a:r>
              <a:rPr lang="en-US" sz="1050" dirty="0">
                <a:solidFill>
                  <a:srgbClr val="1E2A3A"/>
                </a:solidFill>
                <a:latin typeface="Calibri" pitchFamily="34" charset="0"/>
                <a:ea typeface="Calibri" pitchFamily="34" charset="-122"/>
                <a:cs typeface="Calibri" pitchFamily="34" charset="-120"/>
              </a:rPr>
              <a:t>Terminado</a:t>
            </a:r>
            <a:endParaRPr lang="en-US" sz="1050" dirty="0"/>
          </a:p>
        </p:txBody>
      </p:sp>
      <p:sp>
        <p:nvSpPr>
          <p:cNvPr id="60" name="Shape 58"/>
          <p:cNvSpPr/>
          <p:nvPr/>
        </p:nvSpPr>
        <p:spPr>
          <a:xfrm>
            <a:off x="1760220" y="4315968"/>
            <a:ext cx="201168" cy="146304"/>
          </a:xfrm>
          <a:prstGeom prst="roundRect">
            <a:avLst>
              <a:gd name="adj" fmla="val 50000"/>
            </a:avLst>
          </a:prstGeom>
          <a:solidFill>
            <a:srgbClr val="1D4E89"/>
          </a:solidFill>
          <a:ln w="12700">
            <a:solidFill>
              <a:srgbClr val="1D4E89"/>
            </a:solidFill>
            <a:prstDash val="solid"/>
          </a:ln>
        </p:spPr>
        <p:txBody>
          <a:bodyPr/>
          <a:lstStyle/>
          <a:p>
            <a:endParaRPr lang="es-CL"/>
          </a:p>
        </p:txBody>
      </p:sp>
      <p:sp>
        <p:nvSpPr>
          <p:cNvPr id="61" name="Text 59"/>
          <p:cNvSpPr txBox="1"/>
          <p:nvPr/>
        </p:nvSpPr>
        <p:spPr>
          <a:xfrm>
            <a:off x="2034540" y="4279392"/>
            <a:ext cx="1737360" cy="219456"/>
          </a:xfrm>
          <a:prstGeom prst="rect">
            <a:avLst/>
          </a:prstGeom>
          <a:noFill/>
          <a:ln/>
        </p:spPr>
        <p:txBody>
          <a:bodyPr wrap="square" lIns="0" tIns="0" rIns="0" bIns="0" rtlCol="0" anchor="t"/>
          <a:lstStyle/>
          <a:p>
            <a:pPr marL="0" indent="0">
              <a:buNone/>
            </a:pPr>
            <a:r>
              <a:rPr lang="en-US" sz="1050" dirty="0">
                <a:solidFill>
                  <a:srgbClr val="1E2A3A"/>
                </a:solidFill>
                <a:latin typeface="Calibri" pitchFamily="34" charset="0"/>
                <a:ea typeface="Calibri" pitchFamily="34" charset="-122"/>
                <a:cs typeface="Calibri" pitchFamily="34" charset="-120"/>
              </a:rPr>
              <a:t>Desarrollo</a:t>
            </a:r>
            <a:endParaRPr lang="en-US" sz="1050" dirty="0"/>
          </a:p>
        </p:txBody>
      </p:sp>
      <p:sp>
        <p:nvSpPr>
          <p:cNvPr id="62" name="Shape 60"/>
          <p:cNvSpPr/>
          <p:nvPr/>
        </p:nvSpPr>
        <p:spPr>
          <a:xfrm>
            <a:off x="3131820" y="4315968"/>
            <a:ext cx="201168" cy="146304"/>
          </a:xfrm>
          <a:prstGeom prst="roundRect">
            <a:avLst>
              <a:gd name="adj" fmla="val 50000"/>
            </a:avLst>
          </a:prstGeom>
          <a:solidFill>
            <a:srgbClr val="F9B934"/>
          </a:solidFill>
          <a:ln w="12700">
            <a:solidFill>
              <a:srgbClr val="F9B934"/>
            </a:solidFill>
            <a:prstDash val="solid"/>
          </a:ln>
        </p:spPr>
        <p:txBody>
          <a:bodyPr/>
          <a:lstStyle/>
          <a:p>
            <a:endParaRPr lang="es-CL"/>
          </a:p>
        </p:txBody>
      </p:sp>
      <p:sp>
        <p:nvSpPr>
          <p:cNvPr id="63" name="Text 61"/>
          <p:cNvSpPr txBox="1"/>
          <p:nvPr/>
        </p:nvSpPr>
        <p:spPr>
          <a:xfrm>
            <a:off x="3406140" y="4279392"/>
            <a:ext cx="1737360" cy="219456"/>
          </a:xfrm>
          <a:prstGeom prst="rect">
            <a:avLst/>
          </a:prstGeom>
          <a:noFill/>
          <a:ln/>
        </p:spPr>
        <p:txBody>
          <a:bodyPr wrap="square" lIns="0" tIns="0" rIns="0" bIns="0" rtlCol="0" anchor="t"/>
          <a:lstStyle/>
          <a:p>
            <a:pPr marL="0" indent="0">
              <a:buNone/>
            </a:pPr>
            <a:r>
              <a:rPr lang="en-US" sz="1050" dirty="0">
                <a:solidFill>
                  <a:srgbClr val="1E2A3A"/>
                </a:solidFill>
                <a:latin typeface="Calibri" pitchFamily="34" charset="0"/>
                <a:ea typeface="Calibri" pitchFamily="34" charset="-122"/>
                <a:cs typeface="Calibri" pitchFamily="34" charset="-120"/>
              </a:rPr>
              <a:t>Informe y presentación</a:t>
            </a:r>
            <a:endParaRPr lang="en-US" sz="1050" dirty="0"/>
          </a:p>
        </p:txBody>
      </p:sp>
      <p:sp>
        <p:nvSpPr>
          <p:cNvPr id="64" name="Text 62"/>
          <p:cNvSpPr txBox="1"/>
          <p:nvPr/>
        </p:nvSpPr>
        <p:spPr>
          <a:xfrm>
            <a:off x="457200" y="4572000"/>
            <a:ext cx="7680960" cy="237744"/>
          </a:xfrm>
          <a:prstGeom prst="rect">
            <a:avLst/>
          </a:prstGeom>
          <a:noFill/>
          <a:ln/>
        </p:spPr>
        <p:txBody>
          <a:bodyPr wrap="square" lIns="0" tIns="0" rIns="0" bIns="0" rtlCol="0" anchor="t"/>
          <a:lstStyle/>
          <a:p>
            <a:pPr marL="0" indent="0">
              <a:buNone/>
            </a:pPr>
            <a:r>
              <a:rPr lang="en-US" sz="1050" i="1" dirty="0">
                <a:solidFill>
                  <a:srgbClr val="5A6478"/>
                </a:solidFill>
                <a:latin typeface="Calibri" pitchFamily="34" charset="0"/>
                <a:ea typeface="Calibri" pitchFamily="34" charset="-122"/>
                <a:cs typeface="Calibri" pitchFamily="34" charset="-120"/>
              </a:rPr>
              <a:t>Informe de avance: semana 10 (12 al 17 de octubre) · Informe final y presentación: semana 15 · Comisión: semanas 17 y 18</a:t>
            </a:r>
            <a:endParaRPr lang="en-US" sz="1050" dirty="0"/>
          </a:p>
        </p:txBody>
      </p:sp>
      <p:sp>
        <p:nvSpPr>
          <p:cNvPr id="6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FACTIBILIDAD</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Es factible en el semestre, sin holgura</a:t>
            </a:r>
            <a:endParaRPr lang="en-US" sz="2800" dirty="0"/>
          </a:p>
        </p:txBody>
      </p:sp>
      <p:sp>
        <p:nvSpPr>
          <p:cNvPr id="4" name="Shape 2"/>
          <p:cNvSpPr/>
          <p:nvPr/>
        </p:nvSpPr>
        <p:spPr>
          <a:xfrm>
            <a:off x="457200" y="1261872"/>
            <a:ext cx="3246120" cy="1005840"/>
          </a:xfrm>
          <a:prstGeom prst="roundRect">
            <a:avLst>
              <a:gd name="adj" fmla="val 7273"/>
            </a:avLst>
          </a:prstGeom>
          <a:solidFill>
            <a:srgbClr val="EDF1F7"/>
          </a:solidFill>
          <a:ln w="12700">
            <a:solidFill>
              <a:srgbClr val="EDF1F7"/>
            </a:solidFill>
            <a:prstDash val="solid"/>
          </a:ln>
        </p:spPr>
        <p:txBody>
          <a:bodyPr/>
          <a:lstStyle/>
          <a:p>
            <a:endParaRPr lang="es-CL"/>
          </a:p>
        </p:txBody>
      </p:sp>
      <p:sp>
        <p:nvSpPr>
          <p:cNvPr id="5" name="Text 3"/>
          <p:cNvSpPr txBox="1"/>
          <p:nvPr/>
        </p:nvSpPr>
        <p:spPr>
          <a:xfrm>
            <a:off x="640080" y="1335024"/>
            <a:ext cx="1325880" cy="859536"/>
          </a:xfrm>
          <a:prstGeom prst="rect">
            <a:avLst/>
          </a:prstGeom>
          <a:noFill/>
          <a:ln/>
        </p:spPr>
        <p:txBody>
          <a:bodyPr wrap="square" lIns="0" tIns="0" rIns="0" bIns="0" rtlCol="0" anchor="ctr"/>
          <a:lstStyle/>
          <a:p>
            <a:pPr marL="0" indent="0">
              <a:buNone/>
            </a:pPr>
            <a:r>
              <a:rPr lang="en-US" sz="3200" b="1" dirty="0">
                <a:solidFill>
                  <a:srgbClr val="0A2240"/>
                </a:solidFill>
                <a:latin typeface="Calibri" pitchFamily="34" charset="0"/>
                <a:ea typeface="Calibri" pitchFamily="34" charset="-122"/>
                <a:cs typeface="Calibri" pitchFamily="34" charset="-120"/>
              </a:rPr>
              <a:t>25 h</a:t>
            </a:r>
            <a:endParaRPr lang="en-US" sz="3200" dirty="0"/>
          </a:p>
        </p:txBody>
      </p:sp>
      <p:sp>
        <p:nvSpPr>
          <p:cNvPr id="6" name="Text 4"/>
          <p:cNvSpPr txBox="1"/>
          <p:nvPr/>
        </p:nvSpPr>
        <p:spPr>
          <a:xfrm>
            <a:off x="1965960" y="1353312"/>
            <a:ext cx="1645920" cy="822960"/>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por integrante cada semana, hasta el 8 de noviembre</a:t>
            </a:r>
            <a:endParaRPr lang="en-US" sz="1150" dirty="0"/>
          </a:p>
        </p:txBody>
      </p:sp>
      <p:sp>
        <p:nvSpPr>
          <p:cNvPr id="7" name="Shape 5"/>
          <p:cNvSpPr/>
          <p:nvPr/>
        </p:nvSpPr>
        <p:spPr>
          <a:xfrm>
            <a:off x="457200" y="2404872"/>
            <a:ext cx="3246120" cy="1005840"/>
          </a:xfrm>
          <a:prstGeom prst="roundRect">
            <a:avLst>
              <a:gd name="adj" fmla="val 7273"/>
            </a:avLst>
          </a:prstGeom>
          <a:solidFill>
            <a:srgbClr val="0A2240"/>
          </a:solidFill>
          <a:ln w="12700">
            <a:solidFill>
              <a:srgbClr val="0A2240"/>
            </a:solidFill>
            <a:prstDash val="solid"/>
          </a:ln>
        </p:spPr>
        <p:txBody>
          <a:bodyPr/>
          <a:lstStyle/>
          <a:p>
            <a:endParaRPr lang="es-CL"/>
          </a:p>
        </p:txBody>
      </p:sp>
      <p:sp>
        <p:nvSpPr>
          <p:cNvPr id="8" name="Text 6"/>
          <p:cNvSpPr txBox="1"/>
          <p:nvPr/>
        </p:nvSpPr>
        <p:spPr>
          <a:xfrm>
            <a:off x="640080" y="2478024"/>
            <a:ext cx="1325880" cy="859536"/>
          </a:xfrm>
          <a:prstGeom prst="rect">
            <a:avLst/>
          </a:prstGeom>
          <a:noFill/>
          <a:ln/>
        </p:spPr>
        <p:txBody>
          <a:bodyPr wrap="square" lIns="0" tIns="0" rIns="0" bIns="0" rtlCol="0" anchor="ctr"/>
          <a:lstStyle/>
          <a:p>
            <a:pPr marL="0" indent="0">
              <a:buNone/>
            </a:pPr>
            <a:r>
              <a:rPr lang="en-US" sz="3200" b="1" dirty="0">
                <a:solidFill>
                  <a:srgbClr val="F9B934"/>
                </a:solidFill>
                <a:latin typeface="Calibri" pitchFamily="34" charset="0"/>
                <a:ea typeface="Calibri" pitchFamily="34" charset="-122"/>
                <a:cs typeface="Calibri" pitchFamily="34" charset="-120"/>
              </a:rPr>
              <a:t>328 h</a:t>
            </a:r>
            <a:endParaRPr lang="en-US" sz="3200" dirty="0"/>
          </a:p>
        </p:txBody>
      </p:sp>
      <p:sp>
        <p:nvSpPr>
          <p:cNvPr id="9" name="Text 7"/>
          <p:cNvSpPr txBox="1"/>
          <p:nvPr/>
        </p:nvSpPr>
        <p:spPr>
          <a:xfrm>
            <a:off x="1965960" y="2496312"/>
            <a:ext cx="1645920" cy="8229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de desarrollo: justo lo que suma el trabajo pendiente</a:t>
            </a:r>
            <a:endParaRPr lang="en-US" sz="1150" dirty="0"/>
          </a:p>
        </p:txBody>
      </p:sp>
      <p:sp>
        <p:nvSpPr>
          <p:cNvPr id="10" name="Shape 8"/>
          <p:cNvSpPr/>
          <p:nvPr/>
        </p:nvSpPr>
        <p:spPr>
          <a:xfrm>
            <a:off x="457200" y="3547872"/>
            <a:ext cx="3246120" cy="1005840"/>
          </a:xfrm>
          <a:prstGeom prst="roundRect">
            <a:avLst>
              <a:gd name="adj" fmla="val 7273"/>
            </a:avLst>
          </a:prstGeom>
          <a:solidFill>
            <a:srgbClr val="EDF1F7"/>
          </a:solidFill>
          <a:ln w="12700">
            <a:solidFill>
              <a:srgbClr val="EDF1F7"/>
            </a:solidFill>
            <a:prstDash val="solid"/>
          </a:ln>
        </p:spPr>
        <p:txBody>
          <a:bodyPr/>
          <a:lstStyle/>
          <a:p>
            <a:endParaRPr lang="es-CL"/>
          </a:p>
        </p:txBody>
      </p:sp>
      <p:sp>
        <p:nvSpPr>
          <p:cNvPr id="11" name="Text 9"/>
          <p:cNvSpPr txBox="1"/>
          <p:nvPr/>
        </p:nvSpPr>
        <p:spPr>
          <a:xfrm>
            <a:off x="640080" y="3621024"/>
            <a:ext cx="1325880" cy="859536"/>
          </a:xfrm>
          <a:prstGeom prst="rect">
            <a:avLst/>
          </a:prstGeom>
          <a:noFill/>
          <a:ln/>
        </p:spPr>
        <p:txBody>
          <a:bodyPr wrap="square" lIns="0" tIns="0" rIns="0" bIns="0" rtlCol="0" anchor="ctr"/>
          <a:lstStyle/>
          <a:p>
            <a:pPr marL="0" indent="0">
              <a:buNone/>
            </a:pPr>
            <a:r>
              <a:rPr lang="en-US" sz="3200" b="1" dirty="0">
                <a:solidFill>
                  <a:srgbClr val="0A2240"/>
                </a:solidFill>
                <a:latin typeface="Calibri" pitchFamily="34" charset="0"/>
                <a:ea typeface="Calibri" pitchFamily="34" charset="-122"/>
                <a:cs typeface="Calibri" pitchFamily="34" charset="-120"/>
              </a:rPr>
              <a:t>$0</a:t>
            </a:r>
            <a:endParaRPr lang="en-US" sz="3200" dirty="0"/>
          </a:p>
        </p:txBody>
      </p:sp>
      <p:sp>
        <p:nvSpPr>
          <p:cNvPr id="12" name="Text 10"/>
          <p:cNvSpPr txBox="1"/>
          <p:nvPr/>
        </p:nvSpPr>
        <p:spPr>
          <a:xfrm>
            <a:off x="1965960" y="3639312"/>
            <a:ext cx="1645920" cy="822960"/>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en herramientas: todas son gratuitas o de código abierto</a:t>
            </a:r>
            <a:endParaRPr lang="en-US" sz="1150" dirty="0"/>
          </a:p>
        </p:txBody>
      </p:sp>
      <p:sp>
        <p:nvSpPr>
          <p:cNvPr id="13" name="Text 11"/>
          <p:cNvSpPr txBox="1"/>
          <p:nvPr/>
        </p:nvSpPr>
        <p:spPr>
          <a:xfrm>
            <a:off x="4069080" y="1261872"/>
            <a:ext cx="4572000" cy="274320"/>
          </a:xfrm>
          <a:prstGeom prst="rect">
            <a:avLst/>
          </a:prstGeom>
          <a:noFill/>
          <a:ln/>
        </p:spPr>
        <p:txBody>
          <a:bodyPr wrap="square" lIns="0" tIns="0" rIns="0" bIns="0" rtlCol="0" anchor="t"/>
          <a:lstStyle/>
          <a:p>
            <a:pPr marL="0" indent="0">
              <a:buNone/>
            </a:pPr>
            <a:r>
              <a:rPr lang="en-US" sz="1400" b="1" dirty="0">
                <a:solidFill>
                  <a:srgbClr val="0A2240"/>
                </a:solidFill>
                <a:latin typeface="Calibri" pitchFamily="34" charset="0"/>
                <a:ea typeface="Calibri" pitchFamily="34" charset="-122"/>
                <a:cs typeface="Calibri" pitchFamily="34" charset="-120"/>
              </a:rPr>
              <a:t>Riesgos y cómo los abordamos</a:t>
            </a:r>
            <a:endParaRPr lang="en-US" sz="1400" dirty="0"/>
          </a:p>
        </p:txBody>
      </p:sp>
      <p:sp>
        <p:nvSpPr>
          <p:cNvPr id="14" name="Shape 12"/>
          <p:cNvSpPr/>
          <p:nvPr/>
        </p:nvSpPr>
        <p:spPr>
          <a:xfrm>
            <a:off x="4069080" y="1700784"/>
            <a:ext cx="329184" cy="329184"/>
          </a:xfrm>
          <a:prstGeom prst="ellipse">
            <a:avLst/>
          </a:prstGeom>
          <a:solidFill>
            <a:srgbClr val="B8474A"/>
          </a:solidFill>
          <a:ln w="12700">
            <a:solidFill>
              <a:srgbClr val="B8474A"/>
            </a:solidFill>
            <a:prstDash val="solid"/>
          </a:ln>
        </p:spPr>
        <p:txBody>
          <a:bodyPr/>
          <a:lstStyle/>
          <a:p>
            <a:endParaRPr lang="es-CL"/>
          </a:p>
        </p:txBody>
      </p:sp>
      <p:pic>
        <p:nvPicPr>
          <p:cNvPr id="15" name="Image 0" descr="preencoded.png"/>
          <p:cNvPicPr>
            <a:picLocks noChangeAspect="1"/>
          </p:cNvPicPr>
          <p:nvPr/>
        </p:nvPicPr>
        <p:blipFill>
          <a:blip r:embed="rId3"/>
          <a:stretch>
            <a:fillRect/>
          </a:stretch>
        </p:blipFill>
        <p:spPr>
          <a:xfrm>
            <a:off x="4159606" y="1791310"/>
            <a:ext cx="148133" cy="148133"/>
          </a:xfrm>
          <a:prstGeom prst="rect">
            <a:avLst/>
          </a:prstGeom>
        </p:spPr>
      </p:pic>
      <p:sp>
        <p:nvSpPr>
          <p:cNvPr id="16" name="Text 13"/>
          <p:cNvSpPr txBox="1"/>
          <p:nvPr/>
        </p:nvSpPr>
        <p:spPr>
          <a:xfrm>
            <a:off x="4526280" y="1627632"/>
            <a:ext cx="4160520" cy="548640"/>
          </a:xfrm>
          <a:prstGeom prst="rect">
            <a:avLst/>
          </a:prstGeom>
          <a:noFill/>
          <a:ln/>
        </p:spPr>
        <p:txBody>
          <a:bodyPr wrap="square" lIns="0" tIns="0" rIns="0" bIns="0"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Plazo adelantado al 8 de noviembre</a:t>
            </a:r>
            <a:endParaRPr lang="en-US" sz="1200" dirty="0"/>
          </a:p>
          <a:p>
            <a:pPr marL="0" indent="0">
              <a:buNone/>
            </a:pPr>
            <a:r>
              <a:rPr lang="en-US" sz="1100" dirty="0">
                <a:solidFill>
                  <a:srgbClr val="1E2A3A"/>
                </a:solidFill>
                <a:latin typeface="Calibri" pitchFamily="34" charset="0"/>
                <a:ea typeface="Calibri" pitchFamily="34" charset="-122"/>
                <a:cs typeface="Calibri" pitchFamily="34" charset="-120"/>
              </a:rPr>
              <a:t>Si vamos atrasados, reducimos primero el panel de administración y, si no basta, quitamos el pago simulado, consultándolo antes.</a:t>
            </a:r>
            <a:endParaRPr lang="en-US" sz="1200" dirty="0"/>
          </a:p>
        </p:txBody>
      </p:sp>
      <p:sp>
        <p:nvSpPr>
          <p:cNvPr id="17" name="Shape 14"/>
          <p:cNvSpPr/>
          <p:nvPr/>
        </p:nvSpPr>
        <p:spPr>
          <a:xfrm>
            <a:off x="4069080" y="2304288"/>
            <a:ext cx="329184" cy="329184"/>
          </a:xfrm>
          <a:prstGeom prst="ellipse">
            <a:avLst/>
          </a:prstGeom>
          <a:solidFill>
            <a:srgbClr val="1D4E89"/>
          </a:solidFill>
          <a:ln w="12700">
            <a:solidFill>
              <a:srgbClr val="1D4E89"/>
            </a:solidFill>
            <a:prstDash val="solid"/>
          </a:ln>
        </p:spPr>
        <p:txBody>
          <a:bodyPr/>
          <a:lstStyle/>
          <a:p>
            <a:endParaRPr lang="es-CL"/>
          </a:p>
        </p:txBody>
      </p:sp>
      <p:pic>
        <p:nvPicPr>
          <p:cNvPr id="18" name="Image 1" descr="preencoded.png"/>
          <p:cNvPicPr>
            <a:picLocks noChangeAspect="1"/>
          </p:cNvPicPr>
          <p:nvPr/>
        </p:nvPicPr>
        <p:blipFill>
          <a:blip r:embed="rId3"/>
          <a:stretch>
            <a:fillRect/>
          </a:stretch>
        </p:blipFill>
        <p:spPr>
          <a:xfrm>
            <a:off x="4159606" y="2394814"/>
            <a:ext cx="148133" cy="148133"/>
          </a:xfrm>
          <a:prstGeom prst="rect">
            <a:avLst/>
          </a:prstGeom>
        </p:spPr>
      </p:pic>
      <p:sp>
        <p:nvSpPr>
          <p:cNvPr id="19" name="Text 15"/>
          <p:cNvSpPr txBox="1"/>
          <p:nvPr/>
        </p:nvSpPr>
        <p:spPr>
          <a:xfrm>
            <a:off x="4526280" y="2231136"/>
            <a:ext cx="4160520" cy="548640"/>
          </a:xfrm>
          <a:prstGeom prst="rect">
            <a:avLst/>
          </a:prstGeom>
          <a:noFill/>
          <a:ln/>
        </p:spPr>
        <p:txBody>
          <a:bodyPr wrap="square" lIns="0" tIns="0" rIns="0" bIns="0"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Práctica profesional de los tres</a:t>
            </a:r>
            <a:endParaRPr lang="en-US" sz="1200" dirty="0"/>
          </a:p>
          <a:p>
            <a:pPr marL="0" indent="0">
              <a:buNone/>
            </a:pPr>
            <a:r>
              <a:rPr lang="en-US" sz="1100" dirty="0">
                <a:solidFill>
                  <a:srgbClr val="1E2A3A"/>
                </a:solidFill>
                <a:latin typeface="Calibri" pitchFamily="34" charset="0"/>
                <a:ea typeface="Calibri" pitchFamily="34" charset="-122"/>
                <a:cs typeface="Calibri" pitchFamily="34" charset="-120"/>
              </a:rPr>
              <a:t>Cada lunes declaramos las horas disponibles de la semana.</a:t>
            </a:r>
            <a:endParaRPr lang="en-US" sz="1200" dirty="0"/>
          </a:p>
        </p:txBody>
      </p:sp>
      <p:sp>
        <p:nvSpPr>
          <p:cNvPr id="20" name="Shape 16"/>
          <p:cNvSpPr/>
          <p:nvPr/>
        </p:nvSpPr>
        <p:spPr>
          <a:xfrm>
            <a:off x="4069080" y="2907792"/>
            <a:ext cx="329184" cy="329184"/>
          </a:xfrm>
          <a:prstGeom prst="ellipse">
            <a:avLst/>
          </a:prstGeom>
          <a:solidFill>
            <a:srgbClr val="1D4E89"/>
          </a:solidFill>
          <a:ln w="12700">
            <a:solidFill>
              <a:srgbClr val="1D4E89"/>
            </a:solidFill>
            <a:prstDash val="solid"/>
          </a:ln>
        </p:spPr>
        <p:txBody>
          <a:bodyPr/>
          <a:lstStyle/>
          <a:p>
            <a:endParaRPr lang="es-CL"/>
          </a:p>
        </p:txBody>
      </p:sp>
      <p:pic>
        <p:nvPicPr>
          <p:cNvPr id="21" name="Image 2" descr="preencoded.png"/>
          <p:cNvPicPr>
            <a:picLocks noChangeAspect="1"/>
          </p:cNvPicPr>
          <p:nvPr/>
        </p:nvPicPr>
        <p:blipFill>
          <a:blip r:embed="rId3"/>
          <a:stretch>
            <a:fillRect/>
          </a:stretch>
        </p:blipFill>
        <p:spPr>
          <a:xfrm>
            <a:off x="4159606" y="2998318"/>
            <a:ext cx="148133" cy="148133"/>
          </a:xfrm>
          <a:prstGeom prst="rect">
            <a:avLst/>
          </a:prstGeom>
        </p:spPr>
      </p:pic>
      <p:sp>
        <p:nvSpPr>
          <p:cNvPr id="22" name="Text 17"/>
          <p:cNvSpPr txBox="1"/>
          <p:nvPr/>
        </p:nvSpPr>
        <p:spPr>
          <a:xfrm>
            <a:off x="4526280" y="2834640"/>
            <a:ext cx="4160520" cy="548640"/>
          </a:xfrm>
          <a:prstGeom prst="rect">
            <a:avLst/>
          </a:prstGeom>
          <a:noFill/>
          <a:ln/>
        </p:spPr>
        <p:txBody>
          <a:bodyPr wrap="square" lIns="0" tIns="0" rIns="0" bIns="0"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Transcripción de las mallas</a:t>
            </a:r>
            <a:endParaRPr lang="en-US" sz="1200" dirty="0"/>
          </a:p>
          <a:p>
            <a:pPr marL="0" indent="0">
              <a:buNone/>
            </a:pPr>
            <a:r>
              <a:rPr lang="en-US" sz="1100" dirty="0">
                <a:solidFill>
                  <a:srgbClr val="1E2A3A"/>
                </a:solidFill>
                <a:latin typeface="Calibri" pitchFamily="34" charset="0"/>
                <a:ea typeface="Calibri" pitchFamily="34" charset="-122"/>
                <a:cs typeface="Calibri" pitchFamily="34" charset="-120"/>
              </a:rPr>
              <a:t>Si se alarga, cerramos con las 3 carreras comprometidas.</a:t>
            </a:r>
            <a:endParaRPr lang="en-US" sz="1200" dirty="0"/>
          </a:p>
        </p:txBody>
      </p:sp>
      <p:sp>
        <p:nvSpPr>
          <p:cNvPr id="23" name="Shape 18"/>
          <p:cNvSpPr/>
          <p:nvPr/>
        </p:nvSpPr>
        <p:spPr>
          <a:xfrm>
            <a:off x="4069080" y="3511296"/>
            <a:ext cx="329184" cy="329184"/>
          </a:xfrm>
          <a:prstGeom prst="ellipse">
            <a:avLst/>
          </a:prstGeom>
          <a:solidFill>
            <a:srgbClr val="1D4E89"/>
          </a:solidFill>
          <a:ln w="12700">
            <a:solidFill>
              <a:srgbClr val="1D4E89"/>
            </a:solidFill>
            <a:prstDash val="solid"/>
          </a:ln>
        </p:spPr>
        <p:txBody>
          <a:bodyPr/>
          <a:lstStyle/>
          <a:p>
            <a:endParaRPr lang="es-CL"/>
          </a:p>
        </p:txBody>
      </p:sp>
      <p:pic>
        <p:nvPicPr>
          <p:cNvPr id="24" name="Image 3" descr="preencoded.png"/>
          <p:cNvPicPr>
            <a:picLocks noChangeAspect="1"/>
          </p:cNvPicPr>
          <p:nvPr/>
        </p:nvPicPr>
        <p:blipFill>
          <a:blip r:embed="rId3"/>
          <a:stretch>
            <a:fillRect/>
          </a:stretch>
        </p:blipFill>
        <p:spPr>
          <a:xfrm>
            <a:off x="4159606" y="3601822"/>
            <a:ext cx="148133" cy="148133"/>
          </a:xfrm>
          <a:prstGeom prst="rect">
            <a:avLst/>
          </a:prstGeom>
        </p:spPr>
      </p:pic>
      <p:sp>
        <p:nvSpPr>
          <p:cNvPr id="25" name="Text 19"/>
          <p:cNvSpPr txBox="1"/>
          <p:nvPr/>
        </p:nvSpPr>
        <p:spPr>
          <a:xfrm>
            <a:off x="4526280" y="3438144"/>
            <a:ext cx="4160520" cy="548640"/>
          </a:xfrm>
          <a:prstGeom prst="rect">
            <a:avLst/>
          </a:prstGeom>
          <a:noFill/>
          <a:ln/>
        </p:spPr>
        <p:txBody>
          <a:bodyPr wrap="square" lIns="0" tIns="0" rIns="0" bIns="0"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Ley N.º 21.719 de datos personales</a:t>
            </a:r>
            <a:endParaRPr lang="en-US" sz="1200" dirty="0"/>
          </a:p>
          <a:p>
            <a:pPr marL="0" indent="0">
              <a:buNone/>
            </a:pPr>
            <a:r>
              <a:rPr lang="en-US" sz="1100" dirty="0">
                <a:solidFill>
                  <a:srgbClr val="1E2A3A"/>
                </a:solidFill>
                <a:latin typeface="Calibri" pitchFamily="34" charset="0"/>
                <a:ea typeface="Calibri" pitchFamily="34" charset="-122"/>
                <a:cs typeface="Calibri" pitchFamily="34" charset="-120"/>
              </a:rPr>
              <a:t>Pedimos solo los datos necesarios y usamos datos de prueba.</a:t>
            </a:r>
            <a:endParaRPr lang="en-US" sz="1200" dirty="0"/>
          </a:p>
        </p:txBody>
      </p:sp>
      <p:sp>
        <p:nvSpPr>
          <p:cNvPr id="26" name="Shape 20"/>
          <p:cNvSpPr/>
          <p:nvPr/>
        </p:nvSpPr>
        <p:spPr>
          <a:xfrm>
            <a:off x="4069080" y="4114800"/>
            <a:ext cx="329184" cy="329184"/>
          </a:xfrm>
          <a:prstGeom prst="ellipse">
            <a:avLst/>
          </a:prstGeom>
          <a:solidFill>
            <a:srgbClr val="1D4E89"/>
          </a:solidFill>
          <a:ln w="12700">
            <a:solidFill>
              <a:srgbClr val="1D4E89"/>
            </a:solidFill>
            <a:prstDash val="solid"/>
          </a:ln>
        </p:spPr>
        <p:txBody>
          <a:bodyPr/>
          <a:lstStyle/>
          <a:p>
            <a:endParaRPr lang="es-CL"/>
          </a:p>
        </p:txBody>
      </p:sp>
      <p:pic>
        <p:nvPicPr>
          <p:cNvPr id="27" name="Image 4" descr="preencoded.png"/>
          <p:cNvPicPr>
            <a:picLocks noChangeAspect="1"/>
          </p:cNvPicPr>
          <p:nvPr/>
        </p:nvPicPr>
        <p:blipFill>
          <a:blip r:embed="rId3"/>
          <a:stretch>
            <a:fillRect/>
          </a:stretch>
        </p:blipFill>
        <p:spPr>
          <a:xfrm>
            <a:off x="4159606" y="4205326"/>
            <a:ext cx="148133" cy="148133"/>
          </a:xfrm>
          <a:prstGeom prst="rect">
            <a:avLst/>
          </a:prstGeom>
        </p:spPr>
      </p:pic>
      <p:sp>
        <p:nvSpPr>
          <p:cNvPr id="28" name="Text 21"/>
          <p:cNvSpPr txBox="1"/>
          <p:nvPr/>
        </p:nvSpPr>
        <p:spPr>
          <a:xfrm>
            <a:off x="4526280" y="4041648"/>
            <a:ext cx="4160520" cy="548640"/>
          </a:xfrm>
          <a:prstGeom prst="rect">
            <a:avLst/>
          </a:prstGeom>
          <a:noFill/>
          <a:ln/>
        </p:spPr>
        <p:txBody>
          <a:bodyPr wrap="square" lIns="0" tIns="0" rIns="0" bIns="0"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Computadores con poca memoria</a:t>
            </a:r>
            <a:endParaRPr lang="en-US" sz="1200" dirty="0"/>
          </a:p>
          <a:p>
            <a:pPr marL="0" indent="0">
              <a:buNone/>
            </a:pPr>
            <a:r>
              <a:rPr lang="en-US" sz="1100" dirty="0">
                <a:solidFill>
                  <a:srgbClr val="1E2A3A"/>
                </a:solidFill>
                <a:latin typeface="Calibri" pitchFamily="34" charset="0"/>
                <a:ea typeface="Calibri" pitchFamily="34" charset="-122"/>
                <a:cs typeface="Calibri" pitchFamily="34" charset="-120"/>
              </a:rPr>
              <a:t>Una sola instancia de PostgreSQL con las cuatro bases.</a:t>
            </a:r>
            <a:endParaRPr lang="en-US" sz="1200" dirty="0"/>
          </a:p>
        </p:txBody>
      </p:sp>
      <p:sp>
        <p:nvSpPr>
          <p:cNvPr id="29"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1D4E89"/>
                </a:solidFill>
                <a:latin typeface="Calibri" pitchFamily="34" charset="0"/>
                <a:ea typeface="Calibri" pitchFamily="34" charset="-122"/>
                <a:cs typeface="Calibri" pitchFamily="34" charset="-120"/>
              </a:rPr>
              <a:t>EVIDENCIAS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2800" b="1" dirty="0">
                <a:solidFill>
                  <a:srgbClr val="0A2240"/>
                </a:solidFill>
                <a:latin typeface="Calibri" pitchFamily="34" charset="0"/>
                <a:ea typeface="Calibri" pitchFamily="34" charset="-122"/>
                <a:cs typeface="Calibri" pitchFamily="34" charset="-120"/>
              </a:rPr>
              <a:t>Lo que ya está hecho y lo que vamos a entregar</a:t>
            </a:r>
            <a:endParaRPr lang="en-US" sz="2800" dirty="0"/>
          </a:p>
        </p:txBody>
      </p:sp>
      <p:sp>
        <p:nvSpPr>
          <p:cNvPr id="4" name="Text 2"/>
          <p:cNvSpPr txBox="1"/>
          <p:nvPr/>
        </p:nvSpPr>
        <p:spPr>
          <a:xfrm>
            <a:off x="457200" y="1234440"/>
            <a:ext cx="3657600" cy="274320"/>
          </a:xfrm>
          <a:prstGeom prst="rect">
            <a:avLst/>
          </a:prstGeom>
          <a:noFill/>
          <a:ln/>
        </p:spPr>
        <p:txBody>
          <a:bodyPr wrap="square" lIns="0" tIns="0" rIns="0" bIns="0" rtlCol="0" anchor="t"/>
          <a:lstStyle/>
          <a:p>
            <a:pPr marL="0" indent="0">
              <a:buNone/>
            </a:pPr>
            <a:r>
              <a:rPr lang="en-US" sz="1400" b="1" dirty="0">
                <a:solidFill>
                  <a:srgbClr val="2E8B57"/>
                </a:solidFill>
                <a:latin typeface="Calibri" pitchFamily="34" charset="0"/>
                <a:ea typeface="Calibri" pitchFamily="34" charset="-122"/>
                <a:cs typeface="Calibri" pitchFamily="34" charset="-120"/>
              </a:rPr>
              <a:t>Ya está hecho</a:t>
            </a:r>
            <a:endParaRPr lang="en-US" sz="1400" dirty="0"/>
          </a:p>
        </p:txBody>
      </p:sp>
      <p:sp>
        <p:nvSpPr>
          <p:cNvPr id="5" name="Shape 3"/>
          <p:cNvSpPr/>
          <p:nvPr/>
        </p:nvSpPr>
        <p:spPr>
          <a:xfrm>
            <a:off x="457200" y="1627632"/>
            <a:ext cx="256032" cy="256032"/>
          </a:xfrm>
          <a:prstGeom prst="ellipse">
            <a:avLst/>
          </a:prstGeom>
          <a:solidFill>
            <a:srgbClr val="2E8B57"/>
          </a:solidFill>
          <a:ln w="12700">
            <a:solidFill>
              <a:srgbClr val="2E8B57"/>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521208" y="1691640"/>
            <a:ext cx="128016" cy="128016"/>
          </a:xfrm>
          <a:prstGeom prst="rect">
            <a:avLst/>
          </a:prstGeom>
        </p:spPr>
      </p:pic>
      <p:sp>
        <p:nvSpPr>
          <p:cNvPr id="7" name="Text 4"/>
          <p:cNvSpPr txBox="1"/>
          <p:nvPr/>
        </p:nvSpPr>
        <p:spPr>
          <a:xfrm>
            <a:off x="822960" y="1572768"/>
            <a:ext cx="3337560" cy="384048"/>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Planificación completa: alcance, arquitectura, equipo, tiempo y calidad.</a:t>
            </a:r>
            <a:endParaRPr lang="en-US" sz="1150" dirty="0"/>
          </a:p>
        </p:txBody>
      </p:sp>
      <p:sp>
        <p:nvSpPr>
          <p:cNvPr id="8" name="Shape 5"/>
          <p:cNvSpPr/>
          <p:nvPr/>
        </p:nvSpPr>
        <p:spPr>
          <a:xfrm>
            <a:off x="457200" y="2057400"/>
            <a:ext cx="256032" cy="256032"/>
          </a:xfrm>
          <a:prstGeom prst="ellipse">
            <a:avLst/>
          </a:prstGeom>
          <a:solidFill>
            <a:srgbClr val="2E8B57"/>
          </a:solidFill>
          <a:ln w="12700">
            <a:solidFill>
              <a:srgbClr val="2E8B57"/>
            </a:solidFill>
            <a:prstDash val="solid"/>
          </a:ln>
        </p:spPr>
        <p:txBody>
          <a:bodyPr/>
          <a:lstStyle/>
          <a:p>
            <a:endParaRPr lang="es-CL"/>
          </a:p>
        </p:txBody>
      </p:sp>
      <p:pic>
        <p:nvPicPr>
          <p:cNvPr id="9" name="Image 1" descr="preencoded.png"/>
          <p:cNvPicPr>
            <a:picLocks noChangeAspect="1"/>
          </p:cNvPicPr>
          <p:nvPr/>
        </p:nvPicPr>
        <p:blipFill>
          <a:blip r:embed="rId3"/>
          <a:stretch>
            <a:fillRect/>
          </a:stretch>
        </p:blipFill>
        <p:spPr>
          <a:xfrm>
            <a:off x="521208" y="2121408"/>
            <a:ext cx="128016" cy="128016"/>
          </a:xfrm>
          <a:prstGeom prst="rect">
            <a:avLst/>
          </a:prstGeom>
        </p:spPr>
      </p:pic>
      <p:sp>
        <p:nvSpPr>
          <p:cNvPr id="10" name="Text 6"/>
          <p:cNvSpPr txBox="1"/>
          <p:nvPr/>
        </p:nvSpPr>
        <p:spPr>
          <a:xfrm>
            <a:off x="822960" y="2002536"/>
            <a:ext cx="3337560" cy="384048"/>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Cimientos: los cuatro servicios responden a través del gateway.</a:t>
            </a:r>
            <a:endParaRPr lang="en-US" sz="1150" dirty="0"/>
          </a:p>
        </p:txBody>
      </p:sp>
      <p:sp>
        <p:nvSpPr>
          <p:cNvPr id="11" name="Shape 7"/>
          <p:cNvSpPr/>
          <p:nvPr/>
        </p:nvSpPr>
        <p:spPr>
          <a:xfrm>
            <a:off x="457200" y="2487168"/>
            <a:ext cx="256032" cy="256032"/>
          </a:xfrm>
          <a:prstGeom prst="ellipse">
            <a:avLst/>
          </a:prstGeom>
          <a:solidFill>
            <a:srgbClr val="2E8B57"/>
          </a:solidFill>
          <a:ln w="12700">
            <a:solidFill>
              <a:srgbClr val="2E8B57"/>
            </a:solidFill>
            <a:prstDash val="solid"/>
          </a:ln>
        </p:spPr>
        <p:txBody>
          <a:bodyPr/>
          <a:lstStyle/>
          <a:p>
            <a:endParaRPr lang="es-CL"/>
          </a:p>
        </p:txBody>
      </p:sp>
      <p:pic>
        <p:nvPicPr>
          <p:cNvPr id="12" name="Image 2" descr="preencoded.png"/>
          <p:cNvPicPr>
            <a:picLocks noChangeAspect="1"/>
          </p:cNvPicPr>
          <p:nvPr/>
        </p:nvPicPr>
        <p:blipFill>
          <a:blip r:embed="rId3"/>
          <a:stretch>
            <a:fillRect/>
          </a:stretch>
        </p:blipFill>
        <p:spPr>
          <a:xfrm>
            <a:off x="521208" y="2551176"/>
            <a:ext cx="128016" cy="128016"/>
          </a:xfrm>
          <a:prstGeom prst="rect">
            <a:avLst/>
          </a:prstGeom>
        </p:spPr>
      </p:pic>
      <p:sp>
        <p:nvSpPr>
          <p:cNvPr id="13" name="Text 8"/>
          <p:cNvSpPr txBox="1"/>
          <p:nvPr/>
        </p:nvSpPr>
        <p:spPr>
          <a:xfrm>
            <a:off x="822960" y="2432304"/>
            <a:ext cx="3337560" cy="384048"/>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Correo de desarrollo listo para los avisos.</a:t>
            </a:r>
            <a:endParaRPr lang="en-US" sz="1150" dirty="0"/>
          </a:p>
        </p:txBody>
      </p:sp>
      <p:sp>
        <p:nvSpPr>
          <p:cNvPr id="14" name="Shape 9"/>
          <p:cNvSpPr/>
          <p:nvPr/>
        </p:nvSpPr>
        <p:spPr>
          <a:xfrm>
            <a:off x="457200" y="2926080"/>
            <a:ext cx="3703320" cy="1810512"/>
          </a:xfrm>
          <a:prstGeom prst="roundRect">
            <a:avLst>
              <a:gd name="adj" fmla="val 4040"/>
            </a:avLst>
          </a:prstGeom>
          <a:solidFill>
            <a:srgbClr val="F4F6F9"/>
          </a:solidFill>
          <a:ln w="12700">
            <a:solidFill>
              <a:srgbClr val="C9D3E3"/>
            </a:solidFill>
            <a:prstDash val="solid"/>
          </a:ln>
        </p:spPr>
        <p:txBody>
          <a:bodyPr/>
          <a:lstStyle/>
          <a:p>
            <a:endParaRPr lang="es-CL"/>
          </a:p>
        </p:txBody>
      </p:sp>
      <p:pic>
        <p:nvPicPr>
          <p:cNvPr id="15" name="Image 3" descr="sistema_levantado_recorte.png"/>
          <p:cNvPicPr>
            <a:picLocks noChangeAspect="1"/>
          </p:cNvPicPr>
          <p:nvPr/>
        </p:nvPicPr>
        <p:blipFill>
          <a:blip r:embed="rId4"/>
          <a:stretch>
            <a:fillRect/>
          </a:stretch>
        </p:blipFill>
        <p:spPr>
          <a:xfrm>
            <a:off x="699165" y="2962656"/>
            <a:ext cx="3219389" cy="1737360"/>
          </a:xfrm>
          <a:prstGeom prst="rect">
            <a:avLst/>
          </a:prstGeom>
        </p:spPr>
      </p:pic>
      <p:sp>
        <p:nvSpPr>
          <p:cNvPr id="16" name="Shape 10"/>
          <p:cNvSpPr/>
          <p:nvPr/>
        </p:nvSpPr>
        <p:spPr>
          <a:xfrm>
            <a:off x="4434840" y="1234440"/>
            <a:ext cx="4251960" cy="1645920"/>
          </a:xfrm>
          <a:prstGeom prst="roundRect">
            <a:avLst>
              <a:gd name="adj" fmla="val 4444"/>
            </a:avLst>
          </a:prstGeom>
          <a:solidFill>
            <a:srgbClr val="EDF1F7"/>
          </a:solidFill>
          <a:ln w="12700">
            <a:solidFill>
              <a:srgbClr val="EDF1F7"/>
            </a:solidFill>
            <a:prstDash val="solid"/>
          </a:ln>
        </p:spPr>
        <p:txBody>
          <a:bodyPr/>
          <a:lstStyle/>
          <a:p>
            <a:endParaRPr lang="es-CL"/>
          </a:p>
        </p:txBody>
      </p:sp>
      <p:sp>
        <p:nvSpPr>
          <p:cNvPr id="17" name="Text 11"/>
          <p:cNvSpPr txBox="1"/>
          <p:nvPr/>
        </p:nvSpPr>
        <p:spPr>
          <a:xfrm>
            <a:off x="4617720" y="1344168"/>
            <a:ext cx="3931920" cy="274320"/>
          </a:xfrm>
          <a:prstGeom prst="rect">
            <a:avLst/>
          </a:prstGeom>
          <a:noFill/>
          <a:ln/>
        </p:spPr>
        <p:txBody>
          <a:bodyPr wrap="square" lIns="0" tIns="0" rIns="0" bIns="0" rtlCol="0" anchor="t"/>
          <a:lstStyle/>
          <a:p>
            <a:pPr marL="0" indent="0">
              <a:buNone/>
            </a:pPr>
            <a:r>
              <a:rPr lang="en-US" sz="1350" b="1" dirty="0">
                <a:solidFill>
                  <a:srgbClr val="1D4E89"/>
                </a:solidFill>
                <a:latin typeface="Calibri" pitchFamily="34" charset="0"/>
                <a:ea typeface="Calibri" pitchFamily="34" charset="-122"/>
                <a:cs typeface="Calibri" pitchFamily="34" charset="-120"/>
              </a:rPr>
              <a:t>Avance · semana 10</a:t>
            </a:r>
            <a:endParaRPr lang="en-US" sz="1350" dirty="0"/>
          </a:p>
        </p:txBody>
      </p:sp>
      <p:sp>
        <p:nvSpPr>
          <p:cNvPr id="18" name="Text 12"/>
          <p:cNvSpPr txBox="1"/>
          <p:nvPr/>
        </p:nvSpPr>
        <p:spPr>
          <a:xfrm>
            <a:off x="4617720" y="1655064"/>
            <a:ext cx="3931920" cy="117043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Repositorio con la versión v0.1 y Pull Request revisados.</a:t>
            </a:r>
            <a:endParaRPr lang="en-US" sz="1150" dirty="0"/>
          </a:p>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Registro e inicio de sesión funcionando, y el avance del sprint 2.</a:t>
            </a:r>
            <a:endParaRPr lang="en-US" sz="1150" dirty="0"/>
          </a:p>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Documento de diseño con diagramas UML.</a:t>
            </a:r>
            <a:endParaRPr lang="en-US" sz="1150" dirty="0"/>
          </a:p>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Artefactos Scrum de cada sprint.</a:t>
            </a:r>
            <a:endParaRPr lang="en-US" sz="1150" dirty="0"/>
          </a:p>
        </p:txBody>
      </p:sp>
      <p:sp>
        <p:nvSpPr>
          <p:cNvPr id="19" name="Shape 13"/>
          <p:cNvSpPr/>
          <p:nvPr/>
        </p:nvSpPr>
        <p:spPr>
          <a:xfrm>
            <a:off x="4434840" y="3017520"/>
            <a:ext cx="4251960" cy="1645920"/>
          </a:xfrm>
          <a:prstGeom prst="roundRect">
            <a:avLst>
              <a:gd name="adj" fmla="val 4444"/>
            </a:avLst>
          </a:prstGeom>
          <a:solidFill>
            <a:srgbClr val="EDF1F7"/>
          </a:solidFill>
          <a:ln w="12700">
            <a:solidFill>
              <a:srgbClr val="EDF1F7"/>
            </a:solidFill>
            <a:prstDash val="solid"/>
          </a:ln>
        </p:spPr>
        <p:txBody>
          <a:bodyPr/>
          <a:lstStyle/>
          <a:p>
            <a:endParaRPr lang="es-CL"/>
          </a:p>
        </p:txBody>
      </p:sp>
      <p:sp>
        <p:nvSpPr>
          <p:cNvPr id="20" name="Text 14"/>
          <p:cNvSpPr txBox="1"/>
          <p:nvPr/>
        </p:nvSpPr>
        <p:spPr>
          <a:xfrm>
            <a:off x="4617720" y="3127248"/>
            <a:ext cx="3931920" cy="274320"/>
          </a:xfrm>
          <a:prstGeom prst="rect">
            <a:avLst/>
          </a:prstGeom>
          <a:noFill/>
          <a:ln/>
        </p:spPr>
        <p:txBody>
          <a:bodyPr wrap="square" lIns="0" tIns="0" rIns="0" bIns="0" rtlCol="0" anchor="t"/>
          <a:lstStyle/>
          <a:p>
            <a:pPr marL="0" indent="0">
              <a:buNone/>
            </a:pPr>
            <a:r>
              <a:rPr lang="en-US" sz="1350" b="1" dirty="0">
                <a:solidFill>
                  <a:srgbClr val="0A2240"/>
                </a:solidFill>
                <a:latin typeface="Calibri" pitchFamily="34" charset="0"/>
                <a:ea typeface="Calibri" pitchFamily="34" charset="-122"/>
                <a:cs typeface="Calibri" pitchFamily="34" charset="-120"/>
              </a:rPr>
              <a:t>Final · semana 15</a:t>
            </a:r>
            <a:endParaRPr lang="en-US" sz="1350" dirty="0"/>
          </a:p>
        </p:txBody>
      </p:sp>
      <p:sp>
        <p:nvSpPr>
          <p:cNvPr id="21" name="Text 15"/>
          <p:cNvSpPr txBox="1"/>
          <p:nvPr/>
        </p:nvSpPr>
        <p:spPr>
          <a:xfrm>
            <a:off x="4617720" y="3438144"/>
            <a:ext cx="3931920" cy="117043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Producto mínimo viable v1.0 con los nueve criterios de aceptación.</a:t>
            </a:r>
            <a:endParaRPr lang="en-US" sz="1150" dirty="0"/>
          </a:p>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Plan de pruebas e informe de resultados.</a:t>
            </a:r>
            <a:endParaRPr lang="en-US" sz="1150" dirty="0"/>
          </a:p>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Manual técnico.</a:t>
            </a:r>
            <a:endParaRPr lang="en-US" sz="1150" dirty="0"/>
          </a:p>
          <a:p>
            <a:pPr marL="342900" indent="-342900">
              <a:spcAft>
                <a:spcPts val="300"/>
              </a:spcAft>
              <a:buSzPct val="100000"/>
              <a:buChar char="•"/>
            </a:pPr>
            <a:r>
              <a:rPr lang="en-US" sz="1150" dirty="0">
                <a:solidFill>
                  <a:srgbClr val="1E2A3A"/>
                </a:solidFill>
                <a:latin typeface="Calibri" pitchFamily="34" charset="0"/>
                <a:ea typeface="Calibri" pitchFamily="34" charset="-122"/>
                <a:cs typeface="Calibri" pitchFamily="34" charset="-120"/>
              </a:rPr>
              <a:t>Informe final con la sección de innovación.</a:t>
            </a:r>
            <a:endParaRPr lang="en-US" sz="115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3A6"/>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240"/>
        </a:solidFill>
        <a:effectLst/>
      </p:bgPr>
    </p:bg>
    <p:spTree>
      <p:nvGrpSpPr>
        <p:cNvPr id="1" name=""/>
        <p:cNvGrpSpPr/>
        <p:nvPr/>
      </p:nvGrpSpPr>
      <p:grpSpPr>
        <a:xfrm>
          <a:off x="0" y="0"/>
          <a:ext cx="0" cy="0"/>
          <a:chOff x="0" y="0"/>
          <a:chExt cx="0" cy="0"/>
        </a:xfrm>
      </p:grpSpPr>
      <p:sp>
        <p:nvSpPr>
          <p:cNvPr id="2" name="Shape 0"/>
          <p:cNvSpPr/>
          <p:nvPr/>
        </p:nvSpPr>
        <p:spPr>
          <a:xfrm flipV="1">
            <a:off x="6903720" y="982980"/>
            <a:ext cx="1211580" cy="1348740"/>
          </a:xfrm>
          <a:prstGeom prst="line">
            <a:avLst/>
          </a:prstGeom>
          <a:noFill/>
          <a:ln w="25400">
            <a:solidFill>
              <a:srgbClr val="3A5A8C"/>
            </a:solidFill>
            <a:prstDash val="solid"/>
          </a:ln>
        </p:spPr>
        <p:txBody>
          <a:bodyPr/>
          <a:lstStyle/>
          <a:p>
            <a:endParaRPr lang="es-CL"/>
          </a:p>
        </p:txBody>
      </p:sp>
      <p:sp>
        <p:nvSpPr>
          <p:cNvPr id="3" name="Shape 1"/>
          <p:cNvSpPr/>
          <p:nvPr/>
        </p:nvSpPr>
        <p:spPr>
          <a:xfrm>
            <a:off x="6903720" y="2331720"/>
            <a:ext cx="1303020" cy="1760220"/>
          </a:xfrm>
          <a:prstGeom prst="line">
            <a:avLst/>
          </a:prstGeom>
          <a:noFill/>
          <a:ln w="25400">
            <a:solidFill>
              <a:srgbClr val="3A5A8C"/>
            </a:solidFill>
            <a:prstDash val="solid"/>
          </a:ln>
        </p:spPr>
        <p:txBody>
          <a:bodyPr/>
          <a:lstStyle/>
          <a:p>
            <a:endParaRPr lang="es-CL"/>
          </a:p>
        </p:txBody>
      </p:sp>
      <p:sp>
        <p:nvSpPr>
          <p:cNvPr id="4" name="Shape 2"/>
          <p:cNvSpPr/>
          <p:nvPr/>
        </p:nvSpPr>
        <p:spPr>
          <a:xfrm flipH="1">
            <a:off x="6103620" y="2331720"/>
            <a:ext cx="800100" cy="1851660"/>
          </a:xfrm>
          <a:prstGeom prst="line">
            <a:avLst/>
          </a:prstGeom>
          <a:noFill/>
          <a:ln w="25400">
            <a:solidFill>
              <a:srgbClr val="3A5A8C"/>
            </a:solidFill>
            <a:prstDash val="solid"/>
          </a:ln>
        </p:spPr>
        <p:txBody>
          <a:bodyPr/>
          <a:lstStyle/>
          <a:p>
            <a:endParaRPr lang="es-CL"/>
          </a:p>
        </p:txBody>
      </p:sp>
      <p:sp>
        <p:nvSpPr>
          <p:cNvPr id="5" name="Shape 3"/>
          <p:cNvSpPr/>
          <p:nvPr/>
        </p:nvSpPr>
        <p:spPr>
          <a:xfrm>
            <a:off x="6035040" y="1463040"/>
            <a:ext cx="1737360" cy="1737360"/>
          </a:xfrm>
          <a:prstGeom prst="ellipse">
            <a:avLst/>
          </a:prstGeom>
          <a:solidFill>
            <a:srgbClr val="F9B934"/>
          </a:solidFill>
          <a:ln w="12700">
            <a:solidFill>
              <a:srgbClr val="F9B934"/>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6469380" y="1897380"/>
            <a:ext cx="868680" cy="868680"/>
          </a:xfrm>
          <a:prstGeom prst="rect">
            <a:avLst/>
          </a:prstGeom>
        </p:spPr>
      </p:pic>
      <p:sp>
        <p:nvSpPr>
          <p:cNvPr id="7" name="Shape 4"/>
          <p:cNvSpPr/>
          <p:nvPr/>
        </p:nvSpPr>
        <p:spPr>
          <a:xfrm>
            <a:off x="7635240" y="502920"/>
            <a:ext cx="960120" cy="960120"/>
          </a:xfrm>
          <a:prstGeom prst="ellipse">
            <a:avLst/>
          </a:prstGeom>
          <a:solidFill>
            <a:srgbClr val="163A6B"/>
          </a:solidFill>
          <a:ln w="12700">
            <a:solidFill>
              <a:srgbClr val="163A6B"/>
            </a:solidFill>
            <a:prstDash val="solid"/>
          </a:ln>
        </p:spPr>
        <p:txBody>
          <a:bodyPr/>
          <a:lstStyle/>
          <a:p>
            <a:endParaRPr lang="es-CL"/>
          </a:p>
        </p:txBody>
      </p:sp>
      <p:pic>
        <p:nvPicPr>
          <p:cNvPr id="8" name="Image 1" descr="preencoded.png"/>
          <p:cNvPicPr>
            <a:picLocks noChangeAspect="1"/>
          </p:cNvPicPr>
          <p:nvPr/>
        </p:nvPicPr>
        <p:blipFill>
          <a:blip r:embed="rId4"/>
          <a:stretch>
            <a:fillRect/>
          </a:stretch>
        </p:blipFill>
        <p:spPr>
          <a:xfrm>
            <a:off x="7865669" y="733349"/>
            <a:ext cx="499262" cy="499262"/>
          </a:xfrm>
          <a:prstGeom prst="rect">
            <a:avLst/>
          </a:prstGeom>
        </p:spPr>
      </p:pic>
      <p:sp>
        <p:nvSpPr>
          <p:cNvPr id="9" name="Shape 5"/>
          <p:cNvSpPr/>
          <p:nvPr/>
        </p:nvSpPr>
        <p:spPr>
          <a:xfrm>
            <a:off x="7726680" y="3611880"/>
            <a:ext cx="960120" cy="960120"/>
          </a:xfrm>
          <a:prstGeom prst="ellipse">
            <a:avLst/>
          </a:prstGeom>
          <a:solidFill>
            <a:srgbClr val="163A6B"/>
          </a:solidFill>
          <a:ln w="12700">
            <a:solidFill>
              <a:srgbClr val="163A6B"/>
            </a:solidFill>
            <a:prstDash val="solid"/>
          </a:ln>
        </p:spPr>
        <p:txBody>
          <a:bodyPr/>
          <a:lstStyle/>
          <a:p>
            <a:endParaRPr lang="es-CL"/>
          </a:p>
        </p:txBody>
      </p:sp>
      <p:pic>
        <p:nvPicPr>
          <p:cNvPr id="10" name="Image 2" descr="preencoded.png"/>
          <p:cNvPicPr>
            <a:picLocks noChangeAspect="1"/>
          </p:cNvPicPr>
          <p:nvPr/>
        </p:nvPicPr>
        <p:blipFill>
          <a:blip r:embed="rId5"/>
          <a:stretch>
            <a:fillRect/>
          </a:stretch>
        </p:blipFill>
        <p:spPr>
          <a:xfrm>
            <a:off x="7957109" y="3842309"/>
            <a:ext cx="499262" cy="499262"/>
          </a:xfrm>
          <a:prstGeom prst="rect">
            <a:avLst/>
          </a:prstGeom>
        </p:spPr>
      </p:pic>
      <p:sp>
        <p:nvSpPr>
          <p:cNvPr id="11" name="Shape 6"/>
          <p:cNvSpPr/>
          <p:nvPr/>
        </p:nvSpPr>
        <p:spPr>
          <a:xfrm>
            <a:off x="5760720" y="3840480"/>
            <a:ext cx="685800" cy="685800"/>
          </a:xfrm>
          <a:prstGeom prst="ellipse">
            <a:avLst/>
          </a:prstGeom>
          <a:solidFill>
            <a:srgbClr val="163A6B"/>
          </a:solidFill>
          <a:ln w="12700">
            <a:solidFill>
              <a:srgbClr val="163A6B"/>
            </a:solidFill>
            <a:prstDash val="solid"/>
          </a:ln>
        </p:spPr>
        <p:txBody>
          <a:bodyPr/>
          <a:lstStyle/>
          <a:p>
            <a:endParaRPr lang="es-CL"/>
          </a:p>
        </p:txBody>
      </p:sp>
      <p:pic>
        <p:nvPicPr>
          <p:cNvPr id="12" name="Image 3" descr="preencoded.png"/>
          <p:cNvPicPr>
            <a:picLocks noChangeAspect="1"/>
          </p:cNvPicPr>
          <p:nvPr/>
        </p:nvPicPr>
        <p:blipFill>
          <a:blip r:embed="rId6"/>
          <a:stretch>
            <a:fillRect/>
          </a:stretch>
        </p:blipFill>
        <p:spPr>
          <a:xfrm>
            <a:off x="5925312" y="4005072"/>
            <a:ext cx="356616" cy="356616"/>
          </a:xfrm>
          <a:prstGeom prst="rect">
            <a:avLst/>
          </a:prstGeom>
        </p:spPr>
      </p:pic>
      <p:sp>
        <p:nvSpPr>
          <p:cNvPr id="13" name="Text 7"/>
          <p:cNvSpPr txBox="1"/>
          <p:nvPr/>
        </p:nvSpPr>
        <p:spPr>
          <a:xfrm>
            <a:off x="548640" y="1188720"/>
            <a:ext cx="512064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Gracias</a:t>
            </a:r>
            <a:endParaRPr lang="en-US" sz="4400" dirty="0"/>
          </a:p>
        </p:txBody>
      </p:sp>
      <p:sp>
        <p:nvSpPr>
          <p:cNvPr id="14" name="Text 8"/>
          <p:cNvSpPr txBox="1"/>
          <p:nvPr/>
        </p:nvSpPr>
        <p:spPr>
          <a:xfrm>
            <a:off x="548640" y="2011680"/>
            <a:ext cx="5120640" cy="457200"/>
          </a:xfrm>
          <a:prstGeom prst="rect">
            <a:avLst/>
          </a:prstGeom>
          <a:noFill/>
          <a:ln/>
        </p:spPr>
        <p:txBody>
          <a:bodyPr wrap="square" lIns="0" tIns="0" rIns="0" bIns="0" rtlCol="0" anchor="t"/>
          <a:lstStyle/>
          <a:p>
            <a:pPr marL="0" indent="0">
              <a:buNone/>
            </a:pPr>
            <a:r>
              <a:rPr lang="en-US" sz="2200" dirty="0">
                <a:solidFill>
                  <a:srgbClr val="F9B934"/>
                </a:solidFill>
                <a:latin typeface="Calibri" pitchFamily="34" charset="0"/>
                <a:ea typeface="Calibri" pitchFamily="34" charset="-122"/>
                <a:cs typeface="Calibri" pitchFamily="34" charset="-120"/>
              </a:rPr>
              <a:t>¿Preguntas o comentarios?</a:t>
            </a:r>
            <a:endParaRPr lang="en-US" sz="2200" dirty="0"/>
          </a:p>
        </p:txBody>
      </p:sp>
      <p:pic>
        <p:nvPicPr>
          <p:cNvPr id="15" name="Image 4" descr="preencoded.png"/>
          <p:cNvPicPr>
            <a:picLocks noChangeAspect="1"/>
          </p:cNvPicPr>
          <p:nvPr/>
        </p:nvPicPr>
        <p:blipFill>
          <a:blip r:embed="rId7"/>
          <a:stretch>
            <a:fillRect/>
          </a:stretch>
        </p:blipFill>
        <p:spPr>
          <a:xfrm>
            <a:off x="548640" y="3017520"/>
            <a:ext cx="292608" cy="292608"/>
          </a:xfrm>
          <a:prstGeom prst="rect">
            <a:avLst/>
          </a:prstGeom>
        </p:spPr>
      </p:pic>
      <p:sp>
        <p:nvSpPr>
          <p:cNvPr id="16" name="Text 9"/>
          <p:cNvSpPr txBox="1"/>
          <p:nvPr/>
        </p:nvSpPr>
        <p:spPr>
          <a:xfrm>
            <a:off x="960120" y="3017520"/>
            <a:ext cx="4572000" cy="292608"/>
          </a:xfrm>
          <a:prstGeom prst="rect">
            <a:avLst/>
          </a:prstGeom>
          <a:noFill/>
          <a:ln/>
        </p:spPr>
        <p:txBody>
          <a:bodyPr wrap="square" lIns="0" tIns="0" rIns="0" bIns="0" rtlCol="0" anchor="ctr"/>
          <a:lstStyle/>
          <a:p>
            <a:pPr marL="0" indent="0">
              <a:buNone/>
            </a:pPr>
            <a:r>
              <a:rPr lang="en-US" sz="1400" dirty="0">
                <a:solidFill>
                  <a:srgbClr val="C9D6EA"/>
                </a:solidFill>
                <a:latin typeface="Calibri" pitchFamily="34" charset="0"/>
                <a:ea typeface="Calibri" pitchFamily="34" charset="-122"/>
                <a:cs typeface="Calibri" pitchFamily="34" charset="-120"/>
              </a:rPr>
              <a:t>github.com/Bacchi701/Plataforma-web-tutorias</a:t>
            </a:r>
            <a:endParaRPr lang="en-US" sz="1400" dirty="0"/>
          </a:p>
        </p:txBody>
      </p:sp>
      <p:sp>
        <p:nvSpPr>
          <p:cNvPr id="17" name="Text 10"/>
          <p:cNvSpPr txBox="1"/>
          <p:nvPr/>
        </p:nvSpPr>
        <p:spPr>
          <a:xfrm>
            <a:off x="548640" y="3520440"/>
            <a:ext cx="5486400" cy="29260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Bryan Bacchi · Francisco Tejeda · Damaris Iriarte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3444</Words>
  <Application>Microsoft Office PowerPoint</Application>
  <PresentationFormat>Presentación en pantalla (16:9)</PresentationFormat>
  <Paragraphs>290</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 · Capstone PTY4614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Plataforma de Tutorías entre Estudiantes · Definición del proyecto</dc:title>
  <dc:subject>PptxGenJS Presentation</dc:subject>
  <dc:creator>Bryan Bacchi, Francisco Tejeda y Damaris Iriarte</dc:creator>
  <cp:lastModifiedBy>BRYAN IGNACIO BACCHI ACEITUNO</cp:lastModifiedBy>
  <cp:revision>2</cp:revision>
  <dcterms:created xsi:type="dcterms:W3CDTF">2026-09-26T01:17:29Z</dcterms:created>
  <dcterms:modified xsi:type="dcterms:W3CDTF">2026-09-26T01:25:51Z</dcterms:modified>
</cp:coreProperties>
</file>