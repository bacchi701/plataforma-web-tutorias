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4"/>
    <p:sldId id="259" r:id="rId5"/>
    <p:sldId id="262" r:id="rId8"/>
    <p:sldId id="263" r:id="rId9"/>
    <p:sldId id="264" r:id="rId10"/>
    <p:sldId id="265" r:id="rId11"/>
    <p:sldId id="261" r:id="rId7"/>
    <p:sldId id="267" r:id="rId13"/>
    <p:sldId id="257" r:id="rId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0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7" Type="http://schemas.openxmlformats.org/officeDocument/2006/relationships/slide" Target="slides/slide8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410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Presenta: Bryan</a:t>
            </a:r>
          </a:p>
          <a:p>
            <a:r>
              <a:t>Tiempo: 25 segundos.</a:t>
            </a:r>
          </a:p>
          <a:p>
            <a:r>
              <a:t>Buenas tardes. Somos Bryan Bacchi, Francisco Tejeda y Damaris Iriarte, y les vamos a mostrar el avance de la Fase 2 de nuestra plataforma de tutorías entre estudiantes. Yo soy el líder del equipo y cumplo los roles de Product Owner y Scrum Master. Primero les cuento dónde estamos en cada objetivo y cómo trabajamos, y al final hacemos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Presenta: Bryan</a:t>
            </a:r>
          </a:p>
          <a:p>
            <a:r>
              <a:t>Tiempo: 40 segundos.</a:t>
            </a:r>
          </a:p>
          <a:p>
            <a:r>
              <a:t>Con eso hicimos ajustes. El 25-09 replanificamos a cuatro sprints, con el desarrollo congelado el 08-11. El 30-09 reasignamos trabajo para llegar a la demo, aunque cada historia sigue teniendo su dueño. Desde el Sprint 2 usamos Jira y Daily escrito. Recortamos el panel de administración a consultar y desactivar usuarios, y mantuvimos el pago simulado. Y proponemos la AD-12: páginas servidas por Nginx en vez de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Presenta: Bryan</a:t>
            </a:r>
          </a:p>
          <a:p>
            <a:r>
              <a:t>Tiempo: 40 segundos.</a:t>
            </a:r>
          </a:p>
          <a:p>
            <a:r>
              <a:t>Partimos por el problema. Hoy, cuando alguien de Duoc necesita apoyo en un ramo, lo busca de forma informal y dispersa, y no hay un lugar donde ver quién domina cada asignatura. Nuestra solución es una plataforma web para buscar tutores por asignatura, agendar, pagar de forma simulada y evaluar. El MVP suma el registro con correo @duocuc.cl, el catálogo académico y un panel de administración mínimo.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Presenta: Bryan</a:t>
            </a:r>
          </a:p>
          <a:p>
            <a:r>
              <a:t>Tiempo: 45 segundos.</a:t>
            </a:r>
          </a:p>
          <a:p>
            <a:r>
              <a:t>Esta tabla resume el avance al 16-10. El catálogo y el registro van parciales: el catálogo tiene su modelo y una API con datos de ejemplo, y el registro ya verifica el correo y entrega tokens, pero nos faltan el contrato OpenAPI y el perfil. De agendamiento tenemos solo el modelo, la evaluación no la iniciamos y la base de microservicios ya está 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Presenta: Bryan</a:t>
            </a:r>
          </a:p>
          <a:p>
            <a:r>
              <a:t>Tiempo: 45 segundos.</a:t>
            </a:r>
          </a:p>
          <a:p>
            <a:r>
              <a:t>En develop están los PR 1 a 4 y el 7, que fusionamos el 09-10. Siguen abiertos el 5, el 6, del 8 al 12 y el 13, y la v0.1 todavía no está en main. Yo implementé los PR 5 a 12 por la reasignación del 30-09. Damaris revisó y probó cuatro PR y aprobó el 7, y Francisco probó el 9 con Docker y le subió cuatro commits.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Presenta: Bryan</a:t>
            </a:r>
          </a:p>
          <a:p>
            <a:r>
              <a:t>Tiempo: 40 segundos.</a:t>
            </a:r>
          </a:p>
          <a:p>
            <a:r>
              <a:t>Esta es la arquitectura que tenemos levantada. Son cuatro microservicios en Django REST: Identidad, Catálogo, Tutorías y Pagos, y cada uno tiene su propia base PostgreSQL 16. Nginx es el único punto de entrada, Mailpit recibe los correos de desarrollo y todo se levanta con un solo comando de Docker Compose. Entre las bases no hay claves foráneas: esa es la decisión AD-08.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Presenta: Francisco (si está; si no, Bryan)</a:t>
            </a:r>
          </a:p>
          <a:p>
            <a:r>
              <a:t>Tiempo: 45 segundos.</a:t>
            </a:r>
          </a:p>
          <a:p>
            <a:r>
              <a:t>El modelo tiene 21 tablas repartidas en cuatro bases. El 30-09 lo revisamos contra la tercera forma normal y corregimos tres cosas: los errores de carga pasaron a una tabla hija, usuario_ref dejó de guardar los nombres de carrera y sede, y la reserva quedó sin el tutor, con un disparador. Además, las tres reglas de los bloques las hace cumplir la propia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Presenta: Damaris (si está; si no, Bryan)</a:t>
            </a:r>
          </a:p>
          <a:p>
            <a:r>
              <a:t>Tiempo: 45 segundos.</a:t>
            </a:r>
          </a:p>
          <a:p>
            <a:r>
              <a:t>Esto es lo que ya funciona del criterio CA1. Una persona se registra con su correo institucional, el correo le llega a la bandeja de desarrollo y lo verifica con un enlace de un solo uso que dura 24 horas. Después inicia sesión con un token de 30 minutos, que se renueva con una cookie httpOnly, y cierra sesión. Una cuenta sin verificar o desactivada no entra.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Presenta: Bryan</a:t>
            </a:r>
          </a:p>
          <a:p>
            <a:r>
              <a:t>Tiempo: 40 segundos.</a:t>
            </a:r>
          </a:p>
          <a:p>
            <a:r>
              <a:t>Trabajamos con Scrum, en sprints de dos semanas, y desde el Sprint 2 usamos Jira, con nueve épicas, 37 historias y el Daily escrito. Cada historia va en su rama y su Pull Request, y nadie aprueba el suyo. Sobre la IA: la primera versión del código de los PR 5 a 12 la generó un asistente, y yo la probé paso a paso antes de subirla.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Presenta: Bryan</a:t>
            </a:r>
          </a:p>
          <a:p>
            <a:r>
              <a:t>Tiempo: 45 segundos.</a:t>
            </a:r>
          </a:p>
          <a:p>
            <a:r>
              <a:t>En el monitoreo, el Sprint 1 cerró con 3 de 71 horas en Listo, un 4 %, porque los PR estaban esperando revisión. En el Sprint 2 nos dedicamos a revisar esos PR y fusionamos el 7, pero el contrato HU-03 sigue pendiente. Las dificultades fueron la coordinación del equipo, una capacidad real menor a la planificada, el plazo adelantado al 08-11 y el contrato de Identidad sin escribir.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Presenta: Bryan</a:t>
            </a:r>
          </a:p>
          <a:p>
            <a:r>
              <a:t>Tiempo: 40 segundos.</a:t>
            </a:r>
          </a:p>
          <a:p>
            <a:r>
              <a:t>Lo que viene: el 18-10 cerramos el Sprint 2 con revisión y retrospectiva. En el Sprint 3, del 19-10 al 01-11, vamos por el camino principal completo, desde el perfil hasta la evaluación, y partimos por el contrato OpenAPI de Identidad. El 08-11 se congela el desarrollo. Y le queremos consultar tres cosas, profe: la AD-12, la evaluación en contenedores locales y si basta la figura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Presenta: Bryan</a:t>
            </a:r>
          </a:p>
          <a:p>
            <a:r>
              <a:t>Tiempo: 20 segundos, y luego la demo.</a:t>
            </a:r>
          </a:p>
          <a:p>
            <a:r>
              <a:t>Ahora pasamos a la demo en vivo. La vamos a correr sobre la rama demo/semana-08, que integra lo que les mostré. Vamos a ver el registro, la verificación del correo, el inicio de sesión, la página del catálogo y las reglas que hace cumplir la base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6903720" y="982980"/>
            <a:ext cx="1211580" cy="1348740"/>
          </a:xfrm>
          <a:prstGeom prst="line">
            <a:avLst/>
          </a:prstGeom>
          <a:noFill/>
          <a:ln w="25400">
            <a:solidFill>
              <a:srgbClr val="3A5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6903720" y="2331720"/>
            <a:ext cx="1303020" cy="1760220"/>
          </a:xfrm>
          <a:prstGeom prst="line">
            <a:avLst/>
          </a:prstGeom>
          <a:noFill/>
          <a:ln w="25400">
            <a:solidFill>
              <a:srgbClr val="3A5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 flipH="1">
            <a:off x="6103620" y="2331720"/>
            <a:ext cx="800100" cy="1851660"/>
          </a:xfrm>
          <a:prstGeom prst="line">
            <a:avLst/>
          </a:prstGeom>
          <a:noFill/>
          <a:ln w="25400">
            <a:solidFill>
              <a:srgbClr val="3A5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035040" y="1463040"/>
            <a:ext cx="1737360" cy="1737360"/>
          </a:xfrm>
          <a:prstGeom prst="ellipse">
            <a:avLst/>
          </a:prstGeom>
          <a:solidFill>
            <a:srgbClr val="F9B934"/>
          </a:solidFill>
          <a:ln w="12700">
            <a:solidFill>
              <a:srgbClr val="F9B93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897380"/>
            <a:ext cx="868680" cy="868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502920"/>
            <a:ext cx="960120" cy="960120"/>
          </a:xfrm>
          <a:prstGeom prst="ellipse">
            <a:avLst/>
          </a:prstGeom>
          <a:solidFill>
            <a:srgbClr val="163A6B"/>
          </a:solidFill>
          <a:ln w="12700">
            <a:solidFill>
              <a:srgbClr val="16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669" y="733349"/>
            <a:ext cx="499262" cy="49926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26680" y="3611880"/>
            <a:ext cx="960120" cy="960120"/>
          </a:xfrm>
          <a:prstGeom prst="ellipse">
            <a:avLst/>
          </a:prstGeom>
          <a:solidFill>
            <a:srgbClr val="163A6B"/>
          </a:solidFill>
          <a:ln w="12700">
            <a:solidFill>
              <a:srgbClr val="16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7109" y="3842309"/>
            <a:ext cx="499262" cy="49926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760720" y="3840480"/>
            <a:ext cx="685800" cy="685800"/>
          </a:xfrm>
          <a:prstGeom prst="ellipse">
            <a:avLst/>
          </a:prstGeom>
          <a:solidFill>
            <a:srgbClr val="163A6B"/>
          </a:solidFill>
          <a:ln w="12700">
            <a:solidFill>
              <a:srgbClr val="16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4005072"/>
            <a:ext cx="356616" cy="35661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4864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9B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PTY4614 · SECCIÓN 004D</a:t>
            </a:r>
          </a:p>
        </p:txBody>
      </p:sp>
      <p:sp>
        <p:nvSpPr>
          <p:cNvPr id="14" name="Text 8"/>
          <p:cNvSpPr txBox="1"/>
          <p:nvPr/>
        </p:nvSpPr>
        <p:spPr>
          <a:xfrm>
            <a:off x="548640" y="12801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Tutorías entre Estudiantes</a:t>
            </a:r>
            <a:endParaRPr lang="en-US" sz="38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la Fase 2</a:t>
            </a:r>
          </a:p>
        </p:txBody>
      </p:sp>
      <p:sp>
        <p:nvSpPr>
          <p:cNvPr id="16" name="Text 10"/>
          <p:cNvSpPr txBox="1"/>
          <p:nvPr/>
        </p:nvSpPr>
        <p:spPr>
          <a:xfrm>
            <a:off x="548640" y="320040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Bacchi (líder, Product Owner y Scrum Master)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Tejeda · Damaris Iriarte</a:t>
            </a:r>
          </a:p>
        </p:txBody>
      </p:sp>
      <p:sp>
        <p:nvSpPr>
          <p:cNvPr id="17" name="Text 11"/>
          <p:cNvSpPr txBox="1"/>
          <p:nvPr/>
        </p:nvSpPr>
        <p:spPr>
          <a:xfrm>
            <a:off x="548640" y="3931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Marco Antonio Valenzuela Contreras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Y LA SOLUCIÓN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central para encontrar apoyo en un ramo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828800" cy="1682496"/>
          </a:xfrm>
          <a:prstGeom prst="roundRect">
            <a:avLst>
              <a:gd name="adj" fmla="val 40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566928" cy="566928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1060704" y="1847088"/>
            <a:ext cx="274320" cy="274320"/>
          </a:xfrm>
          <a:prstGeom prst="ellipse">
            <a:avLst/>
          </a:prstGeom>
          <a:solidFill>
            <a:srgbClr val="F9B93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 txBox="1"/>
          <p:nvPr/>
        </p:nvSpPr>
        <p:spPr>
          <a:xfrm>
            <a:off x="1060704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596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un tutor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640080" y="29077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asignatura.</a:t>
            </a:r>
          </a:p>
        </p:txBody>
      </p:sp>
      <p:sp>
        <p:nvSpPr>
          <p:cNvPr id="11" name="Shape 8"/>
          <p:cNvSpPr/>
          <p:nvPr/>
        </p:nvSpPr>
        <p:spPr>
          <a:xfrm>
            <a:off x="2340864" y="2651760"/>
            <a:ext cx="195072" cy="0"/>
          </a:xfrm>
          <a:prstGeom prst="line">
            <a:avLst/>
          </a:prstGeom>
          <a:noFill/>
          <a:ln w="28575">
            <a:solidFill>
              <a:srgbClr val="F9B93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2590800" y="1737360"/>
            <a:ext cx="1828800" cy="1682496"/>
          </a:xfrm>
          <a:prstGeom prst="roundRect">
            <a:avLst>
              <a:gd name="adj" fmla="val 40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2773680" y="1901952"/>
            <a:ext cx="566928" cy="566928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038015"/>
            <a:ext cx="294803" cy="29480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194304" y="1847088"/>
            <a:ext cx="274320" cy="274320"/>
          </a:xfrm>
          <a:prstGeom prst="ellipse">
            <a:avLst/>
          </a:prstGeom>
          <a:solidFill>
            <a:srgbClr val="F9B93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2"/>
          <p:cNvSpPr txBox="1"/>
          <p:nvPr/>
        </p:nvSpPr>
        <p:spPr>
          <a:xfrm>
            <a:off x="3194304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2773680" y="2596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</a:p>
        </p:txBody>
      </p:sp>
      <p:sp>
        <p:nvSpPr>
          <p:cNvPr id="18" name="Text 14"/>
          <p:cNvSpPr txBox="1"/>
          <p:nvPr/>
        </p:nvSpPr>
        <p:spPr>
          <a:xfrm>
            <a:off x="2773680" y="29077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el horario con el tutor.</a:t>
            </a:r>
          </a:p>
        </p:txBody>
      </p:sp>
      <p:sp>
        <p:nvSpPr>
          <p:cNvPr id="19" name="Shape 15"/>
          <p:cNvSpPr/>
          <p:nvPr/>
        </p:nvSpPr>
        <p:spPr>
          <a:xfrm>
            <a:off x="4474464" y="2651760"/>
            <a:ext cx="195072" cy="0"/>
          </a:xfrm>
          <a:prstGeom prst="line">
            <a:avLst/>
          </a:prstGeom>
          <a:noFill/>
          <a:ln w="28575">
            <a:solidFill>
              <a:srgbClr val="F9B93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6"/>
          <p:cNvSpPr/>
          <p:nvPr/>
        </p:nvSpPr>
        <p:spPr>
          <a:xfrm>
            <a:off x="4724400" y="1737360"/>
            <a:ext cx="1828800" cy="1682496"/>
          </a:xfrm>
          <a:prstGeom prst="roundRect">
            <a:avLst>
              <a:gd name="adj" fmla="val 40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7"/>
          <p:cNvSpPr/>
          <p:nvPr/>
        </p:nvSpPr>
        <p:spPr>
          <a:xfrm>
            <a:off x="4907280" y="1901952"/>
            <a:ext cx="566928" cy="566928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7792" y="2038015"/>
            <a:ext cx="294803" cy="294803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327904" y="1847088"/>
            <a:ext cx="274320" cy="274320"/>
          </a:xfrm>
          <a:prstGeom prst="ellipse">
            <a:avLst/>
          </a:prstGeom>
          <a:solidFill>
            <a:srgbClr val="F9B93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19"/>
          <p:cNvSpPr txBox="1"/>
          <p:nvPr/>
        </p:nvSpPr>
        <p:spPr>
          <a:xfrm>
            <a:off x="5327904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4907280" y="2596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</a:t>
            </a:r>
          </a:p>
        </p:txBody>
      </p:sp>
      <p:sp>
        <p:nvSpPr>
          <p:cNvPr id="26" name="Text 21"/>
          <p:cNvSpPr txBox="1"/>
          <p:nvPr/>
        </p:nvSpPr>
        <p:spPr>
          <a:xfrm>
            <a:off x="4907280" y="29077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simulado.</a:t>
            </a:r>
          </a:p>
        </p:txBody>
      </p:sp>
      <p:sp>
        <p:nvSpPr>
          <p:cNvPr id="27" name="Shape 22"/>
          <p:cNvSpPr/>
          <p:nvPr/>
        </p:nvSpPr>
        <p:spPr>
          <a:xfrm>
            <a:off x="6608064" y="2651760"/>
            <a:ext cx="195072" cy="0"/>
          </a:xfrm>
          <a:prstGeom prst="line">
            <a:avLst/>
          </a:prstGeom>
          <a:noFill/>
          <a:ln w="28575">
            <a:solidFill>
              <a:srgbClr val="F9B93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3"/>
          <p:cNvSpPr/>
          <p:nvPr/>
        </p:nvSpPr>
        <p:spPr>
          <a:xfrm>
            <a:off x="6858000" y="1737360"/>
            <a:ext cx="1828800" cy="1682496"/>
          </a:xfrm>
          <a:prstGeom prst="roundRect">
            <a:avLst>
              <a:gd name="adj" fmla="val 40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4"/>
          <p:cNvSpPr/>
          <p:nvPr/>
        </p:nvSpPr>
        <p:spPr>
          <a:xfrm>
            <a:off x="7040880" y="1901952"/>
            <a:ext cx="566928" cy="566928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6943" y="2038015"/>
            <a:ext cx="294803" cy="294803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7461504" y="1847088"/>
            <a:ext cx="274320" cy="274320"/>
          </a:xfrm>
          <a:prstGeom prst="ellipse">
            <a:avLst/>
          </a:prstGeom>
          <a:solidFill>
            <a:srgbClr val="F9B93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6"/>
          <p:cNvSpPr txBox="1"/>
          <p:nvPr/>
        </p:nvSpPr>
        <p:spPr>
          <a:xfrm>
            <a:off x="7461504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7040880" y="2596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</a:t>
            </a:r>
          </a:p>
        </p:txBody>
      </p:sp>
      <p:sp>
        <p:nvSpPr>
          <p:cNvPr id="34" name="Text 28"/>
          <p:cNvSpPr txBox="1"/>
          <p:nvPr/>
        </p:nvSpPr>
        <p:spPr>
          <a:xfrm>
            <a:off x="7040880" y="29077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nota suma a la reputación del tutor.</a:t>
            </a:r>
          </a:p>
        </p:txBody>
      </p:sp>
      <p:sp>
        <p:nvSpPr>
          <p:cNvPr id="35" name="Shape 29"/>
          <p:cNvSpPr/>
          <p:nvPr/>
        </p:nvSpPr>
        <p:spPr>
          <a:xfrm>
            <a:off x="457200" y="3493008"/>
            <a:ext cx="8229600" cy="86868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0"/>
          <p:cNvSpPr/>
          <p:nvPr/>
        </p:nvSpPr>
        <p:spPr>
          <a:xfrm>
            <a:off x="640080" y="3648456"/>
            <a:ext cx="548640" cy="548640"/>
          </a:xfrm>
          <a:prstGeom prst="ellipse">
            <a:avLst/>
          </a:prstGeom>
          <a:solidFill>
            <a:srgbClr val="F9B934"/>
          </a:solidFill>
          <a:ln w="12700">
            <a:solidFill>
              <a:srgbClr val="F9B93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754" y="3776472"/>
            <a:ext cx="285293" cy="285293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371600" y="3566160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MVP incluye: </a:t>
            </a:r>
            <a:r>
              <a:rPr lang="en-US" sz="1400" b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correo @duocuc.cl, catálogo académico, agendamiento, evaluación y reputación, y un panel de administración mínimo.</a:t>
            </a: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457200" y="1115568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A6478"/>
                </a:solidFill>
                <a:latin typeface="Calibri"/>
              </a:rPr>
              <a:t>Hoy los estudiantes de Duoc UC buscan apoyo en ramos de forma informal y dispersa: no hay un punto central para encontrar quién domina una asignatura.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0328" y="19019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POR OBJETIVO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por objetivo, al 16-10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170432"/>
          <a:ext cx="8229600" cy="29809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0280"/>
                <a:gridCol w="4709160"/>
                <a:gridCol w="12801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Objetivo</a:t>
                      </a:r>
                    </a:p>
                  </a:txBody>
                  <a:tcPr marL="91440" marR="91440" marT="27432" marB="27432" anchor="ctr">
                    <a:solidFill>
                      <a:srgbClr val="0A22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Avance</a:t>
                      </a:r>
                    </a:p>
                  </a:txBody>
                  <a:tcPr marL="91440" marR="91440" marT="27432" marB="27432" anchor="ctr">
                    <a:solidFill>
                      <a:srgbClr val="0A22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91440" marR="91440" marT="27432" marB="27432" anchor="ctr">
                    <a:solidFill>
                      <a:srgbClr val="0A224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A2240"/>
                          </a:solidFill>
                          <a:latin typeface="Calibri"/>
                        </a:rPr>
                        <a:t>OE1 Catálogo académico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A"/>
                          </a:solidFill>
                          <a:latin typeface="Calibri"/>
                        </a:rPr>
                        <a:t>Modelo de 8 tablas y API pública con datos de ejemplo.</a:t>
                      </a:r>
                    </a:p>
                    <a:p>
                      <a:r>
                        <a:rPr sz="1400" b="0">
                          <a:solidFill>
                            <a:srgbClr val="1E2A3A"/>
                          </a:solidFill>
                          <a:latin typeface="Calibri"/>
                        </a:rPr>
                        <a:t>Falta la carga desde CSV de 3 a 5 carreras.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9A6200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marL="91440" marR="91440" marT="27432" marB="27432" anchor="ctr">
                    <a:solidFill>
                      <a:srgbClr val="FDF1D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A2240"/>
                          </a:solidFill>
                          <a:latin typeface="Calibri"/>
                        </a:rPr>
                        <a:t>OE2 Registro, autenticación y perfiles</a:t>
                      </a:r>
                    </a:p>
                  </a:txBody>
                  <a:tcPr marL="91440" marR="91440" marT="27432" marB="27432" anchor="ctr">
                    <a:solidFill>
                      <a:srgbClr val="ED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A"/>
                          </a:solidFill>
                          <a:latin typeface="Calibri"/>
                        </a:rPr>
                        <a:t>Registro @duocuc.cl, verificación del correo, sesión con tokens RS256 y pantallas de acceso.</a:t>
                      </a:r>
                    </a:p>
                    <a:p>
                      <a:r>
                        <a:rPr sz="1400" b="0">
                          <a:solidFill>
                            <a:srgbClr val="1E2A3A"/>
                          </a:solidFill>
                          <a:latin typeface="Calibri"/>
                        </a:rPr>
                        <a:t>Faltan el contrato OpenAPI (HU-03) y el perfil.</a:t>
                      </a:r>
                    </a:p>
                  </a:txBody>
                  <a:tcPr marL="91440" marR="91440" marT="27432" marB="27432" anchor="ctr">
                    <a:solidFill>
                      <a:srgbClr val="ED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9A6200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marL="91440" marR="91440" marT="27432" marB="27432" anchor="ctr">
                    <a:solidFill>
                      <a:srgbClr val="FDF1D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A2240"/>
                          </a:solidFill>
                          <a:latin typeface="Calibri"/>
                        </a:rPr>
                        <a:t>OE3 Agendamiento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A"/>
                          </a:solidFill>
                          <a:latin typeface="Calibri"/>
                        </a:rPr>
                        <a:t>Modelo de 7 tablas con las reglas en la base, en develop desde el 09-10. El flujo aún no se inicia.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9A6200"/>
                          </a:solidFill>
                          <a:latin typeface="Calibri"/>
                        </a:rPr>
                        <a:t>Solo el modelo</a:t>
                      </a:r>
                    </a:p>
                  </a:txBody>
                  <a:tcPr marL="91440" marR="91440" marT="27432" marB="27432" anchor="ctr">
                    <a:solidFill>
                      <a:srgbClr val="FDF1D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A2240"/>
                          </a:solidFill>
                          <a:latin typeface="Calibri"/>
                        </a:rPr>
                        <a:t>OE4 Evaluación y reputación</a:t>
                      </a:r>
                    </a:p>
                  </a:txBody>
                  <a:tcPr marL="91440" marR="91440" marT="27432" marB="27432" anchor="ctr">
                    <a:solidFill>
                      <a:srgbClr val="ED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A"/>
                          </a:solidFill>
                          <a:latin typeface="Calibri"/>
                        </a:rPr>
                        <a:t>Tablas listas en el modelo.</a:t>
                      </a:r>
                    </a:p>
                  </a:txBody>
                  <a:tcPr marL="91440" marR="91440" marT="27432" marB="27432" anchor="ctr">
                    <a:solidFill>
                      <a:srgbClr val="ED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5A6478"/>
                          </a:solidFill>
                          <a:latin typeface="Calibri"/>
                        </a:rPr>
                        <a:t>No iniciado</a:t>
                      </a:r>
                    </a:p>
                  </a:txBody>
                  <a:tcPr marL="91440" marR="91440" marT="27432" marB="27432" anchor="ctr">
                    <a:solidFill>
                      <a:srgbClr val="E4E7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A2240"/>
                          </a:solidFill>
                          <a:latin typeface="Calibri"/>
                        </a:rPr>
                        <a:t>OE5 Microservicios con un punto de entrada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A"/>
                          </a:solidFill>
                          <a:latin typeface="Calibri"/>
                        </a:rPr>
                        <a:t>10 contenedores, un solo puerto (8080) e integración continua.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D4E89"/>
                          </a:solidFill>
                          <a:latin typeface="Calibri"/>
                        </a:rPr>
                        <a:t>Base lista</a:t>
                      </a:r>
                    </a:p>
                  </a:txBody>
                  <a:tcPr marL="91440" marR="91440" marT="27432" marB="27432" anchor="ctr">
                    <a:solidFill>
                      <a:srgbClr val="DCE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implementada</a:t>
            </a:r>
          </a:p>
        </p:txBody>
      </p:sp>
      <p:sp>
        <p:nvSpPr>
          <p:cNvPr id="4" name="Shape 2"/>
          <p:cNvSpPr/>
          <p:nvPr/>
        </p:nvSpPr>
        <p:spPr>
          <a:xfrm>
            <a:off x="3200400" y="1188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web (navegador)</a:t>
            </a:r>
          </a:p>
        </p:txBody>
      </p:sp>
      <p:sp>
        <p:nvSpPr>
          <p:cNvPr id="6" name="Shape 4"/>
          <p:cNvSpPr/>
          <p:nvPr/>
        </p:nvSpPr>
        <p:spPr>
          <a:xfrm>
            <a:off x="4572000" y="1645920"/>
            <a:ext cx="0" cy="228600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22960" y="1901952"/>
            <a:ext cx="7498080" cy="502920"/>
          </a:xfrm>
          <a:prstGeom prst="roundRect">
            <a:avLst>
              <a:gd name="adj" fmla="val 14545"/>
            </a:avLst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822960" y="190195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· Nginx</a:t>
            </a:r>
            <a:r>
              <a:rPr lang="en-US" sz="14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único punto de entrada, puerto 8080</a:t>
            </a:r>
          </a:p>
        </p:txBody>
      </p:sp>
      <p:sp>
        <p:nvSpPr>
          <p:cNvPr id="9" name="Shape 7"/>
          <p:cNvSpPr/>
          <p:nvPr/>
        </p:nvSpPr>
        <p:spPr>
          <a:xfrm>
            <a:off x="1691640" y="2404872"/>
            <a:ext cx="0" cy="210312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822960" y="2633472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EDF1F7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896112" y="2651760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</a:p>
          <a:p>
            <a:pPr marL="0" indent="0" algn="ctr">
              <a:buNone/>
            </a:pPr>
            <a:r>
              <a:rPr lang="en-US" sz="1200" b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</a:p>
        </p:txBody>
      </p:sp>
      <p:sp>
        <p:nvSpPr>
          <p:cNvPr id="12" name="Shape 10"/>
          <p:cNvSpPr/>
          <p:nvPr/>
        </p:nvSpPr>
        <p:spPr>
          <a:xfrm>
            <a:off x="1691640" y="3346704"/>
            <a:ext cx="0" cy="18288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1005840" y="3529584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1005840" y="352958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identity_db</a:t>
            </a:r>
          </a:p>
        </p:txBody>
      </p:sp>
      <p:sp>
        <p:nvSpPr>
          <p:cNvPr id="15" name="Shape 13"/>
          <p:cNvSpPr/>
          <p:nvPr/>
        </p:nvSpPr>
        <p:spPr>
          <a:xfrm>
            <a:off x="3611880" y="2404872"/>
            <a:ext cx="0" cy="210312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2743200" y="2633472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EDF1F7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2816352" y="2651760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académico</a:t>
            </a:r>
          </a:p>
          <a:p>
            <a:pPr marL="0" indent="0" algn="ctr">
              <a:buNone/>
            </a:pPr>
            <a:r>
              <a:rPr lang="en-US" sz="1200" b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</a:p>
        </p:txBody>
      </p:sp>
      <p:sp>
        <p:nvSpPr>
          <p:cNvPr id="18" name="Shape 16"/>
          <p:cNvSpPr/>
          <p:nvPr/>
        </p:nvSpPr>
        <p:spPr>
          <a:xfrm>
            <a:off x="3611880" y="3346704"/>
            <a:ext cx="0" cy="18288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2926080" y="3529584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2926080" y="352958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catalog_db</a:t>
            </a:r>
          </a:p>
        </p:txBody>
      </p:sp>
      <p:sp>
        <p:nvSpPr>
          <p:cNvPr id="21" name="Shape 19"/>
          <p:cNvSpPr/>
          <p:nvPr/>
        </p:nvSpPr>
        <p:spPr>
          <a:xfrm>
            <a:off x="5532120" y="2404872"/>
            <a:ext cx="0" cy="210312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4663440" y="2633472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EDF1F7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4736592" y="2651760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Tutorías</a:t>
            </a:r>
          </a:p>
          <a:p>
            <a:pPr marL="0" indent="0" algn="ctr">
              <a:buNone/>
            </a:pPr>
            <a:r>
              <a:rPr lang="en-US" sz="1200" b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</a:p>
        </p:txBody>
      </p:sp>
      <p:sp>
        <p:nvSpPr>
          <p:cNvPr id="24" name="Shape 22"/>
          <p:cNvSpPr/>
          <p:nvPr/>
        </p:nvSpPr>
        <p:spPr>
          <a:xfrm>
            <a:off x="5532120" y="3346704"/>
            <a:ext cx="0" cy="18288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846320" y="3529584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4846320" y="352958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tutoring_db</a:t>
            </a:r>
          </a:p>
        </p:txBody>
      </p:sp>
      <p:sp>
        <p:nvSpPr>
          <p:cNvPr id="27" name="Shape 25"/>
          <p:cNvSpPr/>
          <p:nvPr/>
        </p:nvSpPr>
        <p:spPr>
          <a:xfrm>
            <a:off x="7452360" y="2404872"/>
            <a:ext cx="0" cy="210312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6583680" y="2633472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FDF3E7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 txBox="1"/>
          <p:nvPr/>
        </p:nvSpPr>
        <p:spPr>
          <a:xfrm>
            <a:off x="6656832" y="2651760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</a:p>
          <a:p>
            <a:pPr marL="0" indent="0" algn="ctr">
              <a:buNone/>
            </a:pPr>
            <a:r>
              <a:rPr lang="en-US" sz="1200" b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</a:p>
        </p:txBody>
      </p:sp>
      <p:sp>
        <p:nvSpPr>
          <p:cNvPr id="30" name="Shape 28"/>
          <p:cNvSpPr/>
          <p:nvPr/>
        </p:nvSpPr>
        <p:spPr>
          <a:xfrm>
            <a:off x="7452360" y="3346704"/>
            <a:ext cx="0" cy="18288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6766560" y="3529584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6766560" y="352958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payment_db</a:t>
            </a:r>
          </a:p>
        </p:txBody>
      </p:sp>
      <p:sp>
        <p:nvSpPr>
          <p:cNvPr id="33" name="Shape 31"/>
          <p:cNvSpPr/>
          <p:nvPr/>
        </p:nvSpPr>
        <p:spPr>
          <a:xfrm>
            <a:off x="822960" y="411480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822960" y="4114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b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Mailpit</a:t>
            </a:r>
            <a:r>
              <a:rPr lang="en-US" sz="1300" dirty="0" b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correo de desarrollo</a:t>
            </a:r>
          </a:p>
        </p:txBody>
      </p:sp>
      <p:sp>
        <p:nvSpPr>
          <p:cNvPr id="37" name="Text 35"/>
          <p:cNvSpPr txBox="1"/>
          <p:nvPr/>
        </p:nvSpPr>
        <p:spPr>
          <a:xfrm>
            <a:off x="3794760" y="406908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 b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claves foráneas entre bases (AD-08). </a:t>
            </a:r>
            <a:r>
              <a:rPr lang="en-US" sz="1400" i="1" dirty="0" b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levanta con un comando (Docker Compose): 10 contenedores, un solo puerto.</a:t>
            </a:r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21 tablas, revisado contra la 3FN</a:t>
            </a:r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457200" y="1234440"/>
            <a:ext cx="2377440" cy="1874519"/>
          </a:xfrm>
          <a:prstGeom prst="roundRect">
            <a:avLst>
              <a:gd name="adj" fmla="val 8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" y="14173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9B934"/>
                </a:solidFill>
                <a:latin typeface="Calibri"/>
              </a:rPr>
              <a:t>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22402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tablas en 4 bases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una por microservicio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4680" y="1234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2240"/>
                </a:solidFill>
                <a:latin typeface="Calibri"/>
              </a:rPr>
              <a:t>Revisión contra la 3FN, 30-09: tres correcciones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54680" y="1627632"/>
            <a:ext cx="5532120" cy="420624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3246120" y="1700784"/>
            <a:ext cx="566928" cy="274320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246120" y="170078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1FN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39" y="1627632"/>
            <a:ext cx="4617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Errores de carga en una tabla hija.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54680" y="2139696"/>
            <a:ext cx="5532120" cy="420624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3246120" y="2212848"/>
            <a:ext cx="566928" cy="274320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246120" y="2212848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3FN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39" y="2139696"/>
            <a:ext cx="4617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usuario_ref sin nombres de carrera y sede.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154680" y="2651760"/>
            <a:ext cx="5532120" cy="420624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3246120" y="2724912"/>
            <a:ext cx="566928" cy="274320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246120" y="272491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3FN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77639" y="2651760"/>
            <a:ext cx="4617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Reserva sin tutor, con un disparador.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2240"/>
                </a:solidFill>
                <a:latin typeface="Calibri"/>
              </a:rPr>
              <a:t>Las reglas las hace cumplir la base de datos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675887"/>
            <a:ext cx="2633472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594360" y="3858768"/>
            <a:ext cx="365760" cy="365760"/>
          </a:xfrm>
          <a:prstGeom prst="ellipse">
            <a:avLst/>
          </a:prstGeom>
          <a:solidFill>
            <a:srgbClr val="F9B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38587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A2240"/>
                </a:solidFill>
                <a:latin typeface="Calibri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" y="3675887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Bloques sin solapamiento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55264" y="3675887"/>
            <a:ext cx="2633472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3392424" y="3858768"/>
            <a:ext cx="365760" cy="365760"/>
          </a:xfrm>
          <a:prstGeom prst="ellipse">
            <a:avLst/>
          </a:prstGeom>
          <a:solidFill>
            <a:srgbClr val="F9B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92424" y="38587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A2240"/>
                </a:solidFill>
                <a:latin typeface="Calibri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77056" y="3675887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Una reserva confirmada por bloque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53328" y="3675887"/>
            <a:ext cx="2633472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6190488" y="3858768"/>
            <a:ext cx="365760" cy="365760"/>
          </a:xfrm>
          <a:prstGeom prst="ellipse">
            <a:avLst/>
          </a:prstGeom>
          <a:solidFill>
            <a:srgbClr val="F9B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90488" y="38587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A2240"/>
                </a:solidFill>
                <a:latin typeface="Calibri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3675887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Nadie reserva su propio bloque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FUNCIONA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CA1: de la cuenta nueva al cierre de sesión</a:t>
            </a:r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457200" y="1280160"/>
            <a:ext cx="1463040" cy="1874519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F9B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" y="14173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A2240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" y="1892807"/>
            <a:ext cx="1243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2240"/>
                </a:solidFill>
                <a:latin typeface="Calibri"/>
              </a:rPr>
              <a:t>Registro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" y="2194560"/>
            <a:ext cx="1243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Con correo institucional.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956816" y="2103120"/>
            <a:ext cx="155448" cy="201168"/>
          </a:xfrm>
          <a:prstGeom prst="rightArrow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148840" y="1280160"/>
            <a:ext cx="1463040" cy="1874519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2276856" y="1417320"/>
            <a:ext cx="384048" cy="384048"/>
          </a:xfrm>
          <a:prstGeom prst="ellipse">
            <a:avLst/>
          </a:prstGeom>
          <a:solidFill>
            <a:srgbClr val="F9B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76856" y="14173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A2240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76856" y="1892807"/>
            <a:ext cx="1243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2240"/>
                </a:solidFill>
                <a:latin typeface="Calibri"/>
              </a:rPr>
              <a:t>Correo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76856" y="2194560"/>
            <a:ext cx="1243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Llega a la bandeja de desarrollo.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648456" y="2103120"/>
            <a:ext cx="155448" cy="201168"/>
          </a:xfrm>
          <a:prstGeom prst="rightArrow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840480" y="1280160"/>
            <a:ext cx="1463040" cy="1874519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3968496" y="1417320"/>
            <a:ext cx="384048" cy="384048"/>
          </a:xfrm>
          <a:prstGeom prst="ellipse">
            <a:avLst/>
          </a:prstGeom>
          <a:solidFill>
            <a:srgbClr val="F9B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68496" y="14173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A2240"/>
                </a:solidFill>
                <a:latin typeface="Calibr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68496" y="1892807"/>
            <a:ext cx="1243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2240"/>
                </a:solidFill>
                <a:latin typeface="Calibri"/>
              </a:rPr>
              <a:t>Verificación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68496" y="2194560"/>
            <a:ext cx="1243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Enlace de un solo uso, válido por 24 h.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5340096" y="2103120"/>
            <a:ext cx="155448" cy="201168"/>
          </a:xfrm>
          <a:prstGeom prst="rightArrow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532120" y="1280160"/>
            <a:ext cx="1463040" cy="1874519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5660136" y="1417320"/>
            <a:ext cx="384048" cy="384048"/>
          </a:xfrm>
          <a:prstGeom prst="ellipse">
            <a:avLst/>
          </a:prstGeom>
          <a:solidFill>
            <a:srgbClr val="F9B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0136" y="14173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A2240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0136" y="1892807"/>
            <a:ext cx="1243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2240"/>
                </a:solidFill>
                <a:latin typeface="Calibri"/>
              </a:rPr>
              <a:t>Inicio de sesión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0136" y="2194560"/>
            <a:ext cx="1243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Token de 30 minutos y renovación en cookie httpOnly.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031736" y="2103120"/>
            <a:ext cx="155448" cy="201168"/>
          </a:xfrm>
          <a:prstGeom prst="rightArrow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223760" y="1280160"/>
            <a:ext cx="1463040" cy="1874519"/>
          </a:xfrm>
          <a:prstGeom prst="roundRect">
            <a:avLst>
              <a:gd name="adj" fmla="val 8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7351776" y="1417320"/>
            <a:ext cx="384048" cy="384048"/>
          </a:xfrm>
          <a:prstGeom prst="ellipse">
            <a:avLst/>
          </a:prstGeom>
          <a:solidFill>
            <a:srgbClr val="F9B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51776" y="14173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A2240"/>
                </a:solidFill>
                <a:latin typeface="Calibri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51776" y="1892807"/>
            <a:ext cx="1243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Cierre de sesión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3383280"/>
            <a:ext cx="4023360" cy="6400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21792" y="338328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Una cuenta sin verificar o desactivada </a:t>
            </a:r>
            <a:r>
              <a:rPr sz="1400" b="1">
                <a:solidFill>
                  <a:srgbClr val="1E2A3A"/>
                </a:solidFill>
                <a:latin typeface="Calibri"/>
              </a:rPr>
              <a:t>no entra.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663440" y="3383280"/>
            <a:ext cx="4023360" cy="6400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4828032" y="338328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La página de asignaturas </a:t>
            </a:r>
            <a:r>
              <a:rPr sz="1400" b="1">
                <a:solidFill>
                  <a:srgbClr val="1E2A3A"/>
                </a:solidFill>
                <a:latin typeface="Calibri"/>
              </a:rPr>
              <a:t>lee la API de Catálogo.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478"/>
                </a:solidFill>
                <a:latin typeface="Calibri"/>
              </a:rPr>
              <a:t>Funciona en la rama de integración demo/semana-08; lo vemos en la demo.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TRABAJAMOS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Scrum, Jira y un Pull Request revisado por historia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606040" cy="1901952"/>
          </a:xfrm>
          <a:prstGeom prst="roundRect">
            <a:avLst>
              <a:gd name="adj" fmla="val 381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21792" y="1426464"/>
            <a:ext cx="457200" cy="45720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36192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264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y Jira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621792" y="1938528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dos semanas. Jira desde el Sprint 2, a pedido del profesor: 9 épicas, 37 historias y Daily escrito.</a:t>
            </a:r>
          </a:p>
        </p:txBody>
      </p:sp>
      <p:sp>
        <p:nvSpPr>
          <p:cNvPr id="9" name="Shape 6"/>
          <p:cNvSpPr/>
          <p:nvPr/>
        </p:nvSpPr>
        <p:spPr>
          <a:xfrm>
            <a:off x="3268980" y="1261872"/>
            <a:ext cx="2606040" cy="1901952"/>
          </a:xfrm>
          <a:prstGeom prst="roundRect">
            <a:avLst>
              <a:gd name="adj" fmla="val 381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3433572" y="1426464"/>
            <a:ext cx="457200" cy="45720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153619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00500" y="14264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y Pull Requests</a:t>
            </a:r>
          </a:p>
        </p:txBody>
      </p:sp>
      <p:sp>
        <p:nvSpPr>
          <p:cNvPr id="13" name="Text 9"/>
          <p:cNvSpPr txBox="1"/>
          <p:nvPr/>
        </p:nvSpPr>
        <p:spPr>
          <a:xfrm>
            <a:off x="3433572" y="1938528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rama y un PR por historia. Nadie aprueba su propio PR. Squash and merge.</a:t>
            </a:r>
          </a:p>
        </p:txBody>
      </p:sp>
      <p:sp>
        <p:nvSpPr>
          <p:cNvPr id="14" name="Shape 10"/>
          <p:cNvSpPr/>
          <p:nvPr/>
        </p:nvSpPr>
        <p:spPr>
          <a:xfrm>
            <a:off x="6080760" y="1261872"/>
            <a:ext cx="2606040" cy="1901952"/>
          </a:xfrm>
          <a:prstGeom prst="roundRect">
            <a:avLst>
              <a:gd name="adj" fmla="val 381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1"/>
          <p:cNvSpPr/>
          <p:nvPr/>
        </p:nvSpPr>
        <p:spPr>
          <a:xfrm>
            <a:off x="6245352" y="1426464"/>
            <a:ext cx="457200" cy="45720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53619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12280" y="14264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continua</a:t>
            </a:r>
          </a:p>
        </p:txBody>
      </p:sp>
      <p:sp>
        <p:nvSpPr>
          <p:cNvPr id="18" name="Text 13"/>
          <p:cNvSpPr txBox="1"/>
          <p:nvPr/>
        </p:nvSpPr>
        <p:spPr>
          <a:xfrm>
            <a:off x="6245352" y="1938528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trabajos: estilo, pruebas de backend con pytest sobre PostgreSQL, frontend y levantar el sistema completo.</a:t>
            </a:r>
          </a:p>
        </p:txBody>
      </p:sp>
      <p:sp>
        <p:nvSpPr>
          <p:cNvPr id="19" name="Text 14"/>
          <p:cNvSpPr txBox="1"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Listo: </a:t>
            </a:r>
            <a:r>
              <a:rPr lang="en-US" sz="1400" b="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 por un compañero y fusionado a develop.</a:t>
            </a:r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457200" y="3675887"/>
            <a:ext cx="8229600" cy="1051560"/>
          </a:xfrm>
          <a:prstGeom prst="roundRect">
            <a:avLst>
              <a:gd name="adj" fmla="val 8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3749039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B934"/>
                </a:solidFill>
                <a:latin typeface="Calibri"/>
              </a:rPr>
              <a:t>Uso de 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005072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«La primera versión del código de los PR #5 a #12, con sus pruebas, la generó un asistente de IA a partir de nuestra planificación; Bryan la ejecutó, la probó paso a paso y la subió, y entra a develop solo con la revisión de un compañero y la integración continua en verde.»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Y EQUIPO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repositorio y quién hizo qué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40080" y="2231136"/>
            <a:ext cx="640080" cy="640080"/>
          </a:xfrm>
          <a:prstGeom prst="ellipse">
            <a:avLst/>
          </a:prstGeom>
          <a:solidFill>
            <a:srgbClr val="F9B93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640080" y="22311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389888" y="223113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Bacchi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· Product Owner y Scrum Master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80944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Implementó los PR #5 a #12 (reasignación del 30-09 para la demo). Dueño de Identidad y Pagos.</a:t>
            </a:r>
          </a:p>
        </p:txBody>
      </p:sp>
      <p:sp>
        <p:nvSpPr>
          <p:cNvPr id="12" name="Shape 10"/>
          <p:cNvSpPr/>
          <p:nvPr/>
        </p:nvSpPr>
        <p:spPr>
          <a:xfrm>
            <a:off x="3291840" y="210312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3474720" y="2231136"/>
            <a:ext cx="640080" cy="64008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3474720" y="22311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4224528" y="223113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Damaris Iriarte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980944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Revisó y probó los PR #5, #7, #11 y #12 (07-10) y aprobó el #7. Hizo las páginas y la hoja de estilos de la planificación.</a:t>
            </a:r>
          </a:p>
        </p:txBody>
      </p:sp>
      <p:sp>
        <p:nvSpPr>
          <p:cNvPr id="20" name="Shape 18"/>
          <p:cNvSpPr/>
          <p:nvPr/>
        </p:nvSpPr>
        <p:spPr>
          <a:xfrm>
            <a:off x="6126480" y="210312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6309360" y="2231136"/>
            <a:ext cx="640080" cy="64008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6309360" y="22311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7059168" y="223113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Tejeda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980944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Probó el PR #9 con Docker y le subió cuatro commits (04-10 y 08-10): rutas de Nginx, migración de asignaturas, paginación y filtro por área. Rehízo la página de asignaturas el 12-09.</a:t>
            </a: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457200" y="1115568"/>
            <a:ext cx="2560320" cy="841248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4360" y="1152144"/>
            <a:ext cx="233172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A2240"/>
                </a:solidFill>
                <a:latin typeface="Calibri"/>
              </a:rPr>
              <a:t>En develop</a:t>
            </a:r>
          </a:p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PR #1 a #4 y #7 (09-10).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1115568"/>
            <a:ext cx="2560320" cy="841248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29000" y="1152144"/>
            <a:ext cx="233172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A2240"/>
                </a:solidFill>
                <a:latin typeface="Calibri"/>
              </a:rPr>
              <a:t>Abiertos</a:t>
            </a:r>
          </a:p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#5, #6, #8 a #12, y #13 con las evidencias de la Fase 2.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1115568"/>
            <a:ext cx="2560320" cy="841248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63640" y="1152144"/>
            <a:ext cx="233172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A2240"/>
                </a:solidFill>
                <a:latin typeface="Calibri"/>
              </a:rPr>
              <a:t>En main</a:t>
            </a:r>
          </a:p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La versión v0.1 todavía no está.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DEL PLAN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Sprint 1 cerró con 3 de 71 horas en Listo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1600200"/>
          </a:xfrm>
          <a:prstGeom prst="roundRect">
            <a:avLst>
              <a:gd name="adj" fmla="val 7273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4 %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40080" y="19385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b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(21-09 al 04-10): </a:t>
            </a:r>
            <a:r>
              <a:rPr lang="en-US" sz="1400" dirty="0" b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71 horas en Listo, porque los PR esperaban revisión.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3246120" cy="1600200"/>
          </a:xfrm>
          <a:prstGeom prst="roundRect">
            <a:avLst>
              <a:gd name="adj" fmla="val 7273"/>
            </a:avLst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40080" y="30449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B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640080" y="358444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al 18-10: </a:t>
            </a:r>
            <a:r>
              <a:rPr lang="en-US" sz="14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los PR y fusión del #7. El contrato HU-03 sigue pendiente.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4069080" y="1261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</a:t>
            </a:r>
          </a:p>
        </p:txBody>
      </p:sp>
      <p:sp>
        <p:nvSpPr>
          <p:cNvPr id="14" name="Shape 12"/>
          <p:cNvSpPr/>
          <p:nvPr/>
        </p:nvSpPr>
        <p:spPr>
          <a:xfrm>
            <a:off x="4069080" y="1810512"/>
            <a:ext cx="329184" cy="329184"/>
          </a:xfrm>
          <a:prstGeom prst="ellipse">
            <a:avLst/>
          </a:prstGeom>
          <a:solidFill>
            <a:srgbClr val="B8474A"/>
          </a:solidFill>
          <a:ln w="12700">
            <a:solidFill>
              <a:srgbClr val="B847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 txBox="1"/>
          <p:nvPr/>
        </p:nvSpPr>
        <p:spPr>
          <a:xfrm>
            <a:off x="4526280" y="170078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del equipo (IMP-09)</a:t>
            </a:r>
          </a:p>
        </p:txBody>
      </p:sp>
      <p:sp>
        <p:nvSpPr>
          <p:cNvPr id="17" name="Shape 14"/>
          <p:cNvSpPr/>
          <p:nvPr/>
        </p:nvSpPr>
        <p:spPr>
          <a:xfrm>
            <a:off x="4069080" y="2523744"/>
            <a:ext cx="329184" cy="329184"/>
          </a:xfrm>
          <a:prstGeom prst="ellipse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5"/>
          <p:cNvSpPr txBox="1"/>
          <p:nvPr/>
        </p:nvSpPr>
        <p:spPr>
          <a:xfrm>
            <a:off x="4526280" y="2414015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real menor a la planificada</a:t>
            </a:r>
          </a:p>
        </p:txBody>
      </p:sp>
      <p:sp>
        <p:nvSpPr>
          <p:cNvPr id="20" name="Shape 16"/>
          <p:cNvSpPr/>
          <p:nvPr/>
        </p:nvSpPr>
        <p:spPr>
          <a:xfrm>
            <a:off x="4069080" y="3236976"/>
            <a:ext cx="329184" cy="329184"/>
          </a:xfrm>
          <a:prstGeom prst="ellipse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7"/>
          <p:cNvSpPr txBox="1"/>
          <p:nvPr/>
        </p:nvSpPr>
        <p:spPr>
          <a:xfrm>
            <a:off x="4526280" y="31272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adelantado al 08-11 (IMP-03)</a:t>
            </a:r>
          </a:p>
        </p:txBody>
      </p:sp>
      <p:sp>
        <p:nvSpPr>
          <p:cNvPr id="23" name="Shape 18"/>
          <p:cNvSpPr/>
          <p:nvPr/>
        </p:nvSpPr>
        <p:spPr>
          <a:xfrm>
            <a:off x="4069080" y="3950208"/>
            <a:ext cx="329184" cy="329184"/>
          </a:xfrm>
          <a:prstGeom prst="ellipse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19"/>
          <p:cNvSpPr txBox="1"/>
          <p:nvPr/>
        </p:nvSpPr>
        <p:spPr>
          <a:xfrm>
            <a:off x="4526280" y="38404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Identidad sin escribir (IMP-04)</a:t>
            </a:r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069080" y="181051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252374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323697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395020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AL PLAN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al plan desde el 25-09</a:t>
            </a:r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457200" y="1207008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566928" y="1303020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66928" y="1303020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25-09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" y="1207008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Replanificación a cuatro sprints, con el desarrollo congelado el 08-11.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837944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66928" y="1933956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66928" y="1933956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30-09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1368" y="1837944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Reasignación para llegar a la demo. Las historias siguen siendo de sus dueños.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246888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566928" y="2564892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66928" y="2564892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Sprint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01368" y="2468880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Jira y Daily escrito desde el Sprint 2.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099816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566928" y="3310128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6928" y="3310128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Pilar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01368" y="3099816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Recorte del orden del Pilar 1, escalón 3: el panel de administración queda en consultar y desactivar usuarios. El pago simulado se mantiene.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959352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566928" y="4055364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F9B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66928" y="4055364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A2240"/>
                </a:solidFill>
                <a:latin typeface="Calibri"/>
              </a:rPr>
              <a:t>AD-12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01368" y="3959352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Páginas HTML, CSS y JavaScript servidas por Nginx en vez de la base en React (propuesta).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hasta el 08-11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207008"/>
            <a:ext cx="4754880" cy="566928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66928" y="1316736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66928" y="1316736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18-10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12801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Cierre del Sprint 2, con revisión y retrospectiva del equipo.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901952"/>
            <a:ext cx="4754880" cy="16459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566928" y="2011680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66928" y="201168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19-10 al 01-11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1975104"/>
            <a:ext cx="3246120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Sprint 3: el camino principal de punta a punta (perfil, declarar asignaturas, disponibilidad, búsqueda, solicitud, confirmación, pago simulado y evaluación), partiendo por el contrato OpenAPI de Identidad.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675887"/>
            <a:ext cx="4754880" cy="45720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566928" y="3785615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3785615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08-11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3749039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3A"/>
                </a:solidFill>
                <a:latin typeface="Calibri"/>
              </a:rPr>
              <a:t>Se congela el desarrollo.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0" y="1207008"/>
            <a:ext cx="3200400" cy="3017520"/>
          </a:xfrm>
          <a:prstGeom prst="roundRect">
            <a:avLst>
              <a:gd name="adj" fmla="val 8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87568" y="1344168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9B934"/>
                </a:solidFill>
                <a:latin typeface="Calibri"/>
              </a:rPr>
              <a:t>Le consultamos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87568" y="1810512"/>
            <a:ext cx="283464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¿AD-12 en vez de React?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¿Evaluación sobre el despliegue local en contenedores?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¿Basta la figura 1 como diagrama de componentes?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6903720" y="982980"/>
            <a:ext cx="1211580" cy="1348740"/>
          </a:xfrm>
          <a:prstGeom prst="line">
            <a:avLst/>
          </a:prstGeom>
          <a:noFill/>
          <a:ln w="25400">
            <a:solidFill>
              <a:srgbClr val="3A5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6903720" y="2331720"/>
            <a:ext cx="1303020" cy="1760220"/>
          </a:xfrm>
          <a:prstGeom prst="line">
            <a:avLst/>
          </a:prstGeom>
          <a:noFill/>
          <a:ln w="25400">
            <a:solidFill>
              <a:srgbClr val="3A5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 flipH="1">
            <a:off x="6103620" y="2331720"/>
            <a:ext cx="800100" cy="1851660"/>
          </a:xfrm>
          <a:prstGeom prst="line">
            <a:avLst/>
          </a:prstGeom>
          <a:noFill/>
          <a:ln w="25400">
            <a:solidFill>
              <a:srgbClr val="3A5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035040" y="1463040"/>
            <a:ext cx="1737360" cy="1737360"/>
          </a:xfrm>
          <a:prstGeom prst="ellipse">
            <a:avLst/>
          </a:prstGeom>
          <a:solidFill>
            <a:srgbClr val="F9B934"/>
          </a:solidFill>
          <a:ln w="12700">
            <a:solidFill>
              <a:srgbClr val="F9B93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897380"/>
            <a:ext cx="868680" cy="868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502920"/>
            <a:ext cx="960120" cy="960120"/>
          </a:xfrm>
          <a:prstGeom prst="ellipse">
            <a:avLst/>
          </a:prstGeom>
          <a:solidFill>
            <a:srgbClr val="163A6B"/>
          </a:solidFill>
          <a:ln w="12700">
            <a:solidFill>
              <a:srgbClr val="16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669" y="733349"/>
            <a:ext cx="499262" cy="49926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26680" y="3611880"/>
            <a:ext cx="960120" cy="960120"/>
          </a:xfrm>
          <a:prstGeom prst="ellipse">
            <a:avLst/>
          </a:prstGeom>
          <a:solidFill>
            <a:srgbClr val="163A6B"/>
          </a:solidFill>
          <a:ln w="12700">
            <a:solidFill>
              <a:srgbClr val="16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7109" y="3842309"/>
            <a:ext cx="499262" cy="49926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760720" y="3840480"/>
            <a:ext cx="685800" cy="685800"/>
          </a:xfrm>
          <a:prstGeom prst="ellipse">
            <a:avLst/>
          </a:prstGeom>
          <a:solidFill>
            <a:srgbClr val="163A6B"/>
          </a:solidFill>
          <a:ln w="12700">
            <a:solidFill>
              <a:srgbClr val="16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4005072"/>
            <a:ext cx="356616" cy="35661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48640" y="1188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</a:p>
        </p:txBody>
      </p:sp>
      <p:sp>
        <p:nvSpPr>
          <p:cNvPr id="14" name="Text 8"/>
          <p:cNvSpPr txBox="1"/>
          <p:nvPr/>
        </p:nvSpPr>
        <p:spPr>
          <a:xfrm>
            <a:off x="548640" y="20116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9B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demo/semana-08 · registro, verificación, inicio de sesión, catálogo y reglas de la base de datos</a:t>
            </a: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063240"/>
            <a:ext cx="292608" cy="2926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60120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github.com/Bacchi701/Plataforma-web-tutorias</a:t>
            </a:r>
            <a:endParaRPr lang="en-US" sz="14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3566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Bacchi · Francisco Tejeda · Damaris Iriarte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3444</Words>
  <Application>Microsoft Office PowerPoint</Application>
  <PresentationFormat>Presentación en pantalla (16:9)</PresentationFormat>
  <Paragraphs>290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Duoc UC · Capstone PTY4614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· Avance de la Fase 2</dc:title>
  <dc:subject>PptxGenJS Presentation</dc:subject>
  <dc:creator>Bryan Bacchi, Francisco Tejeda y Damaris Iriarte</dc:creator>
  <cp:lastModifiedBy>BRYAN IGNACIO BACCHI ACEITUNO</cp:lastModifiedBy>
  <cp:revision>2</cp:revision>
  <dcterms:created xsi:type="dcterms:W3CDTF">2026-09-26T01:17:29Z</dcterms:created>
  <dcterms:modified xsi:type="dcterms:W3CDTF">2026-09-26T01:25:51Z</dcterms:modified>
</cp:coreProperties>
</file>