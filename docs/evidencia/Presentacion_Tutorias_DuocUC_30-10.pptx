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7" r:id="rId9"/>
    <p:sldId id="266" r:id="rId10"/>
    <p:sldId id="263" r:id="rId11"/>
    <p:sldId id="264" r:id="rId12"/>
    <p:sldId id="265" r:id="rId13"/>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iR6LAvCFuAMj084vwIeNBOdT45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2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
        <p:cNvGrpSpPr/>
        <p:nvPr/>
      </p:nvGrpSpPr>
      <p:grpSpPr>
        <a:xfrm>
          <a:off x="0" y="0"/>
          <a:ext cx="0" cy="0"/>
          <a:chOff x="0" y="0"/>
          <a:chExt cx="0" cy="0"/>
        </a:xfrm>
      </p:grpSpPr>
      <p:sp>
        <p:nvSpPr>
          <p:cNvPr id="20" name="Google Shape;2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 name="Google Shape;2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Bryan.</a:t>
            </a:r>
            <a:br>
              <a:rPr lang="es-CL"/>
            </a:br>
            <a:r>
              <a:rPr lang="es-CL"/>
              <a:t>Buenas tardes, profesor y compañeros. Hoy les presentamos la Plataforma de Tutorías entre Estudiantes de Duoc UC.</a:t>
            </a:r>
            <a:br>
              <a:rPr lang="es-CL"/>
            </a:br>
            <a:r>
              <a:rPr lang="es-CL"/>
              <a:t>El equipo lo formamos Francisco Tejeda, Damaris Iriarte y yo, Bryan Bacchi.</a:t>
            </a:r>
            <a:br>
              <a:rPr lang="es-CL"/>
            </a:br>
            <a:r>
              <a:rPr lang="es-CL"/>
              <a:t>Vamos a recorrer ocho aspectos del proyecto: el equipo, el caso que dio origen a la plataforma, la metodología, las tecnologías, la arquitectura, la base de datos, la planificación y, para terminar, una demostración de lo que ya funciona.</a:t>
            </a:r>
            <a:endParaRPr/>
          </a:p>
        </p:txBody>
      </p:sp>
      <p:sp>
        <p:nvSpPr>
          <p:cNvPr id="22" name="Google Shape;2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Bryan.</a:t>
            </a:r>
            <a:br>
              <a:rPr lang="es-CL"/>
            </a:br>
            <a:r>
              <a:rPr lang="es-CL"/>
              <a:t>Partimos con el equipo y la forma en que nos repartimos el trabajo.</a:t>
            </a:r>
            <a:br>
              <a:rPr lang="es-CL"/>
            </a:br>
            <a:r>
              <a:rPr lang="es-CL"/>
              <a:t>Cada integrante se hace cargo de sus servicios de principio a fin: desde los datos hasta lo que ve el usuario en pantalla.</a:t>
            </a:r>
            <a:br>
              <a:rPr lang="es-CL"/>
            </a:br>
            <a:r>
              <a:rPr lang="es-CL"/>
              <a:t>Yo soy el líder del proyecto. Concentro los roles de Scrum Master y Product Owner, porque en un equipo de tres separarlos no aporta, y me encargo de Identidad, de Pagos y de la infraestructura. Damaris tiene a su cargo el servicio de Tutorías, que reúne los horarios, la búsqueda y las reservas, además del diseño visual. Francisco se ocupa del catálogo académico, con las carreras de Duoc UC y sus mallas, del módulo de evaluaciones y del panel de administración, y apoya el desarrollo de la interfaz.</a:t>
            </a:r>
            <a:br>
              <a:rPr lang="es-CL"/>
            </a:br>
            <a:r>
              <a:rPr lang="es-CL"/>
              <a:t>Además, cada servicio tiene un segundo responsable que sabe ponerlo en marcha y revisar los cambios, de modo que el proyecto no depende de una sola persona.</a:t>
            </a:r>
            <a:br>
              <a:rPr lang="es-CL"/>
            </a:br>
            <a:r>
              <a:rPr lang="es-CL"/>
              <a:t>Hay excepciones a ese reparto. En este sprint, para equilibrar la carga, Francisco tomó la búsqueda de tutores, que es de Tutorías, y quedó registrado en Jira. Yo tomé las mejoras que salieron de la revisión de la plataforma de esta semana y, para que llegara a esta demo, la declaración de asignaturas (HU-14), que estaba asignada a Francisco. [CONFIRMAR antes de la sesión: a quién queda HU-14 en Jira.]</a:t>
            </a:r>
            <a:br>
              <a:rPr lang="es-CL"/>
            </a:br>
            <a:r>
              <a:rPr lang="es-CL"/>
              <a:t>(Corresponde al punto 1 de la pauta.)</a:t>
            </a:r>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 name="Google Shape;65;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Damaris.</a:t>
            </a:r>
            <a:br>
              <a:rPr lang="es-CL"/>
            </a:br>
            <a:r>
              <a:rPr lang="es-CL"/>
              <a:t>Pasamos al caso que dio origen al proyecto.</a:t>
            </a:r>
            <a:br>
              <a:rPr lang="es-CL"/>
            </a:br>
            <a:r>
              <a:rPr lang="es-CL"/>
              <a:t>La ayuda académica entre compañeros ya existe en Duoc, pero cuesta encontrarla. Quien necesita reforzar un ramo suele recurrir a grupos de mensajería o a recomendaciones de pasillo, sin saber si el otro enseña bien ni qué horarios tiene.</a:t>
            </a:r>
            <a:br>
              <a:rPr lang="es-CL"/>
            </a:br>
            <a:r>
              <a:rPr lang="es-CL"/>
              <a:t>Nuestra propuesta ordena ese proceso en cuatro pasos. Primero, el registro con correo institucional verificado. Segundo, la búsqueda de tutores por asignatura o por nombre, con su evaluación a la vista. Tercero, la reserva de horarios disponibles, con aviso por correo. Y cuarto, una evaluación de 1 a 5 estrellas al terminar la sesión, que mantiene la calidad en el tiempo.</a:t>
            </a:r>
            <a:br>
              <a:rPr lang="es-CL"/>
            </a:br>
            <a:r>
              <a:rPr lang="es-CL"/>
              <a:t>Un detalle importante: no hay cuentas separadas. La misma persona puede pedir ayuda en un ramo y ser tutor en los que ya cursó: solo puede ofrecer asignaturas de su malla que estén en semestres anteriores al que cursa. Es la regla de habilitación, RN-01, y la valida el servidor.</a:t>
            </a:r>
            <a:br>
              <a:rPr lang="es-CL"/>
            </a:br>
            <a:r>
              <a:rPr lang="es-CL"/>
              <a:t>El problema afecta a quien necesita apoyo, a quien podría enseñar y no tiene cómo ofrecerse, y a la institución, que no ve esa demanda. Hay tres roles: estudiante, tutor (con la misma cuenta) y administrador. Fuera de esta versión quedan la videollamada, el chat, la aplicación móvil, los pagos reales y la integración con Duoc.</a:t>
            </a:r>
            <a:br>
              <a:rPr lang="es-CL"/>
            </a:br>
            <a:r>
              <a:rPr lang="es-CL"/>
              <a:t>(Corresponde al punto 5 de la pauta.)</a:t>
            </a:r>
            <a:endParaRPr/>
          </a:p>
        </p:txBody>
      </p:sp>
      <p:sp>
        <p:nvSpPr>
          <p:cNvPr id="66" name="Google Shape;66;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Bryan.</a:t>
            </a:r>
            <a:br>
              <a:rPr lang="es-CL"/>
            </a:br>
            <a:r>
              <a:rPr lang="es-CL"/>
              <a:t>En la metodología elegimos Scrum, adaptado a un equipo de tres personas.</a:t>
            </a:r>
            <a:br>
              <a:rPr lang="es-CL"/>
            </a:br>
            <a:r>
              <a:rPr lang="es-CL"/>
              <a:t>Trabajamos en sprints de dos semanas; el cuarto dura una, porque el desarrollo se congela el 8 de noviembre. Todo el trabajo está en Jira: las 37 historias de usuario del MVP, ordenadas por prioridad, y siete nuevas que salieron esta semana de una revisión de la plataforma funcionando, entre los tres.</a:t>
            </a:r>
            <a:br>
              <a:rPr lang="es-CL"/>
            </a:br>
            <a:r>
              <a:rPr lang="es-CL"/>
              <a:t>Como nuestros horarios no coinciden, acordamos un Daily escrito en Jira: lo que hicimos, lo que haremos y los bloqueos. Lo hemos cumplido poco: unos pocos registros en el Sprint 2 y ninguno en el Sprint 3. [Si antes de la sesión ya hay un Daily publicado en SCRUM-69, agregar: «y lo retomamos esta semana».]</a:t>
            </a:r>
            <a:br>
              <a:rPr lang="es-CL"/>
            </a:br>
            <a:r>
              <a:rPr lang="es-CL"/>
              <a:t>En el código, cada historia tiene su propia rama y se integra mediante un Pull Request que otro compañero debe revisar. Nadie aprueba su propio trabajo. GitHub Actions revisa el estilo, corre las pruebas de cada servicio y levanta el sistema completo.</a:t>
            </a:r>
            <a:br>
              <a:rPr lang="es-CL"/>
            </a:br>
            <a:r>
              <a:rPr lang="es-CL"/>
              <a:t>Consideramos que una tarea está terminada cuando cumple su criterio de aceptación en el sistema levantado, las pruebas pasan, un compañero la aprueba y está fusionada en develop.</a:t>
            </a:r>
            <a:br>
              <a:rPr lang="es-CL"/>
            </a:br>
            <a:r>
              <a:rPr lang="es-CL"/>
              <a:t>Sobre la IA: la primera versión del código, con sus pruebas, la genera un asistente de IA a partir de nuestra planificación. Quien la sube la ejecuta y la prueba paso a paso, y entra a develop solo con la revisión de un compañero y la integración continua en verde.</a:t>
            </a:r>
            <a:br>
              <a:rPr lang="es-CL"/>
            </a:br>
            <a:r>
              <a:rPr lang="es-CL"/>
              <a:t>[Jira al 29-10: SCRUM-51, el Daily del Sprint 2, tiene 2 comentarios, y hay 3 Daily más anotados como tareas sueltas (SCRUM-64 a 66); SCRUM-69, el del Sprint 3, no tiene ninguno.]</a:t>
            </a:r>
            <a:br>
              <a:rPr lang="es-CL"/>
            </a:br>
            <a:r>
              <a:rPr lang="es-CL"/>
              <a:t>(Corresponde al punto 2 de la pauta.)</a:t>
            </a:r>
            <a:endParaRPr/>
          </a:p>
        </p:txBody>
      </p:sp>
      <p:sp>
        <p:nvSpPr>
          <p:cNvPr id="93" name="Google Shape;93;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Francisco.</a:t>
            </a:r>
            <a:br>
              <a:rPr lang="es-CL"/>
            </a:br>
            <a:r>
              <a:rPr lang="es-CL"/>
              <a:t>Estas son las tecnologías que elegimos. Todas son gratuitas o de código abierto y muy usadas en la industria.</a:t>
            </a:r>
            <a:br>
              <a:rPr lang="es-CL"/>
            </a:br>
            <a:r>
              <a:rPr lang="es-CL"/>
              <a:t>Para el servidor usamos Python con Django REST Framework, que nos permite escribir las reglas del sistema de forma ordenada y exponerlas como servicios.</a:t>
            </a:r>
            <a:br>
              <a:rPr lang="es-CL"/>
            </a:br>
            <a:r>
              <a:rPr lang="es-CL"/>
              <a:t>La interfaz está hecha con páginas HTML, CSS y JavaScript, sin framework, servidas por la misma puerta de entrada. El plan original era React; la decisión de arquitectura AD-12 dejaba prevista esta alternativa, y es la que aplicamos.</a:t>
            </a:r>
            <a:br>
              <a:rPr lang="es-CL"/>
            </a:br>
            <a:r>
              <a:rPr lang="es-CL"/>
              <a:t>Los datos viven en PostgreSQL 16: son cuatro bases independientes, una por servicio.</a:t>
            </a:r>
            <a:br>
              <a:rPr lang="es-CL"/>
            </a:br>
            <a:r>
              <a:rPr lang="es-CL"/>
              <a:t>En infraestructura, Nginx funciona como puerta de entrada y Docker Compose levanta todos los componentes juntos en una red privada.</a:t>
            </a:r>
            <a:br>
              <a:rPr lang="es-CL"/>
            </a:br>
            <a:r>
              <a:rPr lang="es-CL"/>
              <a:t>Para la seguridad y la calidad usamos tokens JWT firmados, pruebas automáticas con Pytest y GitHub Actions en cada Pull Request. Y para gestionar el trabajo, Jira y GitHub.</a:t>
            </a:r>
            <a:br>
              <a:rPr lang="es-CL"/>
            </a:br>
            <a:r>
              <a:rPr lang="es-CL"/>
              <a:t>[Si preguntan por qué se dejó React: solo uno de los tres lo había usado, así que la planificación (AD-12) dejó un punto de decisión al cierre del Sprint 1, el 4 de octubre: si la base en React no estaba funcionando, se pasaba a HTML, CSS y JavaScript sin framework, reutilizando las páginas que ya teníamos, y aplicamos ese plan. CONFIRMAR antes de la sesión cuándo se decidió y si se le informó al profesor (el Pilar 3 pide consultarle los cambios de arquitectura).]</a:t>
            </a:r>
            <a:br>
              <a:rPr lang="es-CL"/>
            </a:br>
            <a:r>
              <a:rPr lang="es-CL"/>
              <a:t>(Corresponde al punto 6 de la pauta.)</a:t>
            </a:r>
            <a:endParaRPr/>
          </a:p>
        </p:txBody>
      </p:sp>
      <p:sp>
        <p:nvSpPr>
          <p:cNvPr id="119" name="Google Shape;119;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Francisco.</a:t>
            </a:r>
            <a:br>
              <a:rPr lang="es-CL"/>
            </a:br>
            <a:r>
              <a:rPr lang="es-CL"/>
              <a:t>Esta es la arquitectura de la solución.</a:t>
            </a:r>
            <a:br>
              <a:rPr lang="es-CL"/>
            </a:br>
            <a:r>
              <a:rPr lang="es-CL"/>
              <a:t>Usamos microservicios: piezas pequeñas e independientes que se comunican entre sí. El cliente web nunca habla directamente con los servicios ni con las bases de datos; todo pasa por la puerta de entrada, que es Nginx en el puerto 8080.</a:t>
            </a:r>
            <a:br>
              <a:rPr lang="es-CL"/>
            </a:br>
            <a:r>
              <a:rPr lang="es-CL"/>
              <a:t>Detrás de ella funcionan cuatro servicios: Identidad, Catálogo académico, Tutorías y Pagos. Cada uno tiene su propia base de datos PostgreSQL, y ninguno consulta la base de otro.</a:t>
            </a:r>
            <a:br>
              <a:rPr lang="es-CL"/>
            </a:br>
            <a:r>
              <a:rPr lang="es-CL"/>
              <a:t>Para la autenticación, el servicio de Identidad firma las credenciales con una clave privada, y los servicios que piden sesión las verifican con la clave pública. Así comprueban que son auténticas sin consultar a Identidad cada vez.</a:t>
            </a:r>
            <a:br>
              <a:rPr lang="es-CL"/>
            </a:br>
            <a:r>
              <a:rPr lang="es-CL"/>
              <a:t>Cuando un servicio necesita datos de otro, lo llama por HTTP dentro de la red privada. Por ejemplo, para que un estudiante declare una asignatura, Tutorías le pide a Identidad los datos del estudiante, con su mismo token, y a Catálogo la malla de su carrera; con eso valida la regla de habilitación. Si alguno no responde en 3 segundos, la petición termina con un error que dice cuál falló.</a:t>
            </a:r>
            <a:br>
              <a:rPr lang="es-CL"/>
            </a:br>
            <a:r>
              <a:rPr lang="es-CL"/>
              <a:t>Todo el sistema se pone en marcha con un solo comando de Docker Compose: son diez contenedores, incluida una bandeja de correo de prueba.</a:t>
            </a:r>
            <a:br>
              <a:rPr lang="es-CL"/>
            </a:br>
            <a:r>
              <a:rPr lang="es-CL"/>
              <a:t>(Corresponde al punto 4 de la pauta.)</a:t>
            </a:r>
            <a:endParaRPr/>
          </a:p>
        </p:txBody>
      </p:sp>
      <p:sp>
        <p:nvSpPr>
          <p:cNvPr id="156" name="Google Shape;15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Damaris.</a:t>
            </a:r>
            <a:br>
              <a:rPr lang="es-CL"/>
            </a:br>
            <a:r>
              <a:rPr lang="es-CL"/>
              <a:t>En la base de datos diseñamos un modelo de 21 tablas, repartidas en cuatro bases independientes de PostgreSQL.</a:t>
            </a:r>
            <a:br>
              <a:rPr lang="es-CL"/>
            </a:br>
            <a:r>
              <a:rPr lang="es-CL"/>
              <a:t>El modelo cumple la tercera forma normal. En simple: cada celda guarda un solo valor, cada dato depende de su clave completa y ningún dato depende de otro que no sea la clave. Eso evita inconsistencias cuando la información se actualiza. Las repeticiones que quedan son a propósito: las copias de lectura de Tutorías, el monto congelado de cada reserva y la reputación del tutor.</a:t>
            </a:r>
            <a:br>
              <a:rPr lang="es-CL"/>
            </a:br>
            <a:r>
              <a:rPr lang="es-CL"/>
              <a:t>Además, las reglas más importantes del negocio las hace cumplir la propia base de datos. Primero, un tutor no puede publicar horarios que se superpongan. Segundo, un mismo horario no admite más de una reserva confirmada. Y tercero, nadie puede reservar su propia tutoría.</a:t>
            </a:r>
            <a:br>
              <a:rPr lang="es-CL"/>
            </a:br>
            <a:r>
              <a:rPr lang="es-CL"/>
              <a:t>Como las reglas viven en la base, se respetan incluso si varias personas intentan reservar al mismo tiempo.</a:t>
            </a:r>
            <a:br>
              <a:rPr lang="es-CL"/>
            </a:br>
            <a:r>
              <a:rPr lang="es-CL"/>
              <a:t>En la lámina siguiente, el modelo: cómo se relacionan las tablas.</a:t>
            </a:r>
            <a:br>
              <a:rPr lang="es-CL"/>
            </a:br>
            <a:r>
              <a:rPr lang="es-CL"/>
              <a:t>(Corresponde al punto 3 de la pauta.)</a:t>
            </a:r>
            <a:endParaRPr/>
          </a:p>
        </p:txBody>
      </p:sp>
      <p:sp>
        <p:nvSpPr>
          <p:cNvPr id="193" name="Google Shape;193;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s-CL"/>
              <a:t>Presenta: Damaris.</a:t>
            </a:r>
            <a:br>
              <a:rPr lang="es-CL"/>
            </a:br>
            <a:r>
              <a:rPr lang="es-CL"/>
              <a:t>Este es el modelo: las tablas principales de cada base y cómo se relacionan. Las líneas continuas son claves foráneas dentro de una misma base: la raya corta es «uno» y las tres patas, «muchos».</a:t>
            </a:r>
            <a:br>
              <a:rPr lang="es-CL"/>
            </a:br>
            <a:r>
              <a:rPr lang="es-CL"/>
              <a:t>Por ejemplo, en Catálogo la raya está junto a carrera y las patas junto a malla: una carrera tiene muchas mallas. Cada malla ubica sus asignaturas en un semestre, y con ese semestre Tutorías valida quién puede enseñar una asignatura.</a:t>
            </a:r>
            <a:br>
              <a:rPr lang="es-CL"/>
            </a:br>
            <a:r>
              <a:rPr lang="es-CL"/>
              <a:t>En Tutorías, el tutor declara las asignaturas que enseña, con su tarifa, y publica sus bloques de horario. Una reserva es de un bloque y de una asignatura, la solicita un estudiante y puede tener una evaluación. El tutor no se guarda en la reserva: se llega a él por el bloque, así el dato no se repite.</a:t>
            </a:r>
            <a:br>
              <a:rPr lang="es-CL"/>
            </a:br>
            <a:r>
              <a:rPr lang="es-CL"/>
              <a:t>Entre bases no hay claves foráneas: son las líneas punteadas. Identidad guarda el identificador de la carrera; Pagos, el de la reserva, y Tutorías guarda copias de lectura del usuario y de la asignatura.</a:t>
            </a:r>
            <a:br>
              <a:rPr lang="es-CL"/>
            </a:br>
            <a:r>
              <a:rPr lang="es-CL"/>
              <a:t>En la lámina siguiente, la estructura: qué tablas guarda cada base.</a:t>
            </a:r>
            <a:br>
              <a:rPr lang="es-CL"/>
            </a:br>
            <a:r>
              <a:rPr lang="es-CL"/>
              <a:t>[Para las preguntas: aquí están 13 de las 21 tablas. Las otras ocho son token_verificacion, refresh_token y aviso_correo en Identidad; prerrequisito, sede, importacion_catalogo e importacion_error en Catálogo, y ejecucion_tarea en Tutorías. Una reserva tiene a lo más una evaluación. La reserva tiene una segunda clave foránea a usuario_ref, cancelada_por_usuario (quién la canceló); no se dibuja para no cargar la lámina. Dónde están los diagramas completos: en la nota de la lámina siguiente.]</a:t>
            </a:r>
            <a:br>
              <a:rPr lang="es-CL"/>
            </a:br>
            <a:r>
              <a:rPr lang="es-CL"/>
              <a:t>(Corresponde al punto 3 de la pauta.)</a:t>
            </a:r>
            <a:endParaRP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s-CL"/>
              <a:t>Presenta: Damaris.</a:t>
            </a:r>
            <a:br>
              <a:rPr lang="es-CL"/>
            </a:br>
            <a:r>
              <a:rPr lang="es-CL"/>
              <a:t>Esta es la estructura: qué guarda cada base.</a:t>
            </a:r>
            <a:br>
              <a:rPr lang="es-CL"/>
            </a:br>
            <a:r>
              <a:rPr lang="es-CL"/>
              <a:t>Identidad guarda las cuentas, los enlaces de verificación, las sesiones abiertas y el registro de cada correo enviado. Catálogo tiene las carreras, sus mallas, las asignaturas y el semestre de cada una en su malla, los prerrequisitos, las sedes y el registro de cada carga del catálogo. Tutorías tiene los perfiles de tutor con su tarifa, los bloques de disponibilidad, las reservas y las evaluaciones, el registro de las tareas programadas y dos copias de lectura. Pagos guarda el pago de cada reserva y cada intento.</a:t>
            </a:r>
            <a:br>
              <a:rPr lang="es-CL"/>
            </a:br>
            <a:r>
              <a:rPr lang="es-CL"/>
              <a:t>Las copias de lectura que vimos en el modelo hacen rápida la búsqueda de tutores. Se ponen al día cuando el usuario abre o guarda su perfil, o declara una asignatura: si alguien se cambia el nombre, la búsqueda muestra el nuevo. Las columnas y claves de cada tabla están en los diagramas del repositorio; si quieren, los mostramos.</a:t>
            </a:r>
            <a:br>
              <a:rPr lang="es-CL"/>
            </a:br>
            <a:r>
              <a:rPr lang="es-CL"/>
              <a:t>[Para las preguntas: los diagramas de las 21 tablas, con todas sus columnas, están en docs/diagramas (llegan a develop con el PR #25; antes, ahí está la versión 1.3, anterior a la revisión de 3FN). La vista global es 05_vista_global.png.]</a:t>
            </a:r>
            <a:br>
              <a:rPr lang="es-CL"/>
            </a:br>
            <a:r>
              <a:rPr lang="es-CL"/>
              <a:t>(Corresponde al punto 3 de la pauta.)</a:t>
            </a:r>
            <a:endParaRP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Bryan.</a:t>
            </a:r>
            <a:br>
              <a:rPr lang="es-CL"/>
            </a:br>
            <a:r>
              <a:rPr lang="es-CL"/>
              <a:t>Sobre la planificación: organizamos el avance en cuatro sprints hasta el 8 de noviembre.</a:t>
            </a:r>
            <a:br>
              <a:rPr lang="es-CL"/>
            </a:br>
            <a:r>
              <a:rPr lang="es-CL"/>
              <a:t>Los dos primeros dejaron la base funcionando: los contenedores, la puerta de entrada, el registro e inicio de sesión con correo institucional y la consulta del catálogo académico. Pero no los cerramos completos: varias de sus historias se terminaron recién en el Sprint 3, y la carga de carreras reales sigue pendiente.</a:t>
            </a:r>
            <a:br>
              <a:rPr lang="es-CL"/>
            </a:br>
            <a:r>
              <a:rPr lang="es-CL"/>
              <a:t>Ahora estamos en el Sprint 3, que termina el 1 de noviembre. Ya están el perfil, la declaración de asignaturas según la malla, los horarios de los tutores y la búsqueda. Esta semana revisamos juntos la plataforma funcionando, y de esa revisión salieron las mejoras que van a ver en la demo. El flujo de reservas va atrasado: solicitar, confirmar y el pago simulado siguen pendientes, igual que la carga de 3 a 5 carreras reales.</a:t>
            </a:r>
            <a:br>
              <a:rPr lang="es-CL"/>
            </a:br>
            <a:r>
              <a:rPr lang="es-CL"/>
              <a:t>El Sprint 4 dura una semana, del 2 al 8 de noviembre: cancelación, evaluaciones y reputación, avisos por correo, panel de administración y pruebas de punta a punta. Le quedan 128 horas de historias obligatorias, más lo que no cierre el Sprint 3, y no alcanza para todo. Por eso seguimos el orden de recorte que definimos en la planificación. Desde el 5 de octubre, de forma provisoria, el panel de administración quedó en consultar y desactivar usuarios. El paso siguiente es quitar el pago simulado y dejar las tutorías gratuitas, y eso lo consultamos con usted. Después, los avisos por correo pasarían a un indicador dentro de la plataforma, y al final la evaluación quedaría solo con la nota.</a:t>
            </a:r>
            <a:br>
              <a:rPr lang="es-CL"/>
            </a:br>
            <a:r>
              <a:rPr lang="es-CL"/>
              <a:t>El 8 de noviembre se congela el desarrollo, y las semanas siguientes quedan para el informe y los ensayos.</a:t>
            </a:r>
            <a:br>
              <a:rPr lang="es-CL"/>
            </a:br>
            <a:r>
              <a:rPr lang="es-CL"/>
              <a:t>[Para las preguntas: las 128 h son HU-11, HU-16, HU-19, HU-25 a HU-29, HU-31 y HU-33 a HU-37, con el panel (HU-33) en sus 19 h; recortado, queda en unas 6 h. HU-32 (ensayo y documentación, 6 h) va después del 8-11. HU-30 («Mis reservas y solicitudes recibidas», 6 h), donde el tutor confirma, no está en ningún sprint: DECIDIR si entra al Sprint 4. Del Sprint 3 quedan unas 72 h sin terminar y 17 h en revisión. CONFIRMAR antes de la sesión que el recorte provisorio del panel sigue vigente.]</a:t>
            </a:r>
            <a:br>
              <a:rPr lang="es-CL"/>
            </a:br>
            <a:r>
              <a:rPr lang="es-CL"/>
              <a:t>(Corresponde al punto 7 de la pauta.)</a:t>
            </a:r>
            <a:endParaRPr/>
          </a:p>
        </p:txBody>
      </p:sp>
      <p:sp>
        <p:nvSpPr>
          <p:cNvPr id="224" name="Google Shape;22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Presentan los tres (sección 2 del guion de la demo).</a:t>
            </a:r>
            <a:br>
              <a:rPr lang="es-CL"/>
            </a:br>
            <a:r>
              <a:rPr lang="es-CL"/>
              <a:t>Ahora, la demostración de lo que ya funciona, sobre la versión de integración del proyecto, en un computador local.</a:t>
            </a:r>
            <a:br>
              <a:rPr lang="es-CL"/>
            </a:br>
            <a:r>
              <a:rPr lang="es-CL"/>
              <a:t>Bryan: en Mi perfil, Camila, que está en segundo semestre, solo puede ofrecer las asignaturas de primero; es la regla de habilitación y la valida el servidor. Declara Base de Datos gratis y Matemática Aplicada a $4.000, y después se cambia el nombre.</a:t>
            </a:r>
            <a:br>
              <a:rPr lang="es-CL"/>
            </a:br>
            <a:r>
              <a:rPr lang="es-CL"/>
              <a:t>Francisco: en Asignaturas, cada una despliega sus tutores, primero los mejor evaluados, y Camila ya aparece con su nombre nuevo. En Tutores, la búsqueda por nombre, sin importar tildes, y el filtro por evaluación. En el perfil de un tutor, sus asignaturas, tarifas y horarios.</a:t>
            </a:r>
            <a:br>
              <a:rPr lang="es-CL"/>
            </a:br>
            <a:r>
              <a:rPr lang="es-CL"/>
              <a:t>Damaris: en Mi disponibilidad, Camila publica un bloque para mañana. Un bloque que se cruza con otro se rechaza: lo impide la propia base de datos. El bloque nuevo aparece en su perfil público.</a:t>
            </a:r>
            <a:br>
              <a:rPr lang="es-CL"/>
            </a:br>
            <a:r>
              <a:rPr lang="es-CL"/>
              <a:t>Pasemos a la pantalla.</a:t>
            </a:r>
            <a:br>
              <a:rPr lang="es-CL"/>
            </a:br>
            <a:r>
              <a:rPr lang="es-CL"/>
              <a:t>(Corresponde al punto 8 de la pauta. El paso a paso está en el guion de la demo.)</a:t>
            </a:r>
            <a:endParaRPr/>
          </a:p>
        </p:txBody>
      </p:sp>
      <p:sp>
        <p:nvSpPr>
          <p:cNvPr id="248" name="Google Shape;24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CL"/>
              <a:t>Presenta: Bryan, después de la demo.</a:t>
            </a:r>
            <a:br>
              <a:rPr lang="es-CL"/>
            </a:br>
            <a:r>
              <a:rPr lang="es-CL"/>
              <a:t>Esto es lo que está hoy en develop. Lo que sigue es solicitar la tutoría, que el tutor la confirme y el pago simulado, y en el Sprint 4, la cancelación, las evaluaciones y los avisos. El 8 de noviembre se congela el desarrollo.</a:t>
            </a:r>
            <a:br>
              <a:rPr lang="es-CL"/>
            </a:br>
            <a:r>
              <a:rPr lang="es-CL"/>
              <a:t>Muchas gracias por su atención; quedamos atentos a sus preguntas, comentarios y sugerencias.</a:t>
            </a:r>
            <a:endParaRPr/>
          </a:p>
        </p:txBody>
      </p:sp>
      <p:sp>
        <p:nvSpPr>
          <p:cNvPr id="279" name="Google Shape;27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PORTADA">
  <p:cSld name="PORTADA">
    <p:bg>
      <p:bgPr>
        <a:solidFill>
          <a:srgbClr val="FFFFFF"/>
        </a:solidFill>
        <a:effectLst/>
      </p:bgPr>
    </p:bg>
    <p:spTree>
      <p:nvGrpSpPr>
        <p:cNvPr id="1" name="Shape 11"/>
        <p:cNvGrpSpPr/>
        <p:nvPr/>
      </p:nvGrpSpPr>
      <p:grpSpPr>
        <a:xfrm>
          <a:off x="0" y="0"/>
          <a:ext cx="0" cy="0"/>
          <a:chOff x="0" y="0"/>
          <a:chExt cx="0" cy="0"/>
        </a:xfrm>
      </p:grpSpPr>
      <p:sp>
        <p:nvSpPr>
          <p:cNvPr id="12" name="Google Shape;12;p12"/>
          <p:cNvSpPr/>
          <p:nvPr/>
        </p:nvSpPr>
        <p:spPr>
          <a:xfrm>
            <a:off x="0" y="0"/>
            <a:ext cx="91440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2"/>
          <p:cNvSpPr txBox="1">
            <a:spLocks noGrp="1"/>
          </p:cNvSpPr>
          <p:nvPr>
            <p:ph type="title"/>
          </p:nvPr>
        </p:nvSpPr>
        <p:spPr>
          <a:xfrm>
            <a:off x="640080" y="1188720"/>
            <a:ext cx="5303520" cy="16459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1"/>
              </a:buClr>
              <a:buSzPts val="4000"/>
              <a:buFont typeface="Cambria"/>
              <a:buNone/>
              <a:defRPr sz="4000" b="1" i="0" u="none" strike="noStrike" cap="non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IDO">
  <p:cSld name="CONTENIDO">
    <p:bg>
      <p:bgPr>
        <a:solidFill>
          <a:srgbClr val="FFFFFF"/>
        </a:solidFill>
        <a:effectLst/>
      </p:bgPr>
    </p:bg>
    <p:spTree>
      <p:nvGrpSpPr>
        <p:cNvPr id="1" name="Shape 14"/>
        <p:cNvGrpSpPr/>
        <p:nvPr/>
      </p:nvGrpSpPr>
      <p:grpSpPr>
        <a:xfrm>
          <a:off x="0" y="0"/>
          <a:ext cx="0" cy="0"/>
          <a:chOff x="0" y="0"/>
          <a:chExt cx="0" cy="0"/>
        </a:xfrm>
      </p:grpSpPr>
      <p:sp>
        <p:nvSpPr>
          <p:cNvPr id="15" name="Google Shape;15;p13"/>
          <p:cNvSpPr txBox="1">
            <a:spLocks noGrp="1"/>
          </p:cNvSpPr>
          <p:nvPr>
            <p:ph type="title"/>
          </p:nvPr>
        </p:nvSpPr>
        <p:spPr>
          <a:xfrm>
            <a:off x="457200" y="274320"/>
            <a:ext cx="8229600" cy="73152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2"/>
              </a:buClr>
              <a:buSzPts val="3600"/>
              <a:buFont typeface="Cambria"/>
              <a:buNone/>
              <a:defRPr sz="3600" b="1" i="0" u="none" strike="noStrike" cap="non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13"/>
          <p:cNvSpPr/>
          <p:nvPr/>
        </p:nvSpPr>
        <p:spPr>
          <a:xfrm>
            <a:off x="457200" y="4754880"/>
            <a:ext cx="5486400" cy="2286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4"/>
              </a:buClr>
              <a:buSzPts val="1000"/>
              <a:buFont typeface="Calibri"/>
              <a:buNone/>
            </a:pPr>
            <a:r>
              <a:rPr lang="en-US" sz="1000" b="0" i="0" u="none" strike="noStrike" cap="none">
                <a:solidFill>
                  <a:schemeClr val="accent4"/>
                </a:solidFill>
                <a:latin typeface="Calibri"/>
                <a:ea typeface="Calibri"/>
                <a:cs typeface="Calibri"/>
                <a:sym typeface="Calibri"/>
              </a:rPr>
              <a:t>Plataforma de Tutorías entre Estudiantes · Duoc UC</a:t>
            </a:r>
            <a:endParaRPr sz="1000" b="0" i="0" u="none" strike="noStrike" cap="none">
              <a:solidFill>
                <a:schemeClr val="dk1"/>
              </a:solidFill>
              <a:latin typeface="Calibri"/>
              <a:ea typeface="Calibri"/>
              <a:cs typeface="Calibri"/>
              <a:sym typeface="Calibri"/>
            </a:endParaRPr>
          </a:p>
        </p:txBody>
      </p:sp>
      <p:sp>
        <p:nvSpPr>
          <p:cNvPr id="17" name="Google Shape;17;p13"/>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000" b="0" i="0" u="none" strike="noStrike" cap="none">
                <a:solidFill>
                  <a:schemeClr val="accent4"/>
                </a:solidFill>
                <a:latin typeface="Calibri"/>
                <a:ea typeface="Calibri"/>
                <a:cs typeface="Calibri"/>
                <a:sym typeface="Calibri"/>
              </a:defRPr>
            </a:lvl1pPr>
            <a:lvl2pPr marL="0" marR="0" lvl="1" indent="0" algn="r">
              <a:spcBef>
                <a:spcPts val="0"/>
              </a:spcBef>
              <a:buNone/>
              <a:defRPr sz="1000" b="0" i="0" u="none" strike="noStrike" cap="none">
                <a:solidFill>
                  <a:schemeClr val="accent4"/>
                </a:solidFill>
                <a:latin typeface="Calibri"/>
                <a:ea typeface="Calibri"/>
                <a:cs typeface="Calibri"/>
                <a:sym typeface="Calibri"/>
              </a:defRPr>
            </a:lvl2pPr>
            <a:lvl3pPr marL="0" marR="0" lvl="2" indent="0" algn="r">
              <a:spcBef>
                <a:spcPts val="0"/>
              </a:spcBef>
              <a:buNone/>
              <a:defRPr sz="1000" b="0" i="0" u="none" strike="noStrike" cap="none">
                <a:solidFill>
                  <a:schemeClr val="accent4"/>
                </a:solidFill>
                <a:latin typeface="Calibri"/>
                <a:ea typeface="Calibri"/>
                <a:cs typeface="Calibri"/>
                <a:sym typeface="Calibri"/>
              </a:defRPr>
            </a:lvl3pPr>
            <a:lvl4pPr marL="0" marR="0" lvl="3" indent="0" algn="r">
              <a:spcBef>
                <a:spcPts val="0"/>
              </a:spcBef>
              <a:buNone/>
              <a:defRPr sz="1000" b="0" i="0" u="none" strike="noStrike" cap="none">
                <a:solidFill>
                  <a:schemeClr val="accent4"/>
                </a:solidFill>
                <a:latin typeface="Calibri"/>
                <a:ea typeface="Calibri"/>
                <a:cs typeface="Calibri"/>
                <a:sym typeface="Calibri"/>
              </a:defRPr>
            </a:lvl4pPr>
            <a:lvl5pPr marL="0" marR="0" lvl="4" indent="0" algn="r">
              <a:spcBef>
                <a:spcPts val="0"/>
              </a:spcBef>
              <a:buNone/>
              <a:defRPr sz="1000" b="0" i="0" u="none" strike="noStrike" cap="none">
                <a:solidFill>
                  <a:schemeClr val="accent4"/>
                </a:solidFill>
                <a:latin typeface="Calibri"/>
                <a:ea typeface="Calibri"/>
                <a:cs typeface="Calibri"/>
                <a:sym typeface="Calibri"/>
              </a:defRPr>
            </a:lvl5pPr>
            <a:lvl6pPr marL="0" marR="0" lvl="5" indent="0" algn="r">
              <a:spcBef>
                <a:spcPts val="0"/>
              </a:spcBef>
              <a:buNone/>
              <a:defRPr sz="1000" b="0" i="0" u="none" strike="noStrike" cap="none">
                <a:solidFill>
                  <a:schemeClr val="accent4"/>
                </a:solidFill>
                <a:latin typeface="Calibri"/>
                <a:ea typeface="Calibri"/>
                <a:cs typeface="Calibri"/>
                <a:sym typeface="Calibri"/>
              </a:defRPr>
            </a:lvl6pPr>
            <a:lvl7pPr marL="0" marR="0" lvl="6" indent="0" algn="r">
              <a:spcBef>
                <a:spcPts val="0"/>
              </a:spcBef>
              <a:buNone/>
              <a:defRPr sz="1000" b="0" i="0" u="none" strike="noStrike" cap="none">
                <a:solidFill>
                  <a:schemeClr val="accent4"/>
                </a:solidFill>
                <a:latin typeface="Calibri"/>
                <a:ea typeface="Calibri"/>
                <a:cs typeface="Calibri"/>
                <a:sym typeface="Calibri"/>
              </a:defRPr>
            </a:lvl7pPr>
            <a:lvl8pPr marL="0" marR="0" lvl="7" indent="0" algn="r">
              <a:spcBef>
                <a:spcPts val="0"/>
              </a:spcBef>
              <a:buNone/>
              <a:defRPr sz="1000" b="0" i="0" u="none" strike="noStrike" cap="none">
                <a:solidFill>
                  <a:schemeClr val="accent4"/>
                </a:solidFill>
                <a:latin typeface="Calibri"/>
                <a:ea typeface="Calibri"/>
                <a:cs typeface="Calibri"/>
                <a:sym typeface="Calibri"/>
              </a:defRPr>
            </a:lvl8pPr>
            <a:lvl9pPr marL="0" marR="0" lvl="8" indent="0" algn="r">
              <a:spcBef>
                <a:spcPts val="0"/>
              </a:spcBef>
              <a:buNone/>
              <a:defRPr sz="1000" b="0" i="0" u="none" strike="noStrike" cap="none">
                <a:solidFill>
                  <a:schemeClr val="accent4"/>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11"/>
          <p:cNvSpPr txBox="1">
            <a:spLocks noGrp="1"/>
          </p:cNvSpPr>
          <p:nvPr>
            <p:ph type="sldNum" idx="12"/>
          </p:nvPr>
        </p:nvSpPr>
        <p:spPr>
          <a:xfrm>
            <a:off x="8229600" y="4754880"/>
            <a:ext cx="457200" cy="2286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000" b="0" i="0" u="none" strike="noStrike" cap="none">
                <a:solidFill>
                  <a:schemeClr val="accent4"/>
                </a:solidFill>
                <a:latin typeface="Calibri"/>
                <a:ea typeface="Calibri"/>
                <a:cs typeface="Calibri"/>
                <a:sym typeface="Calibri"/>
              </a:defRPr>
            </a:lvl1pPr>
            <a:lvl2pPr marL="0" marR="0" lvl="1" indent="0" algn="r" rtl="0">
              <a:spcBef>
                <a:spcPts val="0"/>
              </a:spcBef>
              <a:buNone/>
              <a:defRPr sz="1000" b="0" i="0" u="none" strike="noStrike" cap="none">
                <a:solidFill>
                  <a:schemeClr val="accent4"/>
                </a:solidFill>
                <a:latin typeface="Calibri"/>
                <a:ea typeface="Calibri"/>
                <a:cs typeface="Calibri"/>
                <a:sym typeface="Calibri"/>
              </a:defRPr>
            </a:lvl2pPr>
            <a:lvl3pPr marL="0" marR="0" lvl="2" indent="0" algn="r" rtl="0">
              <a:spcBef>
                <a:spcPts val="0"/>
              </a:spcBef>
              <a:buNone/>
              <a:defRPr sz="1000" b="0" i="0" u="none" strike="noStrike" cap="none">
                <a:solidFill>
                  <a:schemeClr val="accent4"/>
                </a:solidFill>
                <a:latin typeface="Calibri"/>
                <a:ea typeface="Calibri"/>
                <a:cs typeface="Calibri"/>
                <a:sym typeface="Calibri"/>
              </a:defRPr>
            </a:lvl3pPr>
            <a:lvl4pPr marL="0" marR="0" lvl="3" indent="0" algn="r" rtl="0">
              <a:spcBef>
                <a:spcPts val="0"/>
              </a:spcBef>
              <a:buNone/>
              <a:defRPr sz="1000" b="0" i="0" u="none" strike="noStrike" cap="none">
                <a:solidFill>
                  <a:schemeClr val="accent4"/>
                </a:solidFill>
                <a:latin typeface="Calibri"/>
                <a:ea typeface="Calibri"/>
                <a:cs typeface="Calibri"/>
                <a:sym typeface="Calibri"/>
              </a:defRPr>
            </a:lvl4pPr>
            <a:lvl5pPr marL="0" marR="0" lvl="4" indent="0" algn="r" rtl="0">
              <a:spcBef>
                <a:spcPts val="0"/>
              </a:spcBef>
              <a:buNone/>
              <a:defRPr sz="1000" b="0" i="0" u="none" strike="noStrike" cap="none">
                <a:solidFill>
                  <a:schemeClr val="accent4"/>
                </a:solidFill>
                <a:latin typeface="Calibri"/>
                <a:ea typeface="Calibri"/>
                <a:cs typeface="Calibri"/>
                <a:sym typeface="Calibri"/>
              </a:defRPr>
            </a:lvl5pPr>
            <a:lvl6pPr marL="0" marR="0" lvl="5" indent="0" algn="r" rtl="0">
              <a:spcBef>
                <a:spcPts val="0"/>
              </a:spcBef>
              <a:buNone/>
              <a:defRPr sz="1000" b="0" i="0" u="none" strike="noStrike" cap="none">
                <a:solidFill>
                  <a:schemeClr val="accent4"/>
                </a:solidFill>
                <a:latin typeface="Calibri"/>
                <a:ea typeface="Calibri"/>
                <a:cs typeface="Calibri"/>
                <a:sym typeface="Calibri"/>
              </a:defRPr>
            </a:lvl6pPr>
            <a:lvl7pPr marL="0" marR="0" lvl="6" indent="0" algn="r" rtl="0">
              <a:spcBef>
                <a:spcPts val="0"/>
              </a:spcBef>
              <a:buNone/>
              <a:defRPr sz="1000" b="0" i="0" u="none" strike="noStrike" cap="none">
                <a:solidFill>
                  <a:schemeClr val="accent4"/>
                </a:solidFill>
                <a:latin typeface="Calibri"/>
                <a:ea typeface="Calibri"/>
                <a:cs typeface="Calibri"/>
                <a:sym typeface="Calibri"/>
              </a:defRPr>
            </a:lvl7pPr>
            <a:lvl8pPr marL="0" marR="0" lvl="7" indent="0" algn="r" rtl="0">
              <a:spcBef>
                <a:spcPts val="0"/>
              </a:spcBef>
              <a:buNone/>
              <a:defRPr sz="1000" b="0" i="0" u="none" strike="noStrike" cap="none">
                <a:solidFill>
                  <a:schemeClr val="accent4"/>
                </a:solidFill>
                <a:latin typeface="Calibri"/>
                <a:ea typeface="Calibri"/>
                <a:cs typeface="Calibri"/>
                <a:sym typeface="Calibri"/>
              </a:defRPr>
            </a:lvl8pPr>
            <a:lvl9pPr marL="0" marR="0" lvl="8" indent="0" algn="r" rtl="0">
              <a:spcBef>
                <a:spcPts val="0"/>
              </a:spcBef>
              <a:buNone/>
              <a:defRPr sz="1000" b="0" i="0" u="none" strike="noStrike" cap="none">
                <a:solidFill>
                  <a:schemeClr val="accent4"/>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
        <p:cNvGrpSpPr/>
        <p:nvPr/>
      </p:nvGrpSpPr>
      <p:grpSpPr>
        <a:xfrm>
          <a:off x="0" y="0"/>
          <a:ext cx="0" cy="0"/>
          <a:chOff x="0" y="0"/>
          <a:chExt cx="0" cy="0"/>
        </a:xfrm>
      </p:grpSpPr>
      <p:sp>
        <p:nvSpPr>
          <p:cNvPr id="24" name="Google Shape;24;p1"/>
          <p:cNvSpPr txBox="1"/>
          <p:nvPr/>
        </p:nvSpPr>
        <p:spPr>
          <a:xfrm>
            <a:off x="640080" y="777240"/>
            <a:ext cx="53035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200"/>
              <a:buFont typeface="Calibri"/>
              <a:buNone/>
            </a:pPr>
            <a:r>
              <a:rPr lang="en-US" sz="1200" b="1" i="0" u="none" strike="noStrike" cap="none">
                <a:solidFill>
                  <a:schemeClr val="accent2"/>
                </a:solidFill>
                <a:latin typeface="Calibri"/>
                <a:ea typeface="Calibri"/>
                <a:cs typeface="Calibri"/>
                <a:sym typeface="Calibri"/>
              </a:rPr>
              <a:t>CAPSTONE PTY4614 · SECCIÓN 004D</a:t>
            </a:r>
            <a:endParaRPr sz="1200" b="0" i="0" u="none" strike="noStrike" cap="none">
              <a:solidFill>
                <a:schemeClr val="dk1"/>
              </a:solidFill>
              <a:latin typeface="Calibri"/>
              <a:ea typeface="Calibri"/>
              <a:cs typeface="Calibri"/>
              <a:sym typeface="Calibri"/>
            </a:endParaRPr>
          </a:p>
        </p:txBody>
      </p:sp>
      <p:sp>
        <p:nvSpPr>
          <p:cNvPr id="25" name="Google Shape;25;p1"/>
          <p:cNvSpPr txBox="1">
            <a:spLocks noGrp="1"/>
          </p:cNvSpPr>
          <p:nvPr>
            <p:ph type="title"/>
          </p:nvPr>
        </p:nvSpPr>
        <p:spPr>
          <a:xfrm>
            <a:off x="640080" y="1188720"/>
            <a:ext cx="5303520" cy="16459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4000"/>
              <a:buFont typeface="Cambria"/>
              <a:buNone/>
            </a:pPr>
            <a:r>
              <a:rPr lang="en-US" sz="4000" b="1">
                <a:solidFill>
                  <a:schemeClr val="lt1"/>
                </a:solidFill>
              </a:rPr>
              <a:t>Plataforma de Tutorías entre Estudiantes</a:t>
            </a:r>
            <a:endParaRPr sz="4000"/>
          </a:p>
        </p:txBody>
      </p:sp>
      <p:sp>
        <p:nvSpPr>
          <p:cNvPr id="26" name="Google Shape;26;p1"/>
          <p:cNvSpPr txBox="1"/>
          <p:nvPr/>
        </p:nvSpPr>
        <p:spPr>
          <a:xfrm>
            <a:off x="640080" y="2926080"/>
            <a:ext cx="530352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800"/>
              <a:buFont typeface="Calibri"/>
              <a:buNone/>
            </a:pPr>
            <a:r>
              <a:rPr lang="en-US" sz="1800" b="0" i="0" u="none" strike="noStrike" cap="none">
                <a:solidFill>
                  <a:schemeClr val="accent5"/>
                </a:solidFill>
                <a:latin typeface="Calibri"/>
                <a:ea typeface="Calibri"/>
                <a:cs typeface="Calibri"/>
                <a:sym typeface="Calibri"/>
              </a:rPr>
              <a:t>Presentación del proyecto y de los avances de desarrollo</a:t>
            </a:r>
            <a:endParaRPr sz="1800" b="0" i="0" u="none" strike="noStrike" cap="none">
              <a:solidFill>
                <a:schemeClr val="dk1"/>
              </a:solidFill>
              <a:latin typeface="Calibri"/>
              <a:ea typeface="Calibri"/>
              <a:cs typeface="Calibri"/>
              <a:sym typeface="Calibri"/>
            </a:endParaRPr>
          </a:p>
        </p:txBody>
      </p:sp>
      <p:sp>
        <p:nvSpPr>
          <p:cNvPr id="27" name="Google Shape;27;p1"/>
          <p:cNvSpPr txBox="1"/>
          <p:nvPr/>
        </p:nvSpPr>
        <p:spPr>
          <a:xfrm>
            <a:off x="640080" y="3749040"/>
            <a:ext cx="53035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00"/>
              <a:buFont typeface="Calibri"/>
              <a:buNone/>
            </a:pPr>
            <a:r>
              <a:rPr lang="en-US" sz="1400" b="1" i="0" u="none" strike="noStrike" cap="none" dirty="0">
                <a:solidFill>
                  <a:schemeClr val="lt1"/>
                </a:solidFill>
                <a:latin typeface="Calibri"/>
                <a:ea typeface="Calibri"/>
                <a:cs typeface="Calibri"/>
                <a:sym typeface="Calibri"/>
              </a:rPr>
              <a:t>Bryan Bacchi · Francisco Tejeda · Damaris Iriarte</a:t>
            </a:r>
            <a:endParaRPr sz="1400" b="0" i="0" u="none" strike="noStrike" cap="none" dirty="0">
              <a:solidFill>
                <a:schemeClr val="dk1"/>
              </a:solidFill>
              <a:latin typeface="Calibri"/>
              <a:ea typeface="Calibri"/>
              <a:cs typeface="Calibri"/>
              <a:sym typeface="Calibri"/>
            </a:endParaRPr>
          </a:p>
        </p:txBody>
      </p:sp>
      <p:sp>
        <p:nvSpPr>
          <p:cNvPr id="28" name="Google Shape;28;p1"/>
          <p:cNvSpPr txBox="1"/>
          <p:nvPr/>
        </p:nvSpPr>
        <p:spPr>
          <a:xfrm>
            <a:off x="640080" y="4114800"/>
            <a:ext cx="53035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Docente: Marco Antonio Valenzuela Contreras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Octubre 2026 · Duoc UC</a:t>
            </a:r>
            <a:endParaRPr sz="1400" b="0" i="0" u="none" strike="noStrike" cap="none">
              <a:solidFill>
                <a:schemeClr val="dk1"/>
              </a:solidFill>
              <a:latin typeface="Calibri"/>
              <a:ea typeface="Calibri"/>
              <a:cs typeface="Calibri"/>
              <a:sym typeface="Calibri"/>
            </a:endParaRPr>
          </a:p>
        </p:txBody>
      </p:sp>
      <p:cxnSp>
        <p:nvCxnSpPr>
          <p:cNvPr id="29" name="Google Shape;29;p1"/>
          <p:cNvCxnSpPr/>
          <p:nvPr/>
        </p:nvCxnSpPr>
        <p:spPr>
          <a:xfrm rot="10800000" flipH="1">
            <a:off x="6675120" y="1600200"/>
            <a:ext cx="731520" cy="960120"/>
          </a:xfrm>
          <a:prstGeom prst="straightConnector1">
            <a:avLst/>
          </a:prstGeom>
          <a:noFill/>
          <a:ln w="19050" cap="flat" cmpd="sng">
            <a:solidFill>
              <a:schemeClr val="accent4"/>
            </a:solidFill>
            <a:prstDash val="solid"/>
            <a:round/>
            <a:headEnd type="none" w="sm" len="sm"/>
            <a:tailEnd type="none" w="sm" len="sm"/>
          </a:ln>
        </p:spPr>
      </p:cxnSp>
      <p:cxnSp>
        <p:nvCxnSpPr>
          <p:cNvPr id="30" name="Google Shape;30;p1"/>
          <p:cNvCxnSpPr/>
          <p:nvPr/>
        </p:nvCxnSpPr>
        <p:spPr>
          <a:xfrm>
            <a:off x="7406640" y="2560320"/>
            <a:ext cx="731520" cy="1463040"/>
          </a:xfrm>
          <a:prstGeom prst="straightConnector1">
            <a:avLst/>
          </a:prstGeom>
          <a:noFill/>
          <a:ln w="19050" cap="flat" cmpd="sng">
            <a:solidFill>
              <a:schemeClr val="accent4"/>
            </a:solidFill>
            <a:prstDash val="solid"/>
            <a:round/>
            <a:headEnd type="none" w="sm" len="sm"/>
            <a:tailEnd type="none" w="sm" len="sm"/>
          </a:ln>
        </p:spPr>
      </p:cxnSp>
      <p:sp>
        <p:nvSpPr>
          <p:cNvPr id="31" name="Google Shape;31;p1"/>
          <p:cNvSpPr/>
          <p:nvPr/>
        </p:nvSpPr>
        <p:spPr>
          <a:xfrm>
            <a:off x="6675120" y="1828800"/>
            <a:ext cx="1463040" cy="14630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2" name="Google Shape;32;p1" descr="preencoded.png"/>
          <p:cNvPicPr preferRelativeResize="0"/>
          <p:nvPr/>
        </p:nvPicPr>
        <p:blipFill rotWithShape="1">
          <a:blip r:embed="rId3">
            <a:alphaModFix/>
          </a:blip>
          <a:srcRect/>
          <a:stretch/>
        </p:blipFill>
        <p:spPr>
          <a:xfrm>
            <a:off x="7040880" y="2194560"/>
            <a:ext cx="731520" cy="731520"/>
          </a:xfrm>
          <a:prstGeom prst="rect">
            <a:avLst/>
          </a:prstGeom>
          <a:noFill/>
          <a:ln>
            <a:noFill/>
          </a:ln>
        </p:spPr>
      </p:pic>
      <p:sp>
        <p:nvSpPr>
          <p:cNvPr id="33" name="Google Shape;33;p1"/>
          <p:cNvSpPr/>
          <p:nvPr/>
        </p:nvSpPr>
        <p:spPr>
          <a:xfrm>
            <a:off x="6355080" y="1097280"/>
            <a:ext cx="685800" cy="68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1" descr="preencoded.png"/>
          <p:cNvPicPr preferRelativeResize="0"/>
          <p:nvPr/>
        </p:nvPicPr>
        <p:blipFill rotWithShape="1">
          <a:blip r:embed="rId4">
            <a:alphaModFix/>
          </a:blip>
          <a:srcRect/>
          <a:stretch/>
        </p:blipFill>
        <p:spPr>
          <a:xfrm>
            <a:off x="6537960" y="1280160"/>
            <a:ext cx="320040" cy="320040"/>
          </a:xfrm>
          <a:prstGeom prst="rect">
            <a:avLst/>
          </a:prstGeom>
          <a:noFill/>
          <a:ln>
            <a:noFill/>
          </a:ln>
        </p:spPr>
      </p:pic>
      <p:sp>
        <p:nvSpPr>
          <p:cNvPr id="35" name="Google Shape;35;p1"/>
          <p:cNvSpPr/>
          <p:nvPr/>
        </p:nvSpPr>
        <p:spPr>
          <a:xfrm>
            <a:off x="7818120" y="3703320"/>
            <a:ext cx="685800" cy="68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 name="Google Shape;36;p1" descr="preencoded.png"/>
          <p:cNvPicPr preferRelativeResize="0"/>
          <p:nvPr/>
        </p:nvPicPr>
        <p:blipFill rotWithShape="1">
          <a:blip r:embed="rId5">
            <a:alphaModFix/>
          </a:blip>
          <a:srcRect/>
          <a:stretch/>
        </p:blipFill>
        <p:spPr>
          <a:xfrm>
            <a:off x="8001000" y="3886200"/>
            <a:ext cx="320040" cy="3200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2"/>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Nuestro equipo</a:t>
            </a:r>
            <a:endParaRPr sz="3600"/>
          </a:p>
        </p:txBody>
      </p:sp>
      <p:sp>
        <p:nvSpPr>
          <p:cNvPr id="43" name="Google Shape;43;p2"/>
          <p:cNvSpPr/>
          <p:nvPr/>
        </p:nvSpPr>
        <p:spPr>
          <a:xfrm>
            <a:off x="457200" y="1280160"/>
            <a:ext cx="2651760" cy="2834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640080" y="146304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txBox="1"/>
          <p:nvPr/>
        </p:nvSpPr>
        <p:spPr>
          <a:xfrm>
            <a:off x="640080" y="146304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BB</a:t>
            </a:r>
            <a:endParaRPr sz="1800" b="0" i="0" u="none" strike="noStrike" cap="none">
              <a:solidFill>
                <a:schemeClr val="dk1"/>
              </a:solidFill>
              <a:latin typeface="Calibri"/>
              <a:ea typeface="Calibri"/>
              <a:cs typeface="Calibri"/>
              <a:sym typeface="Calibri"/>
            </a:endParaRPr>
          </a:p>
        </p:txBody>
      </p:sp>
      <p:sp>
        <p:nvSpPr>
          <p:cNvPr id="46" name="Google Shape;46;p2"/>
          <p:cNvSpPr txBox="1"/>
          <p:nvPr/>
        </p:nvSpPr>
        <p:spPr>
          <a:xfrm>
            <a:off x="640080" y="2240280"/>
            <a:ext cx="2286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Bryan Bacchi</a:t>
            </a:r>
            <a:endParaRPr sz="1800" b="0" i="0" u="none" strike="noStrike" cap="none">
              <a:solidFill>
                <a:schemeClr val="dk1"/>
              </a:solidFill>
              <a:latin typeface="Calibri"/>
              <a:ea typeface="Calibri"/>
              <a:cs typeface="Calibri"/>
              <a:sym typeface="Calibri"/>
            </a:endParaRPr>
          </a:p>
        </p:txBody>
      </p:sp>
      <p:sp>
        <p:nvSpPr>
          <p:cNvPr id="47" name="Google Shape;47;p2"/>
          <p:cNvSpPr txBox="1"/>
          <p:nvPr/>
        </p:nvSpPr>
        <p:spPr>
          <a:xfrm>
            <a:off x="640080" y="256032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1400"/>
              <a:buFont typeface="Calibri"/>
              <a:buNone/>
            </a:pPr>
            <a:r>
              <a:rPr lang="en-US" sz="1400" b="0" i="0" u="none" strike="noStrike" cap="none">
                <a:solidFill>
                  <a:schemeClr val="accent4"/>
                </a:solidFill>
                <a:latin typeface="Calibri"/>
                <a:ea typeface="Calibri"/>
                <a:cs typeface="Calibri"/>
                <a:sym typeface="Calibri"/>
              </a:rPr>
              <a:t>Líder del proyecto</a:t>
            </a:r>
            <a:endParaRPr sz="1400" b="0" i="0" u="none" strike="noStrike" cap="none">
              <a:solidFill>
                <a:schemeClr val="dk1"/>
              </a:solidFill>
              <a:latin typeface="Calibri"/>
              <a:ea typeface="Calibri"/>
              <a:cs typeface="Calibri"/>
              <a:sym typeface="Calibri"/>
            </a:endParaRPr>
          </a:p>
        </p:txBody>
      </p:sp>
      <p:sp>
        <p:nvSpPr>
          <p:cNvPr id="48" name="Google Shape;48;p2"/>
          <p:cNvSpPr txBox="1"/>
          <p:nvPr/>
        </p:nvSpPr>
        <p:spPr>
          <a:xfrm>
            <a:off x="640080" y="2971800"/>
            <a:ext cx="22860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Scrum Master y Product Owner. Responsable de Identidad, Pagos y la infraestructura del sistema.</a:t>
            </a:r>
            <a:endParaRPr sz="1400" b="0" i="0" u="none" strike="noStrike" cap="none">
              <a:solidFill>
                <a:schemeClr val="dk1"/>
              </a:solidFill>
              <a:latin typeface="Calibri"/>
              <a:ea typeface="Calibri"/>
              <a:cs typeface="Calibri"/>
              <a:sym typeface="Calibri"/>
            </a:endParaRPr>
          </a:p>
        </p:txBody>
      </p:sp>
      <p:sp>
        <p:nvSpPr>
          <p:cNvPr id="49" name="Google Shape;49;p2"/>
          <p:cNvSpPr/>
          <p:nvPr/>
        </p:nvSpPr>
        <p:spPr>
          <a:xfrm>
            <a:off x="3246120" y="1280160"/>
            <a:ext cx="2651760" cy="2834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3429000" y="146304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txBox="1"/>
          <p:nvPr/>
        </p:nvSpPr>
        <p:spPr>
          <a:xfrm>
            <a:off x="3429000" y="146304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DI</a:t>
            </a:r>
            <a:endParaRPr sz="1800" b="0" i="0" u="none" strike="noStrike" cap="none">
              <a:solidFill>
                <a:schemeClr val="dk1"/>
              </a:solidFill>
              <a:latin typeface="Calibri"/>
              <a:ea typeface="Calibri"/>
              <a:cs typeface="Calibri"/>
              <a:sym typeface="Calibri"/>
            </a:endParaRPr>
          </a:p>
        </p:txBody>
      </p:sp>
      <p:sp>
        <p:nvSpPr>
          <p:cNvPr id="52" name="Google Shape;52;p2"/>
          <p:cNvSpPr txBox="1"/>
          <p:nvPr/>
        </p:nvSpPr>
        <p:spPr>
          <a:xfrm>
            <a:off x="3429000" y="2240280"/>
            <a:ext cx="2286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Damaris Iriarte</a:t>
            </a:r>
            <a:endParaRPr sz="1800" b="0" i="0" u="none" strike="noStrike" cap="none">
              <a:solidFill>
                <a:schemeClr val="dk1"/>
              </a:solidFill>
              <a:latin typeface="Calibri"/>
              <a:ea typeface="Calibri"/>
              <a:cs typeface="Calibri"/>
              <a:sym typeface="Calibri"/>
            </a:endParaRPr>
          </a:p>
        </p:txBody>
      </p:sp>
      <p:sp>
        <p:nvSpPr>
          <p:cNvPr id="53" name="Google Shape;53;p2"/>
          <p:cNvSpPr txBox="1"/>
          <p:nvPr/>
        </p:nvSpPr>
        <p:spPr>
          <a:xfrm>
            <a:off x="3429000" y="256032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1400"/>
              <a:buFont typeface="Calibri"/>
              <a:buNone/>
            </a:pPr>
            <a:r>
              <a:rPr lang="en-US" sz="1400" b="0" i="0" u="none" strike="noStrike" cap="none">
                <a:solidFill>
                  <a:schemeClr val="accent4"/>
                </a:solidFill>
                <a:latin typeface="Calibri"/>
                <a:ea typeface="Calibri"/>
                <a:cs typeface="Calibri"/>
                <a:sym typeface="Calibri"/>
              </a:rPr>
              <a:t>Desarrolladora</a:t>
            </a:r>
            <a:endParaRPr sz="1400" b="0" i="0" u="none" strike="noStrike" cap="none">
              <a:solidFill>
                <a:schemeClr val="dk1"/>
              </a:solidFill>
              <a:latin typeface="Calibri"/>
              <a:ea typeface="Calibri"/>
              <a:cs typeface="Calibri"/>
              <a:sym typeface="Calibri"/>
            </a:endParaRPr>
          </a:p>
        </p:txBody>
      </p:sp>
      <p:sp>
        <p:nvSpPr>
          <p:cNvPr id="54" name="Google Shape;54;p2"/>
          <p:cNvSpPr txBox="1"/>
          <p:nvPr/>
        </p:nvSpPr>
        <p:spPr>
          <a:xfrm>
            <a:off x="3429000" y="2971800"/>
            <a:ext cx="22860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Responsable del servicio de Tutorías: perfiles de tutores, horarios, búsqueda y reservas. También diseña la interfaz.</a:t>
            </a:r>
            <a:endParaRPr sz="1400" b="0" i="0" u="none" strike="noStrike" cap="none">
              <a:solidFill>
                <a:schemeClr val="dk1"/>
              </a:solidFill>
              <a:latin typeface="Calibri"/>
              <a:ea typeface="Calibri"/>
              <a:cs typeface="Calibri"/>
              <a:sym typeface="Calibri"/>
            </a:endParaRPr>
          </a:p>
        </p:txBody>
      </p:sp>
      <p:sp>
        <p:nvSpPr>
          <p:cNvPr id="55" name="Google Shape;55;p2"/>
          <p:cNvSpPr/>
          <p:nvPr/>
        </p:nvSpPr>
        <p:spPr>
          <a:xfrm>
            <a:off x="6035040" y="1280160"/>
            <a:ext cx="2651760" cy="2834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217920" y="1463040"/>
            <a:ext cx="640080" cy="64008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2"/>
          <p:cNvSpPr txBox="1"/>
          <p:nvPr/>
        </p:nvSpPr>
        <p:spPr>
          <a:xfrm>
            <a:off x="6217920" y="1463040"/>
            <a:ext cx="64008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FT</a:t>
            </a:r>
            <a:endParaRPr sz="1800" b="0" i="0" u="none" strike="noStrike" cap="none">
              <a:solidFill>
                <a:schemeClr val="dk1"/>
              </a:solidFill>
              <a:latin typeface="Calibri"/>
              <a:ea typeface="Calibri"/>
              <a:cs typeface="Calibri"/>
              <a:sym typeface="Calibri"/>
            </a:endParaRPr>
          </a:p>
        </p:txBody>
      </p:sp>
      <p:sp>
        <p:nvSpPr>
          <p:cNvPr id="58" name="Google Shape;58;p2"/>
          <p:cNvSpPr txBox="1"/>
          <p:nvPr/>
        </p:nvSpPr>
        <p:spPr>
          <a:xfrm>
            <a:off x="6217920" y="2240280"/>
            <a:ext cx="228600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Francisco Tejeda</a:t>
            </a:r>
            <a:endParaRPr sz="1800" b="0" i="0" u="none" strike="noStrike" cap="none">
              <a:solidFill>
                <a:schemeClr val="dk1"/>
              </a:solidFill>
              <a:latin typeface="Calibri"/>
              <a:ea typeface="Calibri"/>
              <a:cs typeface="Calibri"/>
              <a:sym typeface="Calibri"/>
            </a:endParaRPr>
          </a:p>
        </p:txBody>
      </p:sp>
      <p:sp>
        <p:nvSpPr>
          <p:cNvPr id="59" name="Google Shape;59;p2"/>
          <p:cNvSpPr txBox="1"/>
          <p:nvPr/>
        </p:nvSpPr>
        <p:spPr>
          <a:xfrm>
            <a:off x="6217920" y="256032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4"/>
              </a:buClr>
              <a:buSzPts val="1400"/>
              <a:buFont typeface="Calibri"/>
              <a:buNone/>
            </a:pPr>
            <a:r>
              <a:rPr lang="en-US" sz="1400" b="0" i="0" u="none" strike="noStrike" cap="none">
                <a:solidFill>
                  <a:schemeClr val="accent4"/>
                </a:solidFill>
                <a:latin typeface="Calibri"/>
                <a:ea typeface="Calibri"/>
                <a:cs typeface="Calibri"/>
                <a:sym typeface="Calibri"/>
              </a:rPr>
              <a:t>Desarrollador</a:t>
            </a:r>
            <a:endParaRPr sz="1400" b="0" i="0" u="none" strike="noStrike" cap="none">
              <a:solidFill>
                <a:schemeClr val="dk1"/>
              </a:solidFill>
              <a:latin typeface="Calibri"/>
              <a:ea typeface="Calibri"/>
              <a:cs typeface="Calibri"/>
              <a:sym typeface="Calibri"/>
            </a:endParaRPr>
          </a:p>
        </p:txBody>
      </p:sp>
      <p:sp>
        <p:nvSpPr>
          <p:cNvPr id="60" name="Google Shape;60;p2"/>
          <p:cNvSpPr txBox="1"/>
          <p:nvPr/>
        </p:nvSpPr>
        <p:spPr>
          <a:xfrm>
            <a:off x="6217920" y="2971800"/>
            <a:ext cx="228600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Responsable del catálogo académico, las mallas y las evaluaciones. Apoya el desarrollo de la interfaz.</a:t>
            </a:r>
            <a:endParaRPr sz="1400" b="0" i="0" u="none" strike="noStrike" cap="none">
              <a:solidFill>
                <a:schemeClr val="dk1"/>
              </a:solidFill>
              <a:latin typeface="Calibri"/>
              <a:ea typeface="Calibri"/>
              <a:cs typeface="Calibri"/>
              <a:sym typeface="Calibri"/>
            </a:endParaRPr>
          </a:p>
        </p:txBody>
      </p:sp>
      <p:sp>
        <p:nvSpPr>
          <p:cNvPr id="61" name="Google Shape;61;p2"/>
          <p:cNvSpPr txBox="1"/>
          <p:nvPr/>
        </p:nvSpPr>
        <p:spPr>
          <a:xfrm>
            <a:off x="457200" y="4297680"/>
            <a:ext cx="8229600" cy="4114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dirty="0">
                <a:solidFill>
                  <a:schemeClr val="dk2"/>
                </a:solidFill>
                <a:latin typeface="Calibri"/>
                <a:ea typeface="Calibri"/>
                <a:cs typeface="Calibri"/>
                <a:sym typeface="Calibri"/>
              </a:rPr>
              <a:t>Cada </a:t>
            </a:r>
            <a:r>
              <a:rPr lang="en-US" sz="1400" b="1" i="0" u="none" strike="noStrike" cap="none" dirty="0" err="1">
                <a:solidFill>
                  <a:schemeClr val="dk2"/>
                </a:solidFill>
                <a:latin typeface="Calibri"/>
                <a:ea typeface="Calibri"/>
                <a:cs typeface="Calibri"/>
                <a:sym typeface="Calibri"/>
              </a:rPr>
              <a:t>integrante</a:t>
            </a:r>
            <a:r>
              <a:rPr lang="en-US" sz="1400" b="1" i="0" u="none" strike="noStrike" cap="none" dirty="0">
                <a:solidFill>
                  <a:schemeClr val="dk2"/>
                </a:solidFill>
                <a:latin typeface="Calibri"/>
                <a:ea typeface="Calibri"/>
                <a:cs typeface="Calibri"/>
                <a:sym typeface="Calibri"/>
              </a:rPr>
              <a:t> </a:t>
            </a:r>
            <a:r>
              <a:rPr lang="en-US" sz="1400" b="1" i="0" u="none" strike="noStrike" cap="none" dirty="0" err="1">
                <a:solidFill>
                  <a:schemeClr val="dk2"/>
                </a:solidFill>
                <a:latin typeface="Calibri"/>
                <a:ea typeface="Calibri"/>
                <a:cs typeface="Calibri"/>
                <a:sym typeface="Calibri"/>
              </a:rPr>
              <a:t>responde</a:t>
            </a:r>
            <a:r>
              <a:rPr lang="en-US" sz="1400" b="1" i="0" u="none" strike="noStrike" cap="none" dirty="0">
                <a:solidFill>
                  <a:schemeClr val="dk2"/>
                </a:solidFill>
                <a:latin typeface="Calibri"/>
                <a:ea typeface="Calibri"/>
                <a:cs typeface="Calibri"/>
                <a:sym typeface="Calibri"/>
              </a:rPr>
              <a:t> </a:t>
            </a:r>
            <a:r>
              <a:rPr lang="en-US" sz="1400" b="1" i="0" u="none" strike="noStrike" cap="none" dirty="0" err="1">
                <a:solidFill>
                  <a:schemeClr val="dk2"/>
                </a:solidFill>
                <a:latin typeface="Calibri"/>
                <a:ea typeface="Calibri"/>
                <a:cs typeface="Calibri"/>
                <a:sym typeface="Calibri"/>
              </a:rPr>
              <a:t>por</a:t>
            </a:r>
            <a:r>
              <a:rPr lang="en-US" sz="1400" b="1" i="0" u="none" strike="noStrike" cap="none" dirty="0">
                <a:solidFill>
                  <a:schemeClr val="dk2"/>
                </a:solidFill>
                <a:latin typeface="Calibri"/>
                <a:ea typeface="Calibri"/>
                <a:cs typeface="Calibri"/>
                <a:sym typeface="Calibri"/>
              </a:rPr>
              <a:t> sus </a:t>
            </a:r>
            <a:r>
              <a:rPr lang="en-US" sz="1400" b="1" i="0" u="none" strike="noStrike" cap="none" dirty="0" err="1">
                <a:solidFill>
                  <a:schemeClr val="dk2"/>
                </a:solidFill>
                <a:latin typeface="Calibri"/>
                <a:ea typeface="Calibri"/>
                <a:cs typeface="Calibri"/>
                <a:sym typeface="Calibri"/>
              </a:rPr>
              <a:t>servicios</a:t>
            </a:r>
            <a:r>
              <a:rPr lang="en-US" sz="1400" b="1" i="0" u="none" strike="noStrike" cap="none" dirty="0">
                <a:solidFill>
                  <a:schemeClr val="dk2"/>
                </a:solidFill>
                <a:latin typeface="Calibri"/>
                <a:ea typeface="Calibri"/>
                <a:cs typeface="Calibri"/>
                <a:sym typeface="Calibri"/>
              </a:rPr>
              <a:t> de principio a fin, y </a:t>
            </a:r>
            <a:r>
              <a:rPr lang="en-US" sz="1400" b="1" i="0" u="none" strike="noStrike" cap="none" dirty="0" err="1">
                <a:solidFill>
                  <a:schemeClr val="dk2"/>
                </a:solidFill>
                <a:latin typeface="Calibri"/>
                <a:ea typeface="Calibri"/>
                <a:cs typeface="Calibri"/>
                <a:sym typeface="Calibri"/>
              </a:rPr>
              <a:t>cada</a:t>
            </a:r>
            <a:r>
              <a:rPr lang="en-US" sz="1400" b="1" i="0" u="none" strike="noStrike" cap="none" dirty="0">
                <a:solidFill>
                  <a:schemeClr val="dk2"/>
                </a:solidFill>
                <a:latin typeface="Calibri"/>
                <a:ea typeface="Calibri"/>
                <a:cs typeface="Calibri"/>
                <a:sym typeface="Calibri"/>
              </a:rPr>
              <a:t> </a:t>
            </a:r>
            <a:r>
              <a:rPr lang="en-US" sz="1400" b="1" i="0" u="none" strike="noStrike" cap="none" dirty="0" err="1">
                <a:solidFill>
                  <a:schemeClr val="dk2"/>
                </a:solidFill>
                <a:latin typeface="Calibri"/>
                <a:ea typeface="Calibri"/>
                <a:cs typeface="Calibri"/>
                <a:sym typeface="Calibri"/>
              </a:rPr>
              <a:t>servicio</a:t>
            </a:r>
            <a:r>
              <a:rPr lang="en-US" sz="1400" b="1" i="0" u="none" strike="noStrike" cap="none" dirty="0">
                <a:solidFill>
                  <a:schemeClr val="dk2"/>
                </a:solidFill>
                <a:latin typeface="Calibri"/>
                <a:ea typeface="Calibri"/>
                <a:cs typeface="Calibri"/>
                <a:sym typeface="Calibri"/>
              </a:rPr>
              <a:t> </a:t>
            </a:r>
            <a:r>
              <a:rPr lang="en-US" sz="1400" b="1" i="0" u="none" strike="noStrike" cap="none" dirty="0" err="1">
                <a:solidFill>
                  <a:schemeClr val="dk2"/>
                </a:solidFill>
                <a:latin typeface="Calibri"/>
                <a:ea typeface="Calibri"/>
                <a:cs typeface="Calibri"/>
                <a:sym typeface="Calibri"/>
              </a:rPr>
              <a:t>tiene</a:t>
            </a:r>
            <a:r>
              <a:rPr lang="en-US" sz="1400" b="1" i="0" u="none" strike="noStrike" cap="none" dirty="0">
                <a:solidFill>
                  <a:schemeClr val="dk2"/>
                </a:solidFill>
                <a:latin typeface="Calibri"/>
                <a:ea typeface="Calibri"/>
                <a:cs typeface="Calibri"/>
                <a:sym typeface="Calibri"/>
              </a:rPr>
              <a:t> un </a:t>
            </a:r>
            <a:r>
              <a:rPr lang="en-US" sz="1400" b="1" i="0" u="none" strike="noStrike" cap="none" dirty="0" err="1">
                <a:solidFill>
                  <a:schemeClr val="dk2"/>
                </a:solidFill>
                <a:latin typeface="Calibri"/>
                <a:ea typeface="Calibri"/>
                <a:cs typeface="Calibri"/>
                <a:sym typeface="Calibri"/>
              </a:rPr>
              <a:t>compañero</a:t>
            </a:r>
            <a:r>
              <a:rPr lang="en-US" sz="1400" b="1" i="0" u="none" strike="noStrike" cap="none" dirty="0">
                <a:solidFill>
                  <a:schemeClr val="dk2"/>
                </a:solidFill>
                <a:latin typeface="Calibri"/>
                <a:ea typeface="Calibri"/>
                <a:cs typeface="Calibri"/>
                <a:sym typeface="Calibri"/>
              </a:rPr>
              <a:t> de </a:t>
            </a:r>
            <a:r>
              <a:rPr lang="en-US" sz="1400" b="1" i="0" u="none" strike="noStrike" cap="none" dirty="0" err="1">
                <a:solidFill>
                  <a:schemeClr val="dk2"/>
                </a:solidFill>
                <a:latin typeface="Calibri"/>
                <a:ea typeface="Calibri"/>
                <a:cs typeface="Calibri"/>
                <a:sym typeface="Calibri"/>
              </a:rPr>
              <a:t>respaldo</a:t>
            </a:r>
            <a:r>
              <a:rPr lang="en-US" sz="1400" b="1" i="0" u="none" strike="noStrike" cap="none" dirty="0">
                <a:solidFill>
                  <a:schemeClr val="dk2"/>
                </a:solidFill>
                <a:latin typeface="Calibri"/>
                <a:ea typeface="Calibri"/>
                <a:cs typeface="Calibri"/>
                <a:sym typeface="Calibri"/>
              </a:rPr>
              <a:t>.</a:t>
            </a:r>
            <a:endParaRPr sz="1400" b="0" i="0" u="none" strike="noStrike" cap="none" dirty="0">
              <a:solidFill>
                <a:schemeClr val="dk1"/>
              </a:solidFill>
              <a:latin typeface="Calibri"/>
              <a:ea typeface="Calibri"/>
              <a:cs typeface="Calibri"/>
              <a:sym typeface="Calibri"/>
            </a:endParaRPr>
          </a:p>
        </p:txBody>
      </p:sp>
      <p:sp>
        <p:nvSpPr>
          <p:cNvPr id="62" name="Google Shape;62;p2"/>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2</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Análisis del caso: problema y solución</a:t>
            </a:r>
            <a:endParaRPr sz="3600"/>
          </a:p>
        </p:txBody>
      </p:sp>
      <p:sp>
        <p:nvSpPr>
          <p:cNvPr id="69" name="Google Shape;69;p3"/>
          <p:cNvSpPr/>
          <p:nvPr/>
        </p:nvSpPr>
        <p:spPr>
          <a:xfrm>
            <a:off x="457200" y="1188720"/>
            <a:ext cx="8229600" cy="105156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txBox="1"/>
          <p:nvPr/>
        </p:nvSpPr>
        <p:spPr>
          <a:xfrm>
            <a:off x="640080" y="1280160"/>
            <a:ext cx="7863840" cy="8686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El problema</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Hoy los estudiantes buscan apoyo en los ramos difíciles de manera informal: por WhatsApp, en los pasillos o con conocidos. No existe un lugar institucional donde saber quién domina una asignatura, conocer su reputación o coordinar horarios con seguridad.</a:t>
            </a:r>
            <a:endParaRPr sz="1400" b="0" i="0" u="none" strike="noStrike" cap="none">
              <a:solidFill>
                <a:schemeClr val="dk1"/>
              </a:solidFill>
              <a:latin typeface="Calibri"/>
              <a:ea typeface="Calibri"/>
              <a:cs typeface="Calibri"/>
              <a:sym typeface="Calibri"/>
            </a:endParaRPr>
          </a:p>
        </p:txBody>
      </p:sp>
      <p:sp>
        <p:nvSpPr>
          <p:cNvPr id="71" name="Google Shape;71;p3"/>
          <p:cNvSpPr/>
          <p:nvPr/>
        </p:nvSpPr>
        <p:spPr>
          <a:xfrm>
            <a:off x="457200" y="237744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 name="Google Shape;72;p3" descr="preencoded.png"/>
          <p:cNvPicPr preferRelativeResize="0"/>
          <p:nvPr/>
        </p:nvPicPr>
        <p:blipFill rotWithShape="1">
          <a:blip r:embed="rId3">
            <a:alphaModFix/>
          </a:blip>
          <a:srcRect/>
          <a:stretch/>
        </p:blipFill>
        <p:spPr>
          <a:xfrm>
            <a:off x="566928" y="2487168"/>
            <a:ext cx="237744" cy="237744"/>
          </a:xfrm>
          <a:prstGeom prst="rect">
            <a:avLst/>
          </a:prstGeom>
          <a:noFill/>
          <a:ln>
            <a:noFill/>
          </a:ln>
        </p:spPr>
      </p:pic>
      <p:sp>
        <p:nvSpPr>
          <p:cNvPr id="73" name="Google Shape;73;p3"/>
          <p:cNvSpPr txBox="1"/>
          <p:nvPr/>
        </p:nvSpPr>
        <p:spPr>
          <a:xfrm>
            <a:off x="457200" y="2907792"/>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Registro verificado</a:t>
            </a:r>
            <a:endParaRPr sz="1600" b="0" i="0" u="none" strike="noStrike" cap="none">
              <a:solidFill>
                <a:schemeClr val="dk1"/>
              </a:solidFill>
              <a:latin typeface="Calibri"/>
              <a:ea typeface="Calibri"/>
              <a:cs typeface="Calibri"/>
              <a:sym typeface="Calibri"/>
            </a:endParaRPr>
          </a:p>
        </p:txBody>
      </p:sp>
      <p:sp>
        <p:nvSpPr>
          <p:cNvPr id="74" name="Google Shape;74;p3"/>
          <p:cNvSpPr txBox="1"/>
          <p:nvPr/>
        </p:nvSpPr>
        <p:spPr>
          <a:xfrm>
            <a:off x="457200" y="3200400"/>
            <a:ext cx="19202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Con correo institucional @duocuc.cl.</a:t>
            </a:r>
            <a:endParaRPr sz="1400" b="0" i="0" u="none" strike="noStrike" cap="none">
              <a:solidFill>
                <a:schemeClr val="dk1"/>
              </a:solidFill>
              <a:latin typeface="Calibri"/>
              <a:ea typeface="Calibri"/>
              <a:cs typeface="Calibri"/>
              <a:sym typeface="Calibri"/>
            </a:endParaRPr>
          </a:p>
        </p:txBody>
      </p:sp>
      <p:sp>
        <p:nvSpPr>
          <p:cNvPr id="75" name="Google Shape;75;p3"/>
          <p:cNvSpPr/>
          <p:nvPr/>
        </p:nvSpPr>
        <p:spPr>
          <a:xfrm>
            <a:off x="2560320" y="237744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 name="Google Shape;76;p3" descr="preencoded.png"/>
          <p:cNvPicPr preferRelativeResize="0"/>
          <p:nvPr/>
        </p:nvPicPr>
        <p:blipFill rotWithShape="1">
          <a:blip r:embed="rId4">
            <a:alphaModFix/>
          </a:blip>
          <a:srcRect/>
          <a:stretch/>
        </p:blipFill>
        <p:spPr>
          <a:xfrm>
            <a:off x="2670048" y="2487168"/>
            <a:ext cx="237744" cy="237744"/>
          </a:xfrm>
          <a:prstGeom prst="rect">
            <a:avLst/>
          </a:prstGeom>
          <a:noFill/>
          <a:ln>
            <a:noFill/>
          </a:ln>
        </p:spPr>
      </p:pic>
      <p:sp>
        <p:nvSpPr>
          <p:cNvPr id="77" name="Google Shape;77;p3"/>
          <p:cNvSpPr txBox="1"/>
          <p:nvPr/>
        </p:nvSpPr>
        <p:spPr>
          <a:xfrm>
            <a:off x="2560320" y="2907792"/>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Búsqueda por ramo</a:t>
            </a:r>
            <a:endParaRPr sz="1600" b="0" i="0" u="none" strike="noStrike" cap="none">
              <a:solidFill>
                <a:schemeClr val="dk1"/>
              </a:solidFill>
              <a:latin typeface="Calibri"/>
              <a:ea typeface="Calibri"/>
              <a:cs typeface="Calibri"/>
              <a:sym typeface="Calibri"/>
            </a:endParaRPr>
          </a:p>
        </p:txBody>
      </p:sp>
      <p:sp>
        <p:nvSpPr>
          <p:cNvPr id="78" name="Google Shape;78;p3"/>
          <p:cNvSpPr txBox="1"/>
          <p:nvPr/>
        </p:nvSpPr>
        <p:spPr>
          <a:xfrm>
            <a:off x="2560320" y="3200400"/>
            <a:ext cx="19202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Por asignatura o por nombre del tutor, con su evaluación a la vista.</a:t>
            </a:r>
            <a:endParaRPr sz="1400" b="0" i="0" u="none" strike="noStrike" cap="none">
              <a:solidFill>
                <a:schemeClr val="dk1"/>
              </a:solidFill>
              <a:latin typeface="Calibri"/>
              <a:ea typeface="Calibri"/>
              <a:cs typeface="Calibri"/>
              <a:sym typeface="Calibri"/>
            </a:endParaRPr>
          </a:p>
        </p:txBody>
      </p:sp>
      <p:sp>
        <p:nvSpPr>
          <p:cNvPr id="79" name="Google Shape;79;p3"/>
          <p:cNvSpPr/>
          <p:nvPr/>
        </p:nvSpPr>
        <p:spPr>
          <a:xfrm>
            <a:off x="4663440" y="237744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3" descr="preencoded.png"/>
          <p:cNvPicPr preferRelativeResize="0"/>
          <p:nvPr/>
        </p:nvPicPr>
        <p:blipFill rotWithShape="1">
          <a:blip r:embed="rId5">
            <a:alphaModFix/>
          </a:blip>
          <a:srcRect/>
          <a:stretch/>
        </p:blipFill>
        <p:spPr>
          <a:xfrm>
            <a:off x="4773168" y="2487168"/>
            <a:ext cx="237744" cy="237744"/>
          </a:xfrm>
          <a:prstGeom prst="rect">
            <a:avLst/>
          </a:prstGeom>
          <a:noFill/>
          <a:ln>
            <a:noFill/>
          </a:ln>
        </p:spPr>
      </p:pic>
      <p:sp>
        <p:nvSpPr>
          <p:cNvPr id="81" name="Google Shape;81;p3"/>
          <p:cNvSpPr txBox="1"/>
          <p:nvPr/>
        </p:nvSpPr>
        <p:spPr>
          <a:xfrm>
            <a:off x="4663440" y="2907792"/>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Agendamiento</a:t>
            </a:r>
            <a:endParaRPr sz="1600" b="0" i="0" u="none" strike="noStrike" cap="none">
              <a:solidFill>
                <a:schemeClr val="dk1"/>
              </a:solidFill>
              <a:latin typeface="Calibri"/>
              <a:ea typeface="Calibri"/>
              <a:cs typeface="Calibri"/>
              <a:sym typeface="Calibri"/>
            </a:endParaRPr>
          </a:p>
        </p:txBody>
      </p:sp>
      <p:sp>
        <p:nvSpPr>
          <p:cNvPr id="82" name="Google Shape;82;p3"/>
          <p:cNvSpPr txBox="1"/>
          <p:nvPr/>
        </p:nvSpPr>
        <p:spPr>
          <a:xfrm>
            <a:off x="4663440" y="3200400"/>
            <a:ext cx="19202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Reserva de horarios disponibles, con aviso por correo.</a:t>
            </a:r>
            <a:endParaRPr sz="1400" b="0" i="0" u="none" strike="noStrike" cap="none">
              <a:solidFill>
                <a:schemeClr val="dk1"/>
              </a:solidFill>
              <a:latin typeface="Calibri"/>
              <a:ea typeface="Calibri"/>
              <a:cs typeface="Calibri"/>
              <a:sym typeface="Calibri"/>
            </a:endParaRPr>
          </a:p>
        </p:txBody>
      </p:sp>
      <p:sp>
        <p:nvSpPr>
          <p:cNvPr id="83" name="Google Shape;83;p3"/>
          <p:cNvSpPr/>
          <p:nvPr/>
        </p:nvSpPr>
        <p:spPr>
          <a:xfrm>
            <a:off x="6766560" y="237744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4" name="Google Shape;84;p3" descr="preencoded.png"/>
          <p:cNvPicPr preferRelativeResize="0"/>
          <p:nvPr/>
        </p:nvPicPr>
        <p:blipFill rotWithShape="1">
          <a:blip r:embed="rId6">
            <a:alphaModFix/>
          </a:blip>
          <a:srcRect/>
          <a:stretch/>
        </p:blipFill>
        <p:spPr>
          <a:xfrm>
            <a:off x="6876288" y="2487168"/>
            <a:ext cx="237744" cy="237744"/>
          </a:xfrm>
          <a:prstGeom prst="rect">
            <a:avLst/>
          </a:prstGeom>
          <a:noFill/>
          <a:ln>
            <a:noFill/>
          </a:ln>
        </p:spPr>
      </p:pic>
      <p:sp>
        <p:nvSpPr>
          <p:cNvPr id="85" name="Google Shape;85;p3"/>
          <p:cNvSpPr txBox="1"/>
          <p:nvPr/>
        </p:nvSpPr>
        <p:spPr>
          <a:xfrm>
            <a:off x="6766560" y="2907792"/>
            <a:ext cx="192024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Evaluación</a:t>
            </a:r>
            <a:endParaRPr sz="1600" b="0" i="0" u="none" strike="noStrike" cap="none">
              <a:solidFill>
                <a:schemeClr val="dk1"/>
              </a:solidFill>
              <a:latin typeface="Calibri"/>
              <a:ea typeface="Calibri"/>
              <a:cs typeface="Calibri"/>
              <a:sym typeface="Calibri"/>
            </a:endParaRPr>
          </a:p>
        </p:txBody>
      </p:sp>
      <p:sp>
        <p:nvSpPr>
          <p:cNvPr id="86" name="Google Shape;86;p3"/>
          <p:cNvSpPr txBox="1"/>
          <p:nvPr/>
        </p:nvSpPr>
        <p:spPr>
          <a:xfrm>
            <a:off x="6766560" y="3200400"/>
            <a:ext cx="1920240" cy="7315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Calificación de 1 a 5 estrellas al terminar cada sesión.</a:t>
            </a:r>
            <a:endParaRPr sz="1400" b="0" i="0" u="none" strike="noStrike" cap="none">
              <a:solidFill>
                <a:schemeClr val="dk1"/>
              </a:solidFill>
              <a:latin typeface="Calibri"/>
              <a:ea typeface="Calibri"/>
              <a:cs typeface="Calibri"/>
              <a:sym typeface="Calibri"/>
            </a:endParaRPr>
          </a:p>
        </p:txBody>
      </p:sp>
      <p:sp>
        <p:nvSpPr>
          <p:cNvPr id="87" name="Google Shape;87;p3"/>
          <p:cNvSpPr/>
          <p:nvPr/>
        </p:nvSpPr>
        <p:spPr>
          <a:xfrm>
            <a:off x="457200" y="3977640"/>
            <a:ext cx="8229600" cy="6858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3"/>
          <p:cNvSpPr txBox="1"/>
          <p:nvPr/>
        </p:nvSpPr>
        <p:spPr>
          <a:xfrm>
            <a:off x="640080" y="4023360"/>
            <a:ext cx="786384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accent2"/>
              </a:buClr>
              <a:buSzPts val="1400"/>
              <a:buFont typeface="Calibri"/>
              <a:buNone/>
            </a:pPr>
            <a:r>
              <a:rPr lang="en-US" sz="1400" b="1" i="0" u="none" strike="noStrike" cap="none">
                <a:solidFill>
                  <a:schemeClr val="accent2"/>
                </a:solidFill>
                <a:latin typeface="Calibri"/>
                <a:ea typeface="Calibri"/>
                <a:cs typeface="Calibri"/>
                <a:sym typeface="Calibri"/>
              </a:rPr>
              <a:t>Nuestra solución: </a:t>
            </a:r>
            <a:r>
              <a:rPr lang="en-US" sz="1400" b="0" i="0" u="none" strike="noStrike" cap="none">
                <a:solidFill>
                  <a:schemeClr val="lt1"/>
                </a:solidFill>
                <a:latin typeface="Calibri"/>
                <a:ea typeface="Calibri"/>
                <a:cs typeface="Calibri"/>
                <a:sym typeface="Calibri"/>
              </a:rPr>
              <a:t>una plataforma institucional que reúne a quienes necesitan y a quienes ofrecen tutorías. Un mismo estudiante puede pedir ayuda en un ramo y ser tutor en los que ya cursó.</a:t>
            </a:r>
            <a:endParaRPr sz="1400" b="0" i="0" u="none" strike="noStrike" cap="none">
              <a:solidFill>
                <a:schemeClr val="dk1"/>
              </a:solidFill>
              <a:latin typeface="Calibri"/>
              <a:ea typeface="Calibri"/>
              <a:cs typeface="Calibri"/>
              <a:sym typeface="Calibri"/>
            </a:endParaRPr>
          </a:p>
        </p:txBody>
      </p:sp>
      <p:sp>
        <p:nvSpPr>
          <p:cNvPr id="89" name="Google Shape;89;p3"/>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3</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4"/>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Metodología de trabajo</a:t>
            </a:r>
            <a:endParaRPr sz="3600"/>
          </a:p>
        </p:txBody>
      </p:sp>
      <p:sp>
        <p:nvSpPr>
          <p:cNvPr id="96" name="Google Shape;96;p4"/>
          <p:cNvSpPr/>
          <p:nvPr/>
        </p:nvSpPr>
        <p:spPr>
          <a:xfrm>
            <a:off x="457200" y="1234440"/>
            <a:ext cx="2651760" cy="210312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p:nvPr/>
        </p:nvSpPr>
        <p:spPr>
          <a:xfrm>
            <a:off x="640080" y="137160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 name="Google Shape;98;p4" descr="preencoded.png"/>
          <p:cNvPicPr preferRelativeResize="0"/>
          <p:nvPr/>
        </p:nvPicPr>
        <p:blipFill rotWithShape="1">
          <a:blip r:embed="rId3">
            <a:alphaModFix/>
          </a:blip>
          <a:srcRect/>
          <a:stretch/>
        </p:blipFill>
        <p:spPr>
          <a:xfrm>
            <a:off x="749808" y="1481328"/>
            <a:ext cx="237744" cy="237744"/>
          </a:xfrm>
          <a:prstGeom prst="rect">
            <a:avLst/>
          </a:prstGeom>
          <a:noFill/>
          <a:ln>
            <a:noFill/>
          </a:ln>
        </p:spPr>
      </p:pic>
      <p:sp>
        <p:nvSpPr>
          <p:cNvPr id="99" name="Google Shape;99;p4"/>
          <p:cNvSpPr txBox="1"/>
          <p:nvPr/>
        </p:nvSpPr>
        <p:spPr>
          <a:xfrm>
            <a:off x="640080" y="192024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Scrum y Jira</a:t>
            </a:r>
            <a:endParaRPr sz="1600" b="0" i="0" u="none" strike="noStrike" cap="none">
              <a:solidFill>
                <a:schemeClr val="dk1"/>
              </a:solidFill>
              <a:latin typeface="Calibri"/>
              <a:ea typeface="Calibri"/>
              <a:cs typeface="Calibri"/>
              <a:sym typeface="Calibri"/>
            </a:endParaRPr>
          </a:p>
        </p:txBody>
      </p:sp>
      <p:sp>
        <p:nvSpPr>
          <p:cNvPr id="100" name="Google Shape;100;p4"/>
          <p:cNvSpPr txBox="1"/>
          <p:nvPr/>
        </p:nvSpPr>
        <p:spPr>
          <a:xfrm>
            <a:off x="640080" y="2240280"/>
            <a:ext cx="228600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Sprints de 2 semanas (el 4.º, de una). En Jira: 37 historias del MVP y 7 nuevas de la revisión de esta semana.</a:t>
            </a:r>
            <a:endParaRPr sz="1400" b="0" i="0" u="none" strike="noStrike" cap="none">
              <a:solidFill>
                <a:schemeClr val="dk1"/>
              </a:solidFill>
              <a:latin typeface="Calibri"/>
              <a:ea typeface="Calibri"/>
              <a:cs typeface="Calibri"/>
              <a:sym typeface="Calibri"/>
            </a:endParaRPr>
          </a:p>
        </p:txBody>
      </p:sp>
      <p:sp>
        <p:nvSpPr>
          <p:cNvPr id="101" name="Google Shape;101;p4"/>
          <p:cNvSpPr/>
          <p:nvPr/>
        </p:nvSpPr>
        <p:spPr>
          <a:xfrm>
            <a:off x="3246120" y="1234440"/>
            <a:ext cx="2651760" cy="210312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4"/>
          <p:cNvSpPr/>
          <p:nvPr/>
        </p:nvSpPr>
        <p:spPr>
          <a:xfrm>
            <a:off x="3429000" y="137160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3" name="Google Shape;103;p4" descr="preencoded.png"/>
          <p:cNvPicPr preferRelativeResize="0"/>
          <p:nvPr/>
        </p:nvPicPr>
        <p:blipFill rotWithShape="1">
          <a:blip r:embed="rId4">
            <a:alphaModFix/>
          </a:blip>
          <a:srcRect/>
          <a:stretch/>
        </p:blipFill>
        <p:spPr>
          <a:xfrm>
            <a:off x="3538728" y="1481328"/>
            <a:ext cx="237744" cy="237744"/>
          </a:xfrm>
          <a:prstGeom prst="rect">
            <a:avLst/>
          </a:prstGeom>
          <a:noFill/>
          <a:ln>
            <a:noFill/>
          </a:ln>
        </p:spPr>
      </p:pic>
      <p:sp>
        <p:nvSpPr>
          <p:cNvPr id="104" name="Google Shape;104;p4"/>
          <p:cNvSpPr txBox="1"/>
          <p:nvPr/>
        </p:nvSpPr>
        <p:spPr>
          <a:xfrm>
            <a:off x="3429000" y="192024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Ramas y revisión</a:t>
            </a:r>
            <a:endParaRPr sz="1600" b="0" i="0" u="none" strike="noStrike" cap="none">
              <a:solidFill>
                <a:schemeClr val="dk1"/>
              </a:solidFill>
              <a:latin typeface="Calibri"/>
              <a:ea typeface="Calibri"/>
              <a:cs typeface="Calibri"/>
              <a:sym typeface="Calibri"/>
            </a:endParaRPr>
          </a:p>
        </p:txBody>
      </p:sp>
      <p:sp>
        <p:nvSpPr>
          <p:cNvPr id="105" name="Google Shape;105;p4"/>
          <p:cNvSpPr txBox="1"/>
          <p:nvPr/>
        </p:nvSpPr>
        <p:spPr>
          <a:xfrm>
            <a:off x="3429000" y="2240280"/>
            <a:ext cx="228600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Cada historia tiene su propia rama. Nadie aprueba su propio trabajo: un compañero lo revisa antes de integrarlo.</a:t>
            </a:r>
            <a:endParaRPr sz="1400" b="0" i="0" u="none" strike="noStrike" cap="none">
              <a:solidFill>
                <a:schemeClr val="dk1"/>
              </a:solidFill>
              <a:latin typeface="Calibri"/>
              <a:ea typeface="Calibri"/>
              <a:cs typeface="Calibri"/>
              <a:sym typeface="Calibri"/>
            </a:endParaRPr>
          </a:p>
        </p:txBody>
      </p:sp>
      <p:sp>
        <p:nvSpPr>
          <p:cNvPr id="106" name="Google Shape;106;p4"/>
          <p:cNvSpPr/>
          <p:nvPr/>
        </p:nvSpPr>
        <p:spPr>
          <a:xfrm>
            <a:off x="6035040" y="1234440"/>
            <a:ext cx="2651760" cy="210312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4"/>
          <p:cNvSpPr/>
          <p:nvPr/>
        </p:nvSpPr>
        <p:spPr>
          <a:xfrm>
            <a:off x="6217920" y="1371600"/>
            <a:ext cx="457200" cy="4572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8" name="Google Shape;108;p4" descr="preencoded.png"/>
          <p:cNvPicPr preferRelativeResize="0"/>
          <p:nvPr/>
        </p:nvPicPr>
        <p:blipFill rotWithShape="1">
          <a:blip r:embed="rId5">
            <a:alphaModFix/>
          </a:blip>
          <a:srcRect/>
          <a:stretch/>
        </p:blipFill>
        <p:spPr>
          <a:xfrm>
            <a:off x="6327648" y="1481328"/>
            <a:ext cx="237744" cy="237744"/>
          </a:xfrm>
          <a:prstGeom prst="rect">
            <a:avLst/>
          </a:prstGeom>
          <a:noFill/>
          <a:ln>
            <a:noFill/>
          </a:ln>
        </p:spPr>
      </p:pic>
      <p:sp>
        <p:nvSpPr>
          <p:cNvPr id="109" name="Google Shape;109;p4"/>
          <p:cNvSpPr txBox="1"/>
          <p:nvPr/>
        </p:nvSpPr>
        <p:spPr>
          <a:xfrm>
            <a:off x="6217920" y="192024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Pruebas automáticas</a:t>
            </a:r>
            <a:endParaRPr sz="1600" b="0" i="0" u="none" strike="noStrike" cap="none">
              <a:solidFill>
                <a:schemeClr val="dk1"/>
              </a:solidFill>
              <a:latin typeface="Calibri"/>
              <a:ea typeface="Calibri"/>
              <a:cs typeface="Calibri"/>
              <a:sym typeface="Calibri"/>
            </a:endParaRPr>
          </a:p>
        </p:txBody>
      </p:sp>
      <p:sp>
        <p:nvSpPr>
          <p:cNvPr id="110" name="Google Shape;110;p4"/>
          <p:cNvSpPr txBox="1"/>
          <p:nvPr/>
        </p:nvSpPr>
        <p:spPr>
          <a:xfrm>
            <a:off x="6217920" y="2240280"/>
            <a:ext cx="2286000" cy="10515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Cada cambio se somete a pruebas y revisiones automáticas antes de aceptarse.</a:t>
            </a:r>
            <a:endParaRPr sz="1400" b="0" i="0" u="none" strike="noStrike" cap="none">
              <a:solidFill>
                <a:schemeClr val="dk1"/>
              </a:solidFill>
              <a:latin typeface="Calibri"/>
              <a:ea typeface="Calibri"/>
              <a:cs typeface="Calibri"/>
              <a:sym typeface="Calibri"/>
            </a:endParaRPr>
          </a:p>
        </p:txBody>
      </p:sp>
      <p:sp>
        <p:nvSpPr>
          <p:cNvPr id="111" name="Google Shape;111;p4"/>
          <p:cNvSpPr/>
          <p:nvPr/>
        </p:nvSpPr>
        <p:spPr>
          <a:xfrm>
            <a:off x="457200" y="3520440"/>
            <a:ext cx="4023360" cy="1143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txBox="1"/>
          <p:nvPr/>
        </p:nvSpPr>
        <p:spPr>
          <a:xfrm>
            <a:off x="640080" y="3593592"/>
            <a:ext cx="365760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Una tarea está terminada cuando…</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cumple su criterio en el sistema levantado, las pruebas pasan, un compañero la aprueba y está en develop.</a:t>
            </a:r>
            <a:endParaRPr sz="1400" b="0" i="0" u="none" strike="noStrike" cap="none">
              <a:solidFill>
                <a:schemeClr val="dk1"/>
              </a:solidFill>
              <a:latin typeface="Calibri"/>
              <a:ea typeface="Calibri"/>
              <a:cs typeface="Calibri"/>
              <a:sym typeface="Calibri"/>
            </a:endParaRPr>
          </a:p>
        </p:txBody>
      </p:sp>
      <p:sp>
        <p:nvSpPr>
          <p:cNvPr id="113" name="Google Shape;113;p4"/>
          <p:cNvSpPr/>
          <p:nvPr/>
        </p:nvSpPr>
        <p:spPr>
          <a:xfrm>
            <a:off x="4663440" y="3520440"/>
            <a:ext cx="4023360" cy="1143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txBox="1"/>
          <p:nvPr/>
        </p:nvSpPr>
        <p:spPr>
          <a:xfrm>
            <a:off x="4846320" y="3593592"/>
            <a:ext cx="365760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400"/>
              <a:buFont typeface="Calibri"/>
              <a:buNone/>
            </a:pPr>
            <a:r>
              <a:rPr lang="en-US" sz="1400" b="1" i="0" u="none" strike="noStrike" cap="none">
                <a:solidFill>
                  <a:schemeClr val="accent2"/>
                </a:solidFill>
                <a:latin typeface="Calibri"/>
                <a:ea typeface="Calibri"/>
                <a:cs typeface="Calibri"/>
                <a:sym typeface="Calibri"/>
              </a:rPr>
              <a:t>Control de calidad</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lt1"/>
              </a:buClr>
              <a:buSzPts val="1400"/>
              <a:buFont typeface="Calibri"/>
              <a:buNone/>
            </a:pPr>
            <a:r>
              <a:rPr lang="en-US" sz="1400" b="0" i="0" u="none" strike="noStrike" cap="none">
                <a:solidFill>
                  <a:schemeClr val="lt1"/>
                </a:solidFill>
                <a:latin typeface="Calibri"/>
                <a:ea typeface="Calibri"/>
                <a:cs typeface="Calibri"/>
                <a:sym typeface="Calibri"/>
              </a:rPr>
              <a:t>Una IA genera la primera versión del código y sus pruebas; quien la sube la prueba paso a paso. Entra solo con revisión y CI en verde.</a:t>
            </a:r>
            <a:endParaRPr sz="1400" b="0" i="0" u="none" strike="noStrike" cap="none">
              <a:solidFill>
                <a:schemeClr val="dk1"/>
              </a:solidFill>
              <a:latin typeface="Calibri"/>
              <a:ea typeface="Calibri"/>
              <a:cs typeface="Calibri"/>
              <a:sym typeface="Calibri"/>
            </a:endParaRPr>
          </a:p>
        </p:txBody>
      </p:sp>
      <p:sp>
        <p:nvSpPr>
          <p:cNvPr id="115" name="Google Shape;115;p4"/>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4</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Tecnologías que utilizamos</a:t>
            </a:r>
            <a:endParaRPr sz="3600"/>
          </a:p>
        </p:txBody>
      </p:sp>
      <p:sp>
        <p:nvSpPr>
          <p:cNvPr id="122" name="Google Shape;122;p5"/>
          <p:cNvSpPr/>
          <p:nvPr/>
        </p:nvSpPr>
        <p:spPr>
          <a:xfrm>
            <a:off x="457200" y="1234440"/>
            <a:ext cx="8229600" cy="60350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594360" y="1353312"/>
            <a:ext cx="365760" cy="36576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4" name="Google Shape;124;p5" descr="preencoded.png"/>
          <p:cNvPicPr preferRelativeResize="0"/>
          <p:nvPr/>
        </p:nvPicPr>
        <p:blipFill rotWithShape="1">
          <a:blip r:embed="rId3">
            <a:alphaModFix/>
          </a:blip>
          <a:srcRect/>
          <a:stretch/>
        </p:blipFill>
        <p:spPr>
          <a:xfrm>
            <a:off x="685800" y="1444752"/>
            <a:ext cx="182880" cy="182880"/>
          </a:xfrm>
          <a:prstGeom prst="rect">
            <a:avLst/>
          </a:prstGeom>
          <a:noFill/>
          <a:ln>
            <a:noFill/>
          </a:ln>
        </p:spPr>
      </p:pic>
      <p:sp>
        <p:nvSpPr>
          <p:cNvPr id="125" name="Google Shape;125;p5"/>
          <p:cNvSpPr txBox="1"/>
          <p:nvPr/>
        </p:nvSpPr>
        <p:spPr>
          <a:xfrm>
            <a:off x="1097280" y="1234440"/>
            <a:ext cx="19202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Servidor</a:t>
            </a:r>
            <a:endParaRPr sz="1400" b="0" i="0" u="none" strike="noStrike" cap="none">
              <a:solidFill>
                <a:schemeClr val="dk1"/>
              </a:solidFill>
              <a:latin typeface="Calibri"/>
              <a:ea typeface="Calibri"/>
              <a:cs typeface="Calibri"/>
              <a:sym typeface="Calibri"/>
            </a:endParaRPr>
          </a:p>
        </p:txBody>
      </p:sp>
      <p:sp>
        <p:nvSpPr>
          <p:cNvPr id="126" name="Google Shape;126;p5"/>
          <p:cNvSpPr txBox="1"/>
          <p:nvPr/>
        </p:nvSpPr>
        <p:spPr>
          <a:xfrm>
            <a:off x="3108960" y="1234440"/>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Python y Django REST Framework</a:t>
            </a:r>
            <a:endParaRPr sz="1400" b="0" i="0" u="none" strike="noStrike" cap="none">
              <a:solidFill>
                <a:schemeClr val="dk1"/>
              </a:solidFill>
              <a:latin typeface="Calibri"/>
              <a:ea typeface="Calibri"/>
              <a:cs typeface="Calibri"/>
              <a:sym typeface="Calibri"/>
            </a:endParaRPr>
          </a:p>
        </p:txBody>
      </p:sp>
      <p:sp>
        <p:nvSpPr>
          <p:cNvPr id="127" name="Google Shape;127;p5"/>
          <p:cNvSpPr txBox="1"/>
          <p:nvPr/>
        </p:nvSpPr>
        <p:spPr>
          <a:xfrm>
            <a:off x="5760720" y="1234440"/>
            <a:ext cx="28346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Gestiona las reglas del sistema y conecta todas las partes.</a:t>
            </a:r>
            <a:endParaRPr sz="1400" b="0" i="0" u="none" strike="noStrike" cap="none">
              <a:solidFill>
                <a:schemeClr val="dk1"/>
              </a:solidFill>
              <a:latin typeface="Calibri"/>
              <a:ea typeface="Calibri"/>
              <a:cs typeface="Calibri"/>
              <a:sym typeface="Calibri"/>
            </a:endParaRPr>
          </a:p>
        </p:txBody>
      </p:sp>
      <p:sp>
        <p:nvSpPr>
          <p:cNvPr id="128" name="Google Shape;128;p5"/>
          <p:cNvSpPr/>
          <p:nvPr/>
        </p:nvSpPr>
        <p:spPr>
          <a:xfrm>
            <a:off x="457200" y="1911096"/>
            <a:ext cx="8229600" cy="60350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594360" y="2029968"/>
            <a:ext cx="365760" cy="36576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0" name="Google Shape;130;p5" descr="preencoded.png"/>
          <p:cNvPicPr preferRelativeResize="0"/>
          <p:nvPr/>
        </p:nvPicPr>
        <p:blipFill rotWithShape="1">
          <a:blip r:embed="rId4">
            <a:alphaModFix/>
          </a:blip>
          <a:srcRect/>
          <a:stretch/>
        </p:blipFill>
        <p:spPr>
          <a:xfrm>
            <a:off x="685800" y="2121408"/>
            <a:ext cx="182880" cy="182880"/>
          </a:xfrm>
          <a:prstGeom prst="rect">
            <a:avLst/>
          </a:prstGeom>
          <a:noFill/>
          <a:ln>
            <a:noFill/>
          </a:ln>
        </p:spPr>
      </p:pic>
      <p:sp>
        <p:nvSpPr>
          <p:cNvPr id="131" name="Google Shape;131;p5"/>
          <p:cNvSpPr txBox="1"/>
          <p:nvPr/>
        </p:nvSpPr>
        <p:spPr>
          <a:xfrm>
            <a:off x="1097280" y="1911096"/>
            <a:ext cx="19202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Interfaz</a:t>
            </a:r>
            <a:endParaRPr sz="1400" b="0" i="0" u="none" strike="noStrike" cap="none">
              <a:solidFill>
                <a:schemeClr val="dk1"/>
              </a:solidFill>
              <a:latin typeface="Calibri"/>
              <a:ea typeface="Calibri"/>
              <a:cs typeface="Calibri"/>
              <a:sym typeface="Calibri"/>
            </a:endParaRPr>
          </a:p>
        </p:txBody>
      </p:sp>
      <p:sp>
        <p:nvSpPr>
          <p:cNvPr id="132" name="Google Shape;132;p5"/>
          <p:cNvSpPr txBox="1"/>
          <p:nvPr/>
        </p:nvSpPr>
        <p:spPr>
          <a:xfrm>
            <a:off x="3108960" y="1911096"/>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HTML, CSS y JavaScript, sin framework</a:t>
            </a:r>
            <a:endParaRPr sz="1400" b="0" i="0" u="none" strike="noStrike" cap="none">
              <a:solidFill>
                <a:schemeClr val="dk1"/>
              </a:solidFill>
              <a:latin typeface="Calibri"/>
              <a:ea typeface="Calibri"/>
              <a:cs typeface="Calibri"/>
              <a:sym typeface="Calibri"/>
            </a:endParaRPr>
          </a:p>
        </p:txBody>
      </p:sp>
      <p:sp>
        <p:nvSpPr>
          <p:cNvPr id="133" name="Google Shape;133;p5"/>
          <p:cNvSpPr txBox="1"/>
          <p:nvPr/>
        </p:nvSpPr>
        <p:spPr>
          <a:xfrm>
            <a:off x="5760720" y="1911096"/>
            <a:ext cx="28346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Páginas livianas, servidas por la misma puerta de entrada.</a:t>
            </a:r>
            <a:endParaRPr sz="1400" b="0" i="0" u="none" strike="noStrike" cap="none">
              <a:solidFill>
                <a:schemeClr val="dk1"/>
              </a:solidFill>
              <a:latin typeface="Calibri"/>
              <a:ea typeface="Calibri"/>
              <a:cs typeface="Calibri"/>
              <a:sym typeface="Calibri"/>
            </a:endParaRPr>
          </a:p>
        </p:txBody>
      </p:sp>
      <p:sp>
        <p:nvSpPr>
          <p:cNvPr id="134" name="Google Shape;134;p5"/>
          <p:cNvSpPr/>
          <p:nvPr/>
        </p:nvSpPr>
        <p:spPr>
          <a:xfrm>
            <a:off x="457200" y="2587752"/>
            <a:ext cx="8229600" cy="60350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94360" y="2706624"/>
            <a:ext cx="365760" cy="36576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6" name="Google Shape;136;p5" descr="preencoded.png"/>
          <p:cNvPicPr preferRelativeResize="0"/>
          <p:nvPr/>
        </p:nvPicPr>
        <p:blipFill rotWithShape="1">
          <a:blip r:embed="rId5">
            <a:alphaModFix/>
          </a:blip>
          <a:srcRect/>
          <a:stretch/>
        </p:blipFill>
        <p:spPr>
          <a:xfrm>
            <a:off x="685800" y="2798064"/>
            <a:ext cx="182880" cy="182880"/>
          </a:xfrm>
          <a:prstGeom prst="rect">
            <a:avLst/>
          </a:prstGeom>
          <a:noFill/>
          <a:ln>
            <a:noFill/>
          </a:ln>
        </p:spPr>
      </p:pic>
      <p:sp>
        <p:nvSpPr>
          <p:cNvPr id="137" name="Google Shape;137;p5"/>
          <p:cNvSpPr txBox="1"/>
          <p:nvPr/>
        </p:nvSpPr>
        <p:spPr>
          <a:xfrm>
            <a:off x="1097280" y="2587752"/>
            <a:ext cx="19202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Datos</a:t>
            </a:r>
            <a:endParaRPr sz="1400" b="0" i="0" u="none" strike="noStrike" cap="none">
              <a:solidFill>
                <a:schemeClr val="dk1"/>
              </a:solidFill>
              <a:latin typeface="Calibri"/>
              <a:ea typeface="Calibri"/>
              <a:cs typeface="Calibri"/>
              <a:sym typeface="Calibri"/>
            </a:endParaRPr>
          </a:p>
        </p:txBody>
      </p:sp>
      <p:sp>
        <p:nvSpPr>
          <p:cNvPr id="138" name="Google Shape;138;p5"/>
          <p:cNvSpPr txBox="1"/>
          <p:nvPr/>
        </p:nvSpPr>
        <p:spPr>
          <a:xfrm>
            <a:off x="3108960" y="2587752"/>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PostgreSQL 16</a:t>
            </a:r>
            <a:endParaRPr sz="1400" b="0" i="0" u="none" strike="noStrike" cap="none">
              <a:solidFill>
                <a:schemeClr val="dk1"/>
              </a:solidFill>
              <a:latin typeface="Calibri"/>
              <a:ea typeface="Calibri"/>
              <a:cs typeface="Calibri"/>
              <a:sym typeface="Calibri"/>
            </a:endParaRPr>
          </a:p>
        </p:txBody>
      </p:sp>
      <p:sp>
        <p:nvSpPr>
          <p:cNvPr id="139" name="Google Shape;139;p5"/>
          <p:cNvSpPr txBox="1"/>
          <p:nvPr/>
        </p:nvSpPr>
        <p:spPr>
          <a:xfrm>
            <a:off x="5760720" y="2587752"/>
            <a:ext cx="28346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Cuatro bases independientes, una por cada servicio.</a:t>
            </a:r>
            <a:endParaRPr sz="1400" b="0" i="0" u="none" strike="noStrike" cap="none">
              <a:solidFill>
                <a:schemeClr val="dk1"/>
              </a:solidFill>
              <a:latin typeface="Calibri"/>
              <a:ea typeface="Calibri"/>
              <a:cs typeface="Calibri"/>
              <a:sym typeface="Calibri"/>
            </a:endParaRPr>
          </a:p>
        </p:txBody>
      </p:sp>
      <p:sp>
        <p:nvSpPr>
          <p:cNvPr id="140" name="Google Shape;140;p5"/>
          <p:cNvSpPr/>
          <p:nvPr/>
        </p:nvSpPr>
        <p:spPr>
          <a:xfrm>
            <a:off x="457200" y="3264408"/>
            <a:ext cx="8229600" cy="60350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594360" y="3383280"/>
            <a:ext cx="365760" cy="36576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2" name="Google Shape;142;p5" descr="preencoded.png"/>
          <p:cNvPicPr preferRelativeResize="0"/>
          <p:nvPr/>
        </p:nvPicPr>
        <p:blipFill rotWithShape="1">
          <a:blip r:embed="rId6">
            <a:alphaModFix/>
          </a:blip>
          <a:srcRect/>
          <a:stretch/>
        </p:blipFill>
        <p:spPr>
          <a:xfrm>
            <a:off x="685800" y="3474720"/>
            <a:ext cx="182880" cy="182880"/>
          </a:xfrm>
          <a:prstGeom prst="rect">
            <a:avLst/>
          </a:prstGeom>
          <a:noFill/>
          <a:ln>
            <a:noFill/>
          </a:ln>
        </p:spPr>
      </p:pic>
      <p:sp>
        <p:nvSpPr>
          <p:cNvPr id="143" name="Google Shape;143;p5"/>
          <p:cNvSpPr txBox="1"/>
          <p:nvPr/>
        </p:nvSpPr>
        <p:spPr>
          <a:xfrm>
            <a:off x="1097280" y="3264408"/>
            <a:ext cx="19202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Infraestructura</a:t>
            </a:r>
            <a:endParaRPr sz="1400" b="0" i="0" u="none" strike="noStrike" cap="none">
              <a:solidFill>
                <a:schemeClr val="dk1"/>
              </a:solidFill>
              <a:latin typeface="Calibri"/>
              <a:ea typeface="Calibri"/>
              <a:cs typeface="Calibri"/>
              <a:sym typeface="Calibri"/>
            </a:endParaRPr>
          </a:p>
        </p:txBody>
      </p:sp>
      <p:sp>
        <p:nvSpPr>
          <p:cNvPr id="144" name="Google Shape;144;p5"/>
          <p:cNvSpPr txBox="1"/>
          <p:nvPr/>
        </p:nvSpPr>
        <p:spPr>
          <a:xfrm>
            <a:off x="3108960" y="3264408"/>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Nginx y Docker Compose</a:t>
            </a:r>
            <a:endParaRPr sz="1400" b="0" i="0" u="none" strike="noStrike" cap="none">
              <a:solidFill>
                <a:schemeClr val="dk1"/>
              </a:solidFill>
              <a:latin typeface="Calibri"/>
              <a:ea typeface="Calibri"/>
              <a:cs typeface="Calibri"/>
              <a:sym typeface="Calibri"/>
            </a:endParaRPr>
          </a:p>
        </p:txBody>
      </p:sp>
      <p:sp>
        <p:nvSpPr>
          <p:cNvPr id="145" name="Google Shape;145;p5"/>
          <p:cNvSpPr txBox="1"/>
          <p:nvPr/>
        </p:nvSpPr>
        <p:spPr>
          <a:xfrm>
            <a:off x="5760720" y="3264408"/>
            <a:ext cx="28346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Un único punto de acceso y puesta en marcha rápida.</a:t>
            </a:r>
            <a:endParaRPr sz="1400" b="0" i="0" u="none" strike="noStrike" cap="none">
              <a:solidFill>
                <a:schemeClr val="dk1"/>
              </a:solidFill>
              <a:latin typeface="Calibri"/>
              <a:ea typeface="Calibri"/>
              <a:cs typeface="Calibri"/>
              <a:sym typeface="Calibri"/>
            </a:endParaRPr>
          </a:p>
        </p:txBody>
      </p:sp>
      <p:sp>
        <p:nvSpPr>
          <p:cNvPr id="146" name="Google Shape;146;p5"/>
          <p:cNvSpPr/>
          <p:nvPr/>
        </p:nvSpPr>
        <p:spPr>
          <a:xfrm>
            <a:off x="457200" y="3941064"/>
            <a:ext cx="8229600" cy="603504"/>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594360" y="4059936"/>
            <a:ext cx="365760" cy="36576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8" name="Google Shape;148;p5" descr="preencoded.png"/>
          <p:cNvPicPr preferRelativeResize="0"/>
          <p:nvPr/>
        </p:nvPicPr>
        <p:blipFill rotWithShape="1">
          <a:blip r:embed="rId7">
            <a:alphaModFix/>
          </a:blip>
          <a:srcRect/>
          <a:stretch/>
        </p:blipFill>
        <p:spPr>
          <a:xfrm>
            <a:off x="685800" y="4151376"/>
            <a:ext cx="182880" cy="182880"/>
          </a:xfrm>
          <a:prstGeom prst="rect">
            <a:avLst/>
          </a:prstGeom>
          <a:noFill/>
          <a:ln>
            <a:noFill/>
          </a:ln>
        </p:spPr>
      </p:pic>
      <p:sp>
        <p:nvSpPr>
          <p:cNvPr id="149" name="Google Shape;149;p5"/>
          <p:cNvSpPr txBox="1"/>
          <p:nvPr/>
        </p:nvSpPr>
        <p:spPr>
          <a:xfrm>
            <a:off x="1097280" y="3941064"/>
            <a:ext cx="19202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Seguridad y calidad</a:t>
            </a:r>
            <a:endParaRPr sz="1400" b="0" i="0" u="none" strike="noStrike" cap="none">
              <a:solidFill>
                <a:schemeClr val="dk1"/>
              </a:solidFill>
              <a:latin typeface="Calibri"/>
              <a:ea typeface="Calibri"/>
              <a:cs typeface="Calibri"/>
              <a:sym typeface="Calibri"/>
            </a:endParaRPr>
          </a:p>
        </p:txBody>
      </p:sp>
      <p:sp>
        <p:nvSpPr>
          <p:cNvPr id="150" name="Google Shape;150;p5"/>
          <p:cNvSpPr txBox="1"/>
          <p:nvPr/>
        </p:nvSpPr>
        <p:spPr>
          <a:xfrm>
            <a:off x="3108960" y="3941064"/>
            <a:ext cx="256032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Tokens JWT, Pytest y GitHub Actions</a:t>
            </a:r>
            <a:endParaRPr sz="1400" b="0" i="0" u="none" strike="noStrike" cap="none">
              <a:solidFill>
                <a:schemeClr val="dk1"/>
              </a:solidFill>
              <a:latin typeface="Calibri"/>
              <a:ea typeface="Calibri"/>
              <a:cs typeface="Calibri"/>
              <a:sym typeface="Calibri"/>
            </a:endParaRPr>
          </a:p>
        </p:txBody>
      </p:sp>
      <p:sp>
        <p:nvSpPr>
          <p:cNvPr id="151" name="Google Shape;151;p5"/>
          <p:cNvSpPr txBox="1"/>
          <p:nvPr/>
        </p:nvSpPr>
        <p:spPr>
          <a:xfrm>
            <a:off x="5760720" y="3941064"/>
            <a:ext cx="2834640" cy="60350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Acceso protegido y pruebas automáticas constantes.</a:t>
            </a:r>
            <a:endParaRPr sz="1400" b="0" i="0" u="none" strike="noStrike" cap="none">
              <a:solidFill>
                <a:schemeClr val="dk1"/>
              </a:solidFill>
              <a:latin typeface="Calibri"/>
              <a:ea typeface="Calibri"/>
              <a:cs typeface="Calibri"/>
              <a:sym typeface="Calibri"/>
            </a:endParaRPr>
          </a:p>
        </p:txBody>
      </p:sp>
      <p:sp>
        <p:nvSpPr>
          <p:cNvPr id="152" name="Google Shape;152;p5"/>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5</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Arquitectura del sistema</a:t>
            </a:r>
            <a:endParaRPr sz="3600"/>
          </a:p>
        </p:txBody>
      </p:sp>
      <p:sp>
        <p:nvSpPr>
          <p:cNvPr id="159" name="Google Shape;159;p6"/>
          <p:cNvSpPr/>
          <p:nvPr/>
        </p:nvSpPr>
        <p:spPr>
          <a:xfrm>
            <a:off x="3429000" y="1188720"/>
            <a:ext cx="2286000" cy="36576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
          <p:cNvSpPr txBox="1"/>
          <p:nvPr/>
        </p:nvSpPr>
        <p:spPr>
          <a:xfrm>
            <a:off x="3429000" y="1188720"/>
            <a:ext cx="2286000" cy="3657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Cliente web</a:t>
            </a:r>
            <a:endParaRPr sz="1400" b="0" i="0" u="none" strike="noStrike" cap="none">
              <a:solidFill>
                <a:schemeClr val="dk1"/>
              </a:solidFill>
              <a:latin typeface="Calibri"/>
              <a:ea typeface="Calibri"/>
              <a:cs typeface="Calibri"/>
              <a:sym typeface="Calibri"/>
            </a:endParaRPr>
          </a:p>
        </p:txBody>
      </p:sp>
      <p:cxnSp>
        <p:nvCxnSpPr>
          <p:cNvPr id="161" name="Google Shape;161;p6"/>
          <p:cNvCxnSpPr/>
          <p:nvPr/>
        </p:nvCxnSpPr>
        <p:spPr>
          <a:xfrm>
            <a:off x="4572000" y="155448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62" name="Google Shape;162;p6"/>
          <p:cNvSpPr/>
          <p:nvPr/>
        </p:nvSpPr>
        <p:spPr>
          <a:xfrm>
            <a:off x="457200" y="1828800"/>
            <a:ext cx="82296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txBox="1"/>
          <p:nvPr/>
        </p:nvSpPr>
        <p:spPr>
          <a:xfrm>
            <a:off x="457200" y="1828800"/>
            <a:ext cx="82296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Puerta de entrada · Nginx (puerto 8080)</a:t>
            </a:r>
            <a:endParaRPr sz="1400" b="0" i="0" u="none" strike="noStrike" cap="none">
              <a:solidFill>
                <a:schemeClr val="dk1"/>
              </a:solidFill>
              <a:latin typeface="Calibri"/>
              <a:ea typeface="Calibri"/>
              <a:cs typeface="Calibri"/>
              <a:sym typeface="Calibri"/>
            </a:endParaRPr>
          </a:p>
        </p:txBody>
      </p:sp>
      <p:cxnSp>
        <p:nvCxnSpPr>
          <p:cNvPr id="164" name="Google Shape;164;p6"/>
          <p:cNvCxnSpPr/>
          <p:nvPr/>
        </p:nvCxnSpPr>
        <p:spPr>
          <a:xfrm>
            <a:off x="1417320" y="228600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65" name="Google Shape;165;p6"/>
          <p:cNvSpPr/>
          <p:nvPr/>
        </p:nvSpPr>
        <p:spPr>
          <a:xfrm>
            <a:off x="457200" y="2560320"/>
            <a:ext cx="1920240" cy="548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6"/>
          <p:cNvSpPr txBox="1"/>
          <p:nvPr/>
        </p:nvSpPr>
        <p:spPr>
          <a:xfrm>
            <a:off x="457200" y="25603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Identidad</a:t>
            </a:r>
            <a:endParaRPr sz="1400" b="0" i="0" u="none" strike="noStrike" cap="none">
              <a:solidFill>
                <a:schemeClr val="dk1"/>
              </a:solidFill>
              <a:latin typeface="Calibri"/>
              <a:ea typeface="Calibri"/>
              <a:cs typeface="Calibri"/>
              <a:sym typeface="Calibri"/>
            </a:endParaRPr>
          </a:p>
        </p:txBody>
      </p:sp>
      <p:cxnSp>
        <p:nvCxnSpPr>
          <p:cNvPr id="167" name="Google Shape;167;p6"/>
          <p:cNvCxnSpPr/>
          <p:nvPr/>
        </p:nvCxnSpPr>
        <p:spPr>
          <a:xfrm>
            <a:off x="1417320" y="310896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68" name="Google Shape;168;p6"/>
          <p:cNvSpPr/>
          <p:nvPr/>
        </p:nvSpPr>
        <p:spPr>
          <a:xfrm>
            <a:off x="457200" y="3383280"/>
            <a:ext cx="1920240" cy="457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6"/>
          <p:cNvSpPr txBox="1"/>
          <p:nvPr/>
        </p:nvSpPr>
        <p:spPr>
          <a:xfrm>
            <a:off x="457200" y="3383280"/>
            <a:ext cx="19202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Base de identidad</a:t>
            </a:r>
            <a:endParaRPr sz="1400" b="0" i="0" u="none" strike="noStrike" cap="none">
              <a:solidFill>
                <a:schemeClr val="dk1"/>
              </a:solidFill>
              <a:latin typeface="Calibri"/>
              <a:ea typeface="Calibri"/>
              <a:cs typeface="Calibri"/>
              <a:sym typeface="Calibri"/>
            </a:endParaRPr>
          </a:p>
        </p:txBody>
      </p:sp>
      <p:cxnSp>
        <p:nvCxnSpPr>
          <p:cNvPr id="170" name="Google Shape;170;p6"/>
          <p:cNvCxnSpPr/>
          <p:nvPr/>
        </p:nvCxnSpPr>
        <p:spPr>
          <a:xfrm>
            <a:off x="3520440" y="228600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71" name="Google Shape;171;p6"/>
          <p:cNvSpPr/>
          <p:nvPr/>
        </p:nvSpPr>
        <p:spPr>
          <a:xfrm>
            <a:off x="2560320" y="2560320"/>
            <a:ext cx="1920240" cy="548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6"/>
          <p:cNvSpPr txBox="1"/>
          <p:nvPr/>
        </p:nvSpPr>
        <p:spPr>
          <a:xfrm>
            <a:off x="2560320" y="25603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Catálogo académico</a:t>
            </a:r>
            <a:endParaRPr sz="1400" b="0" i="0" u="none" strike="noStrike" cap="none">
              <a:solidFill>
                <a:schemeClr val="dk1"/>
              </a:solidFill>
              <a:latin typeface="Calibri"/>
              <a:ea typeface="Calibri"/>
              <a:cs typeface="Calibri"/>
              <a:sym typeface="Calibri"/>
            </a:endParaRPr>
          </a:p>
        </p:txBody>
      </p:sp>
      <p:cxnSp>
        <p:nvCxnSpPr>
          <p:cNvPr id="173" name="Google Shape;173;p6"/>
          <p:cNvCxnSpPr/>
          <p:nvPr/>
        </p:nvCxnSpPr>
        <p:spPr>
          <a:xfrm>
            <a:off x="3520440" y="310896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74" name="Google Shape;174;p6"/>
          <p:cNvSpPr/>
          <p:nvPr/>
        </p:nvSpPr>
        <p:spPr>
          <a:xfrm>
            <a:off x="2560320" y="3383280"/>
            <a:ext cx="1920240" cy="457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txBox="1"/>
          <p:nvPr/>
        </p:nvSpPr>
        <p:spPr>
          <a:xfrm>
            <a:off x="2560320" y="3383280"/>
            <a:ext cx="19202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Base del catálogo</a:t>
            </a:r>
            <a:endParaRPr sz="1400" b="0" i="0" u="none" strike="noStrike" cap="none">
              <a:solidFill>
                <a:schemeClr val="dk1"/>
              </a:solidFill>
              <a:latin typeface="Calibri"/>
              <a:ea typeface="Calibri"/>
              <a:cs typeface="Calibri"/>
              <a:sym typeface="Calibri"/>
            </a:endParaRPr>
          </a:p>
        </p:txBody>
      </p:sp>
      <p:cxnSp>
        <p:nvCxnSpPr>
          <p:cNvPr id="176" name="Google Shape;176;p6"/>
          <p:cNvCxnSpPr/>
          <p:nvPr/>
        </p:nvCxnSpPr>
        <p:spPr>
          <a:xfrm>
            <a:off x="5623560" y="228600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77" name="Google Shape;177;p6"/>
          <p:cNvSpPr/>
          <p:nvPr/>
        </p:nvSpPr>
        <p:spPr>
          <a:xfrm>
            <a:off x="4663440" y="2560320"/>
            <a:ext cx="1920240" cy="548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txBox="1"/>
          <p:nvPr/>
        </p:nvSpPr>
        <p:spPr>
          <a:xfrm>
            <a:off x="4663440" y="25603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Tutorías</a:t>
            </a:r>
            <a:endParaRPr sz="1400" b="0" i="0" u="none" strike="noStrike" cap="none">
              <a:solidFill>
                <a:schemeClr val="dk1"/>
              </a:solidFill>
              <a:latin typeface="Calibri"/>
              <a:ea typeface="Calibri"/>
              <a:cs typeface="Calibri"/>
              <a:sym typeface="Calibri"/>
            </a:endParaRPr>
          </a:p>
        </p:txBody>
      </p:sp>
      <p:cxnSp>
        <p:nvCxnSpPr>
          <p:cNvPr id="179" name="Google Shape;179;p6"/>
          <p:cNvCxnSpPr/>
          <p:nvPr/>
        </p:nvCxnSpPr>
        <p:spPr>
          <a:xfrm>
            <a:off x="5623560" y="310896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80" name="Google Shape;180;p6"/>
          <p:cNvSpPr/>
          <p:nvPr/>
        </p:nvSpPr>
        <p:spPr>
          <a:xfrm>
            <a:off x="4663440" y="3383280"/>
            <a:ext cx="1920240" cy="457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txBox="1"/>
          <p:nvPr/>
        </p:nvSpPr>
        <p:spPr>
          <a:xfrm>
            <a:off x="4663440" y="3383280"/>
            <a:ext cx="19202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Base de tutorías</a:t>
            </a:r>
            <a:endParaRPr sz="1400" b="0" i="0" u="none" strike="noStrike" cap="none">
              <a:solidFill>
                <a:schemeClr val="dk1"/>
              </a:solidFill>
              <a:latin typeface="Calibri"/>
              <a:ea typeface="Calibri"/>
              <a:cs typeface="Calibri"/>
              <a:sym typeface="Calibri"/>
            </a:endParaRPr>
          </a:p>
        </p:txBody>
      </p:sp>
      <p:cxnSp>
        <p:nvCxnSpPr>
          <p:cNvPr id="182" name="Google Shape;182;p6"/>
          <p:cNvCxnSpPr/>
          <p:nvPr/>
        </p:nvCxnSpPr>
        <p:spPr>
          <a:xfrm>
            <a:off x="7726680" y="228600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83" name="Google Shape;183;p6"/>
          <p:cNvSpPr/>
          <p:nvPr/>
        </p:nvSpPr>
        <p:spPr>
          <a:xfrm>
            <a:off x="6766560" y="2560320"/>
            <a:ext cx="1920240" cy="54864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txBox="1"/>
          <p:nvPr/>
        </p:nvSpPr>
        <p:spPr>
          <a:xfrm>
            <a:off x="6766560" y="25603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400"/>
              <a:buFont typeface="Calibri"/>
              <a:buNone/>
            </a:pPr>
            <a:r>
              <a:rPr lang="en-US" sz="1400" b="1" i="0" u="none" strike="noStrike" cap="none">
                <a:solidFill>
                  <a:schemeClr val="dk2"/>
                </a:solidFill>
                <a:latin typeface="Calibri"/>
                <a:ea typeface="Calibri"/>
                <a:cs typeface="Calibri"/>
                <a:sym typeface="Calibri"/>
              </a:rPr>
              <a:t>Pagos</a:t>
            </a:r>
            <a:endParaRPr sz="1400" b="0" i="0" u="none" strike="noStrike" cap="none">
              <a:solidFill>
                <a:schemeClr val="dk1"/>
              </a:solidFill>
              <a:latin typeface="Calibri"/>
              <a:ea typeface="Calibri"/>
              <a:cs typeface="Calibri"/>
              <a:sym typeface="Calibri"/>
            </a:endParaRPr>
          </a:p>
        </p:txBody>
      </p:sp>
      <p:cxnSp>
        <p:nvCxnSpPr>
          <p:cNvPr id="185" name="Google Shape;185;p6"/>
          <p:cNvCxnSpPr/>
          <p:nvPr/>
        </p:nvCxnSpPr>
        <p:spPr>
          <a:xfrm>
            <a:off x="7726680" y="3108960"/>
            <a:ext cx="0" cy="274320"/>
          </a:xfrm>
          <a:prstGeom prst="straightConnector1">
            <a:avLst/>
          </a:prstGeom>
          <a:noFill/>
          <a:ln w="19050" cap="flat" cmpd="sng">
            <a:solidFill>
              <a:schemeClr val="accent4"/>
            </a:solidFill>
            <a:prstDash val="solid"/>
            <a:round/>
            <a:headEnd type="none" w="sm" len="sm"/>
            <a:tailEnd type="triangle" w="med" len="med"/>
          </a:ln>
        </p:spPr>
      </p:cxnSp>
      <p:sp>
        <p:nvSpPr>
          <p:cNvPr id="186" name="Google Shape;186;p6"/>
          <p:cNvSpPr/>
          <p:nvPr/>
        </p:nvSpPr>
        <p:spPr>
          <a:xfrm>
            <a:off x="6766560" y="3383280"/>
            <a:ext cx="1920240" cy="457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txBox="1"/>
          <p:nvPr/>
        </p:nvSpPr>
        <p:spPr>
          <a:xfrm>
            <a:off x="6766560" y="3383280"/>
            <a:ext cx="192024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Base de pagos</a:t>
            </a:r>
            <a:endParaRPr sz="1400" b="0" i="0" u="none" strike="noStrike" cap="none">
              <a:solidFill>
                <a:schemeClr val="dk1"/>
              </a:solidFill>
              <a:latin typeface="Calibri"/>
              <a:ea typeface="Calibri"/>
              <a:cs typeface="Calibri"/>
              <a:sym typeface="Calibri"/>
            </a:endParaRPr>
          </a:p>
        </p:txBody>
      </p:sp>
      <p:sp>
        <p:nvSpPr>
          <p:cNvPr id="188" name="Google Shape;188;p6"/>
          <p:cNvSpPr txBox="1"/>
          <p:nvPr/>
        </p:nvSpPr>
        <p:spPr>
          <a:xfrm>
            <a:off x="457200" y="4023360"/>
            <a:ext cx="822960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Cada servicio tiene su propia base de datos, y todo el sistema se levanta con un solo comando.</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Identidad firma las credenciales de acceso; los servicios que piden sesión solo las verifican.</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Tutorías consulta a Identidad y a Catálogo por HTTP, y guarda copias para buscar sin depender de ellos.</a:t>
            </a:r>
            <a:endParaRPr sz="1400" b="0" i="0" u="none" strike="noStrike" cap="none">
              <a:solidFill>
                <a:schemeClr val="dk1"/>
              </a:solidFill>
              <a:latin typeface="Calibri"/>
              <a:ea typeface="Calibri"/>
              <a:cs typeface="Calibri"/>
              <a:sym typeface="Calibri"/>
            </a:endParaRPr>
          </a:p>
        </p:txBody>
      </p:sp>
      <p:sp>
        <p:nvSpPr>
          <p:cNvPr id="189" name="Google Shape;189;p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6</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Base de datos</a:t>
            </a:r>
            <a:endParaRPr sz="3600"/>
          </a:p>
        </p:txBody>
      </p:sp>
      <p:sp>
        <p:nvSpPr>
          <p:cNvPr id="196" name="Google Shape;196;p7"/>
          <p:cNvSpPr/>
          <p:nvPr/>
        </p:nvSpPr>
        <p:spPr>
          <a:xfrm>
            <a:off x="457200" y="1234440"/>
            <a:ext cx="2560320" cy="338328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7"/>
          <p:cNvSpPr txBox="1"/>
          <p:nvPr/>
        </p:nvSpPr>
        <p:spPr>
          <a:xfrm>
            <a:off x="685800" y="1463040"/>
            <a:ext cx="2103120" cy="10058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6600"/>
              <a:buFont typeface="Calibri"/>
              <a:buNone/>
            </a:pPr>
            <a:r>
              <a:rPr lang="en-US" sz="6600" b="1" i="0" u="none" strike="noStrike" cap="none">
                <a:solidFill>
                  <a:schemeClr val="accent2"/>
                </a:solidFill>
                <a:latin typeface="Calibri"/>
                <a:ea typeface="Calibri"/>
                <a:cs typeface="Calibri"/>
                <a:sym typeface="Calibri"/>
              </a:rPr>
              <a:t>21</a:t>
            </a:r>
            <a:endParaRPr sz="6600" b="0" i="0" u="none" strike="noStrike" cap="none">
              <a:solidFill>
                <a:schemeClr val="dk1"/>
              </a:solidFill>
              <a:latin typeface="Calibri"/>
              <a:ea typeface="Calibri"/>
              <a:cs typeface="Calibri"/>
              <a:sym typeface="Calibri"/>
            </a:endParaRPr>
          </a:p>
        </p:txBody>
      </p:sp>
      <p:sp>
        <p:nvSpPr>
          <p:cNvPr id="198" name="Google Shape;198;p7"/>
          <p:cNvSpPr txBox="1"/>
          <p:nvPr/>
        </p:nvSpPr>
        <p:spPr>
          <a:xfrm>
            <a:off x="685800" y="2606040"/>
            <a:ext cx="2103120" cy="914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800"/>
              <a:buFont typeface="Calibri"/>
              <a:buNone/>
            </a:pPr>
            <a:r>
              <a:rPr lang="en-US" sz="1800" b="1" i="0" u="none" strike="noStrike" cap="none">
                <a:solidFill>
                  <a:schemeClr val="lt1"/>
                </a:solidFill>
                <a:latin typeface="Calibri"/>
                <a:ea typeface="Calibri"/>
                <a:cs typeface="Calibri"/>
                <a:sym typeface="Calibri"/>
              </a:rPr>
              <a:t>tablas repartidas en 4 bases de datos independientes</a:t>
            </a:r>
            <a:endParaRPr sz="1800" b="0" i="0" u="none" strike="noStrike" cap="none">
              <a:solidFill>
                <a:schemeClr val="dk1"/>
              </a:solidFill>
              <a:latin typeface="Calibri"/>
              <a:ea typeface="Calibri"/>
              <a:cs typeface="Calibri"/>
              <a:sym typeface="Calibri"/>
            </a:endParaRPr>
          </a:p>
        </p:txBody>
      </p:sp>
      <p:sp>
        <p:nvSpPr>
          <p:cNvPr id="199" name="Google Shape;199;p7"/>
          <p:cNvSpPr txBox="1"/>
          <p:nvPr/>
        </p:nvSpPr>
        <p:spPr>
          <a:xfrm>
            <a:off x="685800" y="3657600"/>
            <a:ext cx="210312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a:solidFill>
                  <a:schemeClr val="accent5"/>
                </a:solidFill>
                <a:latin typeface="Calibri"/>
                <a:ea typeface="Calibri"/>
                <a:cs typeface="Calibri"/>
                <a:sym typeface="Calibri"/>
              </a:rPr>
              <a:t>Una base PostgreSQL por cada servicio.</a:t>
            </a:r>
            <a:endParaRPr sz="1400" b="0" i="0" u="none" strike="noStrike" cap="none">
              <a:solidFill>
                <a:schemeClr val="dk1"/>
              </a:solidFill>
              <a:latin typeface="Calibri"/>
              <a:ea typeface="Calibri"/>
              <a:cs typeface="Calibri"/>
              <a:sym typeface="Calibri"/>
            </a:endParaRPr>
          </a:p>
        </p:txBody>
      </p:sp>
      <p:sp>
        <p:nvSpPr>
          <p:cNvPr id="200" name="Google Shape;200;p7"/>
          <p:cNvSpPr txBox="1"/>
          <p:nvPr/>
        </p:nvSpPr>
        <p:spPr>
          <a:xfrm>
            <a:off x="3291840" y="1234440"/>
            <a:ext cx="53949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Datos ordenados en tercera forma normal</a:t>
            </a:r>
            <a:endParaRPr sz="1600" b="0" i="0" u="none" strike="noStrike" cap="none">
              <a:solidFill>
                <a:schemeClr val="dk1"/>
              </a:solidFill>
              <a:latin typeface="Calibri"/>
              <a:ea typeface="Calibri"/>
              <a:cs typeface="Calibri"/>
              <a:sym typeface="Calibri"/>
            </a:endParaRPr>
          </a:p>
        </p:txBody>
      </p:sp>
      <p:sp>
        <p:nvSpPr>
          <p:cNvPr id="201" name="Google Shape;201;p7"/>
          <p:cNvSpPr/>
          <p:nvPr/>
        </p:nvSpPr>
        <p:spPr>
          <a:xfrm>
            <a:off x="3291840" y="1645920"/>
            <a:ext cx="5394960" cy="384048"/>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3383280" y="1700784"/>
            <a:ext cx="548640" cy="27432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7"/>
          <p:cNvSpPr txBox="1"/>
          <p:nvPr/>
        </p:nvSpPr>
        <p:spPr>
          <a:xfrm>
            <a:off x="3383280" y="1700784"/>
            <a:ext cx="5486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200"/>
              <a:buFont typeface="Calibri"/>
              <a:buNone/>
            </a:pPr>
            <a:r>
              <a:rPr lang="en-US" sz="1200" b="1" i="0" u="none" strike="noStrike" cap="none">
                <a:solidFill>
                  <a:schemeClr val="lt1"/>
                </a:solidFill>
                <a:latin typeface="Calibri"/>
                <a:ea typeface="Calibri"/>
                <a:cs typeface="Calibri"/>
                <a:sym typeface="Calibri"/>
              </a:rPr>
              <a:t>1FN</a:t>
            </a:r>
            <a:endParaRPr sz="1200" b="0" i="0" u="none" strike="noStrike" cap="none">
              <a:solidFill>
                <a:schemeClr val="dk1"/>
              </a:solidFill>
              <a:latin typeface="Calibri"/>
              <a:ea typeface="Calibri"/>
              <a:cs typeface="Calibri"/>
              <a:sym typeface="Calibri"/>
            </a:endParaRPr>
          </a:p>
        </p:txBody>
      </p:sp>
      <p:sp>
        <p:nvSpPr>
          <p:cNvPr id="204" name="Google Shape;204;p7"/>
          <p:cNvSpPr txBox="1"/>
          <p:nvPr/>
        </p:nvSpPr>
        <p:spPr>
          <a:xfrm>
            <a:off x="4069080" y="1645920"/>
            <a:ext cx="45262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Cada celda guarda un solo valor, sin listas.</a:t>
            </a:r>
            <a:endParaRPr sz="1400" b="0" i="0" u="none" strike="noStrike" cap="none">
              <a:solidFill>
                <a:schemeClr val="dk1"/>
              </a:solidFill>
              <a:latin typeface="Calibri"/>
              <a:ea typeface="Calibri"/>
              <a:cs typeface="Calibri"/>
              <a:sym typeface="Calibri"/>
            </a:endParaRPr>
          </a:p>
        </p:txBody>
      </p:sp>
      <p:sp>
        <p:nvSpPr>
          <p:cNvPr id="205" name="Google Shape;205;p7"/>
          <p:cNvSpPr/>
          <p:nvPr/>
        </p:nvSpPr>
        <p:spPr>
          <a:xfrm>
            <a:off x="3291840" y="2103120"/>
            <a:ext cx="5394960" cy="384048"/>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3383280" y="2157984"/>
            <a:ext cx="548640" cy="27432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txBox="1"/>
          <p:nvPr/>
        </p:nvSpPr>
        <p:spPr>
          <a:xfrm>
            <a:off x="3383280" y="2157984"/>
            <a:ext cx="5486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200"/>
              <a:buFont typeface="Calibri"/>
              <a:buNone/>
            </a:pPr>
            <a:r>
              <a:rPr lang="en-US" sz="1200" b="1" i="0" u="none" strike="noStrike" cap="none">
                <a:solidFill>
                  <a:schemeClr val="lt1"/>
                </a:solidFill>
                <a:latin typeface="Calibri"/>
                <a:ea typeface="Calibri"/>
                <a:cs typeface="Calibri"/>
                <a:sym typeface="Calibri"/>
              </a:rPr>
              <a:t>2FN</a:t>
            </a:r>
            <a:endParaRPr sz="1200" b="0" i="0" u="none" strike="noStrike" cap="none">
              <a:solidFill>
                <a:schemeClr val="dk1"/>
              </a:solidFill>
              <a:latin typeface="Calibri"/>
              <a:ea typeface="Calibri"/>
              <a:cs typeface="Calibri"/>
              <a:sym typeface="Calibri"/>
            </a:endParaRPr>
          </a:p>
        </p:txBody>
      </p:sp>
      <p:sp>
        <p:nvSpPr>
          <p:cNvPr id="208" name="Google Shape;208;p7"/>
          <p:cNvSpPr txBox="1"/>
          <p:nvPr/>
        </p:nvSpPr>
        <p:spPr>
          <a:xfrm>
            <a:off x="4069080" y="2103120"/>
            <a:ext cx="45262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Cada dato depende de su clave completa.</a:t>
            </a:r>
            <a:endParaRPr sz="1400" b="0" i="0" u="none" strike="noStrike" cap="none">
              <a:solidFill>
                <a:schemeClr val="dk1"/>
              </a:solidFill>
              <a:latin typeface="Calibri"/>
              <a:ea typeface="Calibri"/>
              <a:cs typeface="Calibri"/>
              <a:sym typeface="Calibri"/>
            </a:endParaRPr>
          </a:p>
        </p:txBody>
      </p:sp>
      <p:sp>
        <p:nvSpPr>
          <p:cNvPr id="209" name="Google Shape;209;p7"/>
          <p:cNvSpPr/>
          <p:nvPr/>
        </p:nvSpPr>
        <p:spPr>
          <a:xfrm>
            <a:off x="3291840" y="2560320"/>
            <a:ext cx="5394960" cy="384048"/>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3383280" y="2615184"/>
            <a:ext cx="548640" cy="27432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txBox="1"/>
          <p:nvPr/>
        </p:nvSpPr>
        <p:spPr>
          <a:xfrm>
            <a:off x="3383280" y="2615184"/>
            <a:ext cx="5486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200"/>
              <a:buFont typeface="Calibri"/>
              <a:buNone/>
            </a:pPr>
            <a:r>
              <a:rPr lang="en-US" sz="1200" b="1" i="0" u="none" strike="noStrike" cap="none">
                <a:solidFill>
                  <a:schemeClr val="lt1"/>
                </a:solidFill>
                <a:latin typeface="Calibri"/>
                <a:ea typeface="Calibri"/>
                <a:cs typeface="Calibri"/>
                <a:sym typeface="Calibri"/>
              </a:rPr>
              <a:t>3FN</a:t>
            </a:r>
            <a:endParaRPr sz="1200" b="0" i="0" u="none" strike="noStrike" cap="none">
              <a:solidFill>
                <a:schemeClr val="dk1"/>
              </a:solidFill>
              <a:latin typeface="Calibri"/>
              <a:ea typeface="Calibri"/>
              <a:cs typeface="Calibri"/>
              <a:sym typeface="Calibri"/>
            </a:endParaRPr>
          </a:p>
        </p:txBody>
      </p:sp>
      <p:sp>
        <p:nvSpPr>
          <p:cNvPr id="212" name="Google Shape;212;p7"/>
          <p:cNvSpPr txBox="1"/>
          <p:nvPr/>
        </p:nvSpPr>
        <p:spPr>
          <a:xfrm>
            <a:off x="4069080" y="2560320"/>
            <a:ext cx="452628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Ningún dato depende de otro que no sea la clave.</a:t>
            </a:r>
            <a:endParaRPr sz="1400" b="0" i="0" u="none" strike="noStrike" cap="none">
              <a:solidFill>
                <a:schemeClr val="dk1"/>
              </a:solidFill>
              <a:latin typeface="Calibri"/>
              <a:ea typeface="Calibri"/>
              <a:cs typeface="Calibri"/>
              <a:sym typeface="Calibri"/>
            </a:endParaRPr>
          </a:p>
        </p:txBody>
      </p:sp>
      <p:sp>
        <p:nvSpPr>
          <p:cNvPr id="213" name="Google Shape;213;p7"/>
          <p:cNvSpPr txBox="1"/>
          <p:nvPr/>
        </p:nvSpPr>
        <p:spPr>
          <a:xfrm>
            <a:off x="3291840" y="3108960"/>
            <a:ext cx="5394960" cy="3200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Reglas protegidas por la propia base de datos</a:t>
            </a:r>
            <a:endParaRPr sz="1600" b="0" i="0" u="none" strike="noStrike" cap="none">
              <a:solidFill>
                <a:schemeClr val="dk1"/>
              </a:solidFill>
              <a:latin typeface="Calibri"/>
              <a:ea typeface="Calibri"/>
              <a:cs typeface="Calibri"/>
              <a:sym typeface="Calibri"/>
            </a:endParaRPr>
          </a:p>
        </p:txBody>
      </p:sp>
      <p:sp>
        <p:nvSpPr>
          <p:cNvPr id="214" name="Google Shape;214;p7"/>
          <p:cNvSpPr/>
          <p:nvPr/>
        </p:nvSpPr>
        <p:spPr>
          <a:xfrm>
            <a:off x="3291840" y="3520440"/>
            <a:ext cx="1737360" cy="105156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7"/>
          <p:cNvSpPr txBox="1"/>
          <p:nvPr/>
        </p:nvSpPr>
        <p:spPr>
          <a:xfrm>
            <a:off x="3401568" y="3611880"/>
            <a:ext cx="1517904" cy="8961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400"/>
              <a:buFont typeface="Calibri"/>
              <a:buNone/>
            </a:pPr>
            <a:r>
              <a:rPr lang="en-US" sz="1400" b="1" i="0" u="none" strike="noStrike" cap="none">
                <a:solidFill>
                  <a:schemeClr val="accent3"/>
                </a:solidFill>
                <a:latin typeface="Calibri"/>
                <a:ea typeface="Calibri"/>
                <a:cs typeface="Calibri"/>
                <a:sym typeface="Calibri"/>
              </a:rPr>
              <a:t>1  </a:t>
            </a:r>
            <a:r>
              <a:rPr lang="en-US" sz="1400" b="0" i="0" u="none" strike="noStrike" cap="none">
                <a:solidFill>
                  <a:schemeClr val="dk1"/>
                </a:solidFill>
                <a:latin typeface="Calibri"/>
                <a:ea typeface="Calibri"/>
                <a:cs typeface="Calibri"/>
                <a:sym typeface="Calibri"/>
              </a:rPr>
              <a:t>Un tutor no puede tener horarios superpuestos.</a:t>
            </a:r>
            <a:endParaRPr sz="1400" b="0" i="0" u="none" strike="noStrike" cap="none">
              <a:solidFill>
                <a:schemeClr val="dk1"/>
              </a:solidFill>
              <a:latin typeface="Calibri"/>
              <a:ea typeface="Calibri"/>
              <a:cs typeface="Calibri"/>
              <a:sym typeface="Calibri"/>
            </a:endParaRPr>
          </a:p>
        </p:txBody>
      </p:sp>
      <p:sp>
        <p:nvSpPr>
          <p:cNvPr id="216" name="Google Shape;216;p7"/>
          <p:cNvSpPr/>
          <p:nvPr/>
        </p:nvSpPr>
        <p:spPr>
          <a:xfrm>
            <a:off x="5120640" y="3520440"/>
            <a:ext cx="1737360" cy="105156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txBox="1"/>
          <p:nvPr/>
        </p:nvSpPr>
        <p:spPr>
          <a:xfrm>
            <a:off x="5230368" y="3611880"/>
            <a:ext cx="1517904" cy="8961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400"/>
              <a:buFont typeface="Calibri"/>
              <a:buNone/>
            </a:pPr>
            <a:r>
              <a:rPr lang="en-US" sz="1400" b="1" i="0" u="none" strike="noStrike" cap="none">
                <a:solidFill>
                  <a:schemeClr val="accent3"/>
                </a:solidFill>
                <a:latin typeface="Calibri"/>
                <a:ea typeface="Calibri"/>
                <a:cs typeface="Calibri"/>
                <a:sym typeface="Calibri"/>
              </a:rPr>
              <a:t>2  </a:t>
            </a:r>
            <a:r>
              <a:rPr lang="en-US" sz="1400" b="0" i="0" u="none" strike="noStrike" cap="none">
                <a:solidFill>
                  <a:schemeClr val="dk1"/>
                </a:solidFill>
                <a:latin typeface="Calibri"/>
                <a:ea typeface="Calibri"/>
                <a:cs typeface="Calibri"/>
                <a:sym typeface="Calibri"/>
              </a:rPr>
              <a:t>Solo una reserva confirmada por horario.</a:t>
            </a:r>
            <a:endParaRPr sz="1400" b="0" i="0" u="none" strike="noStrike" cap="none">
              <a:solidFill>
                <a:schemeClr val="dk1"/>
              </a:solidFill>
              <a:latin typeface="Calibri"/>
              <a:ea typeface="Calibri"/>
              <a:cs typeface="Calibri"/>
              <a:sym typeface="Calibri"/>
            </a:endParaRPr>
          </a:p>
        </p:txBody>
      </p:sp>
      <p:sp>
        <p:nvSpPr>
          <p:cNvPr id="218" name="Google Shape;218;p7"/>
          <p:cNvSpPr/>
          <p:nvPr/>
        </p:nvSpPr>
        <p:spPr>
          <a:xfrm>
            <a:off x="6949440" y="3520440"/>
            <a:ext cx="1737360" cy="105156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txBox="1"/>
          <p:nvPr/>
        </p:nvSpPr>
        <p:spPr>
          <a:xfrm>
            <a:off x="7059168" y="3611880"/>
            <a:ext cx="1517904" cy="89611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3"/>
              </a:buClr>
              <a:buSzPts val="1400"/>
              <a:buFont typeface="Calibri"/>
              <a:buNone/>
            </a:pPr>
            <a:r>
              <a:rPr lang="en-US" sz="1400" b="1" i="0" u="none" strike="noStrike" cap="none">
                <a:solidFill>
                  <a:schemeClr val="accent3"/>
                </a:solidFill>
                <a:latin typeface="Calibri"/>
                <a:ea typeface="Calibri"/>
                <a:cs typeface="Calibri"/>
                <a:sym typeface="Calibri"/>
              </a:rPr>
              <a:t>3  </a:t>
            </a:r>
            <a:r>
              <a:rPr lang="en-US" sz="1400" b="0" i="0" u="none" strike="noStrike" cap="none">
                <a:solidFill>
                  <a:schemeClr val="dk1"/>
                </a:solidFill>
                <a:latin typeface="Calibri"/>
                <a:ea typeface="Calibri"/>
                <a:cs typeface="Calibri"/>
                <a:sym typeface="Calibri"/>
              </a:rPr>
              <a:t>Nadie puede reservar su propia tutoría.</a:t>
            </a:r>
            <a:endParaRPr sz="1400" b="0" i="0" u="none" strike="noStrike" cap="none">
              <a:solidFill>
                <a:schemeClr val="dk1"/>
              </a:solidFill>
              <a:latin typeface="Calibri"/>
              <a:ea typeface="Calibri"/>
              <a:cs typeface="Calibri"/>
              <a:sym typeface="Calibri"/>
            </a:endParaRPr>
          </a:p>
        </p:txBody>
      </p:sp>
      <p:sp>
        <p:nvSpPr>
          <p:cNvPr id="220" name="Google Shape;220;p7"/>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7</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Base de datos: el modelo</a:t>
            </a:r>
            <a:endParaRPr sz="3600"/>
          </a:p>
        </p:txBody>
      </p:sp>
      <p:sp>
        <p:nvSpPr>
          <p:cNvPr id="301" name="Panel Identidad"/>
          <p:cNvSpPr/>
          <p:nvPr/>
        </p:nvSpPr>
        <p:spPr>
          <a:xfrm>
            <a:off x="457200" y="1143000"/>
            <a:ext cx="1188720" cy="292608"/>
          </a:xfrm>
          <a:prstGeom prst="rect">
            <a:avLst/>
          </a:prstGeom>
          <a:solidFill>
            <a:schemeClr val="dk2"/>
          </a:solidFill>
          <a:ln>
            <a:noFill/>
          </a:ln>
        </p:spPr>
        <p:txBody>
          <a:bodyPr spcFirstLastPara="1" wrap="square" lIns="36576" tIns="0" rIns="36576" bIns="0" anchor="ctr" anchorCtr="0">
            <a:noAutofit/>
          </a:bodyPr>
          <a:lstStyle/>
          <a:p>
            <a:pPr marL="0" indent="0" algn="ctr">
              <a:spcBef>
                <a:spcPts val="0"/>
              </a:spcBef>
              <a:spcAft>
                <a:spcPts val="0"/>
              </a:spcAft>
              <a:buNone/>
            </a:pPr>
            <a:r>
              <a:rPr lang="es-CL" sz="1200" b="1" i="0" dirty="0">
                <a:solidFill>
                  <a:schemeClr val="lt1"/>
                </a:solidFill>
                <a:latin typeface="Calibri"/>
                <a:ea typeface="Calibri"/>
                <a:cs typeface="Calibri"/>
                <a:sym typeface="Calibri"/>
              </a:rPr>
              <a:t>Identidad</a:t>
            </a:r>
          </a:p>
        </p:txBody>
      </p:sp>
      <p:sp>
        <p:nvSpPr>
          <p:cNvPr id="302" name="Cuerpo Identidad"/>
          <p:cNvSpPr/>
          <p:nvPr/>
        </p:nvSpPr>
        <p:spPr>
          <a:xfrm>
            <a:off x="457200" y="1435608"/>
            <a:ext cx="1188720" cy="2587752"/>
          </a:xfrm>
          <a:prstGeom prst="rect">
            <a:avLst/>
          </a:prstGeom>
          <a:solidFill>
            <a:schemeClr val="lt2"/>
          </a:solidFill>
          <a:ln>
            <a:noFill/>
          </a:ln>
        </p:spPr>
        <p:txBody>
          <a:bodyPr spcFirstLastPara="1" wrap="square" lIns="36576" tIns="0" rIns="36576" bIns="0" anchor="ctr" anchorCtr="0">
            <a:noAutofit/>
          </a:bodyPr>
          <a:lstStyle/>
          <a:p>
            <a:endParaRPr lang="es-CL"/>
          </a:p>
        </p:txBody>
      </p:sp>
      <p:sp>
        <p:nvSpPr>
          <p:cNvPr id="303" name="Panel Catálogo"/>
          <p:cNvSpPr/>
          <p:nvPr/>
        </p:nvSpPr>
        <p:spPr>
          <a:xfrm>
            <a:off x="1874520" y="1143000"/>
            <a:ext cx="1463040" cy="292608"/>
          </a:xfrm>
          <a:prstGeom prst="rect">
            <a:avLst/>
          </a:prstGeom>
          <a:solidFill>
            <a:schemeClr val="dk2"/>
          </a:solidFill>
          <a:ln>
            <a:noFill/>
          </a:ln>
        </p:spPr>
        <p:txBody>
          <a:bodyPr spcFirstLastPara="1" wrap="square" lIns="36576" tIns="0" rIns="36576" bIns="0" anchor="ctr" anchorCtr="0">
            <a:noAutofit/>
          </a:bodyPr>
          <a:lstStyle/>
          <a:p>
            <a:pPr marL="0" indent="0" algn="ctr">
              <a:spcBef>
                <a:spcPts val="0"/>
              </a:spcBef>
              <a:spcAft>
                <a:spcPts val="0"/>
              </a:spcAft>
              <a:buNone/>
            </a:pPr>
            <a:r>
              <a:rPr lang="es-CL" sz="1200" b="1" i="0" dirty="0">
                <a:solidFill>
                  <a:schemeClr val="lt1"/>
                </a:solidFill>
                <a:latin typeface="Calibri"/>
                <a:ea typeface="Calibri"/>
                <a:cs typeface="Calibri"/>
                <a:sym typeface="Calibri"/>
              </a:rPr>
              <a:t>Catálogo</a:t>
            </a:r>
          </a:p>
        </p:txBody>
      </p:sp>
      <p:sp>
        <p:nvSpPr>
          <p:cNvPr id="304" name="Cuerpo Catálogo"/>
          <p:cNvSpPr/>
          <p:nvPr/>
        </p:nvSpPr>
        <p:spPr>
          <a:xfrm>
            <a:off x="1874520" y="1435608"/>
            <a:ext cx="1463040" cy="2587752"/>
          </a:xfrm>
          <a:prstGeom prst="rect">
            <a:avLst/>
          </a:prstGeom>
          <a:solidFill>
            <a:schemeClr val="lt2"/>
          </a:solidFill>
          <a:ln>
            <a:noFill/>
          </a:ln>
        </p:spPr>
        <p:txBody>
          <a:bodyPr spcFirstLastPara="1" wrap="square" lIns="36576" tIns="0" rIns="36576" bIns="0" anchor="ctr" anchorCtr="0">
            <a:noAutofit/>
          </a:bodyPr>
          <a:lstStyle/>
          <a:p>
            <a:endParaRPr lang="es-CL"/>
          </a:p>
        </p:txBody>
      </p:sp>
      <p:sp>
        <p:nvSpPr>
          <p:cNvPr id="305" name="Panel Tutorías"/>
          <p:cNvSpPr/>
          <p:nvPr/>
        </p:nvSpPr>
        <p:spPr>
          <a:xfrm>
            <a:off x="3566160" y="1143000"/>
            <a:ext cx="3611880" cy="292608"/>
          </a:xfrm>
          <a:prstGeom prst="rect">
            <a:avLst/>
          </a:prstGeom>
          <a:solidFill>
            <a:schemeClr val="dk2"/>
          </a:solidFill>
          <a:ln>
            <a:noFill/>
          </a:ln>
        </p:spPr>
        <p:txBody>
          <a:bodyPr spcFirstLastPara="1" wrap="square" lIns="36576" tIns="0" rIns="36576" bIns="0" anchor="ctr" anchorCtr="0">
            <a:noAutofit/>
          </a:bodyPr>
          <a:lstStyle/>
          <a:p>
            <a:pPr marL="0" indent="0" algn="ctr">
              <a:spcBef>
                <a:spcPts val="0"/>
              </a:spcBef>
              <a:spcAft>
                <a:spcPts val="0"/>
              </a:spcAft>
              <a:buNone/>
            </a:pPr>
            <a:r>
              <a:rPr lang="es-CL" sz="1200" b="1" i="0" dirty="0">
                <a:solidFill>
                  <a:schemeClr val="lt1"/>
                </a:solidFill>
                <a:latin typeface="Calibri"/>
                <a:ea typeface="Calibri"/>
                <a:cs typeface="Calibri"/>
                <a:sym typeface="Calibri"/>
              </a:rPr>
              <a:t>Tutorías</a:t>
            </a:r>
          </a:p>
        </p:txBody>
      </p:sp>
      <p:sp>
        <p:nvSpPr>
          <p:cNvPr id="306" name="Cuerpo Tutorías"/>
          <p:cNvSpPr/>
          <p:nvPr/>
        </p:nvSpPr>
        <p:spPr>
          <a:xfrm>
            <a:off x="3566160" y="1435608"/>
            <a:ext cx="3611880" cy="2587752"/>
          </a:xfrm>
          <a:prstGeom prst="rect">
            <a:avLst/>
          </a:prstGeom>
          <a:solidFill>
            <a:schemeClr val="lt2"/>
          </a:solidFill>
          <a:ln>
            <a:noFill/>
          </a:ln>
        </p:spPr>
        <p:txBody>
          <a:bodyPr spcFirstLastPara="1" wrap="square" lIns="36576" tIns="0" rIns="36576" bIns="0" anchor="ctr" anchorCtr="0">
            <a:noAutofit/>
          </a:bodyPr>
          <a:lstStyle/>
          <a:p>
            <a:endParaRPr lang="es-CL"/>
          </a:p>
        </p:txBody>
      </p:sp>
      <p:sp>
        <p:nvSpPr>
          <p:cNvPr id="307" name="Panel Pagos"/>
          <p:cNvSpPr/>
          <p:nvPr/>
        </p:nvSpPr>
        <p:spPr>
          <a:xfrm>
            <a:off x="7543800" y="1143000"/>
            <a:ext cx="1143000" cy="292608"/>
          </a:xfrm>
          <a:prstGeom prst="rect">
            <a:avLst/>
          </a:prstGeom>
          <a:solidFill>
            <a:schemeClr val="dk2"/>
          </a:solidFill>
          <a:ln>
            <a:noFill/>
          </a:ln>
        </p:spPr>
        <p:txBody>
          <a:bodyPr spcFirstLastPara="1" wrap="square" lIns="36576" tIns="0" rIns="36576" bIns="0" anchor="ctr" anchorCtr="0">
            <a:noAutofit/>
          </a:bodyPr>
          <a:lstStyle/>
          <a:p>
            <a:pPr marL="0" indent="0" algn="ctr">
              <a:spcBef>
                <a:spcPts val="0"/>
              </a:spcBef>
              <a:spcAft>
                <a:spcPts val="0"/>
              </a:spcAft>
              <a:buNone/>
            </a:pPr>
            <a:r>
              <a:rPr lang="es-CL" sz="1200" b="1" i="0" dirty="0">
                <a:solidFill>
                  <a:schemeClr val="lt1"/>
                </a:solidFill>
                <a:latin typeface="Calibri"/>
                <a:ea typeface="Calibri"/>
                <a:cs typeface="Calibri"/>
                <a:sym typeface="Calibri"/>
              </a:rPr>
              <a:t>Pagos</a:t>
            </a:r>
          </a:p>
        </p:txBody>
      </p:sp>
      <p:sp>
        <p:nvSpPr>
          <p:cNvPr id="308" name="Cuerpo Pagos"/>
          <p:cNvSpPr/>
          <p:nvPr/>
        </p:nvSpPr>
        <p:spPr>
          <a:xfrm>
            <a:off x="7543800" y="1435608"/>
            <a:ext cx="1143000" cy="2587752"/>
          </a:xfrm>
          <a:prstGeom prst="rect">
            <a:avLst/>
          </a:prstGeom>
          <a:solidFill>
            <a:schemeClr val="lt2"/>
          </a:solidFill>
          <a:ln>
            <a:noFill/>
          </a:ln>
        </p:spPr>
        <p:txBody>
          <a:bodyPr spcFirstLastPara="1" wrap="square" lIns="36576" tIns="0" rIns="36576" bIns="0" anchor="ctr" anchorCtr="0">
            <a:noAutofit/>
          </a:bodyPr>
          <a:lstStyle/>
          <a:p>
            <a:endParaRPr lang="es-CL"/>
          </a:p>
        </p:txBody>
      </p:sp>
      <p:cxnSp>
        <p:nvCxnSpPr>
          <p:cNvPr id="309" name="Conector 309"/>
          <p:cNvCxnSpPr/>
          <p:nvPr/>
        </p:nvCxnSpPr>
        <p:spPr>
          <a:xfrm>
            <a:off x="2606040" y="2377440"/>
            <a:ext cx="0" cy="237744"/>
          </a:xfrm>
          <a:prstGeom prst="line">
            <a:avLst/>
          </a:prstGeom>
          <a:ln w="15875" cap="flat">
            <a:solidFill>
              <a:schemeClr val="dk2"/>
            </a:solidFill>
            <a:round/>
          </a:ln>
        </p:spPr>
      </p:cxnSp>
      <p:cxnSp>
        <p:nvCxnSpPr>
          <p:cNvPr id="310" name="Conector 310"/>
          <p:cNvCxnSpPr/>
          <p:nvPr/>
        </p:nvCxnSpPr>
        <p:spPr>
          <a:xfrm>
            <a:off x="2546604" y="2427732"/>
            <a:ext cx="118872" cy="0"/>
          </a:xfrm>
          <a:prstGeom prst="line">
            <a:avLst/>
          </a:prstGeom>
          <a:ln w="15875" cap="flat">
            <a:solidFill>
              <a:schemeClr val="dk2"/>
            </a:solidFill>
            <a:round/>
          </a:ln>
        </p:spPr>
      </p:cxnSp>
      <p:cxnSp>
        <p:nvCxnSpPr>
          <p:cNvPr id="311" name="Conector 311"/>
          <p:cNvCxnSpPr/>
          <p:nvPr/>
        </p:nvCxnSpPr>
        <p:spPr>
          <a:xfrm flipV="1">
            <a:off x="2546604" y="2523744"/>
            <a:ext cx="59436" cy="91440"/>
          </a:xfrm>
          <a:prstGeom prst="line">
            <a:avLst/>
          </a:prstGeom>
          <a:ln w="15875" cap="flat">
            <a:solidFill>
              <a:schemeClr val="dk2"/>
            </a:solidFill>
            <a:round/>
          </a:ln>
        </p:spPr>
      </p:cxnSp>
      <p:cxnSp>
        <p:nvCxnSpPr>
          <p:cNvPr id="312" name="Conector 312"/>
          <p:cNvCxnSpPr/>
          <p:nvPr/>
        </p:nvCxnSpPr>
        <p:spPr>
          <a:xfrm>
            <a:off x="2606040" y="2523744"/>
            <a:ext cx="59436" cy="91440"/>
          </a:xfrm>
          <a:prstGeom prst="line">
            <a:avLst/>
          </a:prstGeom>
          <a:ln w="15875" cap="flat">
            <a:solidFill>
              <a:schemeClr val="dk2"/>
            </a:solidFill>
            <a:round/>
          </a:ln>
        </p:spPr>
      </p:cxnSp>
      <p:cxnSp>
        <p:nvCxnSpPr>
          <p:cNvPr id="313" name="Conector 313"/>
          <p:cNvCxnSpPr/>
          <p:nvPr/>
        </p:nvCxnSpPr>
        <p:spPr>
          <a:xfrm>
            <a:off x="2606040" y="2889504"/>
            <a:ext cx="0" cy="237744"/>
          </a:xfrm>
          <a:prstGeom prst="line">
            <a:avLst/>
          </a:prstGeom>
          <a:ln w="15875" cap="flat">
            <a:solidFill>
              <a:schemeClr val="dk2"/>
            </a:solidFill>
            <a:round/>
          </a:ln>
        </p:spPr>
      </p:cxnSp>
      <p:cxnSp>
        <p:nvCxnSpPr>
          <p:cNvPr id="314" name="Conector 314"/>
          <p:cNvCxnSpPr/>
          <p:nvPr/>
        </p:nvCxnSpPr>
        <p:spPr>
          <a:xfrm>
            <a:off x="2546604" y="2939796"/>
            <a:ext cx="118872" cy="0"/>
          </a:xfrm>
          <a:prstGeom prst="line">
            <a:avLst/>
          </a:prstGeom>
          <a:ln w="15875" cap="flat">
            <a:solidFill>
              <a:schemeClr val="dk2"/>
            </a:solidFill>
            <a:round/>
          </a:ln>
        </p:spPr>
      </p:cxnSp>
      <p:cxnSp>
        <p:nvCxnSpPr>
          <p:cNvPr id="315" name="Conector 315"/>
          <p:cNvCxnSpPr/>
          <p:nvPr/>
        </p:nvCxnSpPr>
        <p:spPr>
          <a:xfrm flipV="1">
            <a:off x="2546604" y="3035808"/>
            <a:ext cx="59436" cy="91440"/>
          </a:xfrm>
          <a:prstGeom prst="line">
            <a:avLst/>
          </a:prstGeom>
          <a:ln w="15875" cap="flat">
            <a:solidFill>
              <a:schemeClr val="dk2"/>
            </a:solidFill>
            <a:round/>
          </a:ln>
        </p:spPr>
      </p:cxnSp>
      <p:cxnSp>
        <p:nvCxnSpPr>
          <p:cNvPr id="316" name="Conector 316"/>
          <p:cNvCxnSpPr/>
          <p:nvPr/>
        </p:nvCxnSpPr>
        <p:spPr>
          <a:xfrm>
            <a:off x="2606040" y="3035808"/>
            <a:ext cx="59436" cy="91440"/>
          </a:xfrm>
          <a:prstGeom prst="line">
            <a:avLst/>
          </a:prstGeom>
          <a:ln w="15875" cap="flat">
            <a:solidFill>
              <a:schemeClr val="dk2"/>
            </a:solidFill>
            <a:round/>
          </a:ln>
        </p:spPr>
      </p:cxnSp>
      <p:cxnSp>
        <p:nvCxnSpPr>
          <p:cNvPr id="317" name="Conector 317"/>
          <p:cNvCxnSpPr/>
          <p:nvPr/>
        </p:nvCxnSpPr>
        <p:spPr>
          <a:xfrm>
            <a:off x="2606040" y="3401568"/>
            <a:ext cx="0" cy="237744"/>
          </a:xfrm>
          <a:prstGeom prst="line">
            <a:avLst/>
          </a:prstGeom>
          <a:ln w="15875" cap="flat">
            <a:solidFill>
              <a:schemeClr val="dk2"/>
            </a:solidFill>
            <a:round/>
          </a:ln>
        </p:spPr>
      </p:cxnSp>
      <p:cxnSp>
        <p:nvCxnSpPr>
          <p:cNvPr id="318" name="Conector 318"/>
          <p:cNvCxnSpPr/>
          <p:nvPr/>
        </p:nvCxnSpPr>
        <p:spPr>
          <a:xfrm>
            <a:off x="2546604" y="3589020"/>
            <a:ext cx="118872" cy="0"/>
          </a:xfrm>
          <a:prstGeom prst="line">
            <a:avLst/>
          </a:prstGeom>
          <a:ln w="15875" cap="flat">
            <a:solidFill>
              <a:schemeClr val="dk2"/>
            </a:solidFill>
            <a:round/>
          </a:ln>
        </p:spPr>
      </p:cxnSp>
      <p:cxnSp>
        <p:nvCxnSpPr>
          <p:cNvPr id="319" name="Conector 319"/>
          <p:cNvCxnSpPr/>
          <p:nvPr/>
        </p:nvCxnSpPr>
        <p:spPr>
          <a:xfrm>
            <a:off x="2546604" y="3401568"/>
            <a:ext cx="59436" cy="91440"/>
          </a:xfrm>
          <a:prstGeom prst="line">
            <a:avLst/>
          </a:prstGeom>
          <a:ln w="15875" cap="flat">
            <a:solidFill>
              <a:schemeClr val="dk2"/>
            </a:solidFill>
            <a:round/>
          </a:ln>
        </p:spPr>
      </p:cxnSp>
      <p:cxnSp>
        <p:nvCxnSpPr>
          <p:cNvPr id="320" name="Conector 320"/>
          <p:cNvCxnSpPr/>
          <p:nvPr/>
        </p:nvCxnSpPr>
        <p:spPr>
          <a:xfrm flipV="1">
            <a:off x="2606040" y="3401568"/>
            <a:ext cx="59436" cy="91440"/>
          </a:xfrm>
          <a:prstGeom prst="line">
            <a:avLst/>
          </a:prstGeom>
          <a:ln w="15875" cap="flat">
            <a:solidFill>
              <a:schemeClr val="dk2"/>
            </a:solidFill>
            <a:round/>
          </a:ln>
        </p:spPr>
      </p:cxnSp>
      <p:cxnSp>
        <p:nvCxnSpPr>
          <p:cNvPr id="321" name="Conector 321"/>
          <p:cNvCxnSpPr/>
          <p:nvPr/>
        </p:nvCxnSpPr>
        <p:spPr>
          <a:xfrm>
            <a:off x="4229100" y="1865376"/>
            <a:ext cx="0" cy="749808"/>
          </a:xfrm>
          <a:prstGeom prst="line">
            <a:avLst/>
          </a:prstGeom>
          <a:ln w="15875" cap="flat">
            <a:solidFill>
              <a:schemeClr val="dk2"/>
            </a:solidFill>
            <a:round/>
          </a:ln>
        </p:spPr>
      </p:cxnSp>
      <p:cxnSp>
        <p:nvCxnSpPr>
          <p:cNvPr id="322" name="Conector 322"/>
          <p:cNvCxnSpPr/>
          <p:nvPr/>
        </p:nvCxnSpPr>
        <p:spPr>
          <a:xfrm>
            <a:off x="4169664" y="1915668"/>
            <a:ext cx="118872" cy="0"/>
          </a:xfrm>
          <a:prstGeom prst="line">
            <a:avLst/>
          </a:prstGeom>
          <a:ln w="15875" cap="flat">
            <a:solidFill>
              <a:schemeClr val="dk2"/>
            </a:solidFill>
            <a:round/>
          </a:ln>
        </p:spPr>
      </p:cxnSp>
      <p:cxnSp>
        <p:nvCxnSpPr>
          <p:cNvPr id="323" name="Conector 323"/>
          <p:cNvCxnSpPr/>
          <p:nvPr/>
        </p:nvCxnSpPr>
        <p:spPr>
          <a:xfrm flipV="1">
            <a:off x="4169664" y="2523744"/>
            <a:ext cx="59436" cy="91440"/>
          </a:xfrm>
          <a:prstGeom prst="line">
            <a:avLst/>
          </a:prstGeom>
          <a:ln w="15875" cap="flat">
            <a:solidFill>
              <a:schemeClr val="dk2"/>
            </a:solidFill>
            <a:round/>
          </a:ln>
        </p:spPr>
      </p:cxnSp>
      <p:cxnSp>
        <p:nvCxnSpPr>
          <p:cNvPr id="324" name="Conector 324"/>
          <p:cNvCxnSpPr/>
          <p:nvPr/>
        </p:nvCxnSpPr>
        <p:spPr>
          <a:xfrm>
            <a:off x="4229100" y="2523744"/>
            <a:ext cx="59436" cy="91440"/>
          </a:xfrm>
          <a:prstGeom prst="line">
            <a:avLst/>
          </a:prstGeom>
          <a:ln w="15875" cap="flat">
            <a:solidFill>
              <a:schemeClr val="dk2"/>
            </a:solidFill>
            <a:round/>
          </a:ln>
        </p:spPr>
      </p:cxnSp>
      <p:cxnSp>
        <p:nvCxnSpPr>
          <p:cNvPr id="325" name="Conector 325"/>
          <p:cNvCxnSpPr/>
          <p:nvPr/>
        </p:nvCxnSpPr>
        <p:spPr>
          <a:xfrm>
            <a:off x="4229100" y="2889504"/>
            <a:ext cx="0" cy="749808"/>
          </a:xfrm>
          <a:prstGeom prst="line">
            <a:avLst/>
          </a:prstGeom>
          <a:ln w="15875" cap="flat">
            <a:solidFill>
              <a:schemeClr val="dk2"/>
            </a:solidFill>
            <a:round/>
          </a:ln>
        </p:spPr>
      </p:cxnSp>
      <p:cxnSp>
        <p:nvCxnSpPr>
          <p:cNvPr id="326" name="Conector 326"/>
          <p:cNvCxnSpPr/>
          <p:nvPr/>
        </p:nvCxnSpPr>
        <p:spPr>
          <a:xfrm>
            <a:off x="4169664" y="3589020"/>
            <a:ext cx="118872" cy="0"/>
          </a:xfrm>
          <a:prstGeom prst="line">
            <a:avLst/>
          </a:prstGeom>
          <a:ln w="15875" cap="flat">
            <a:solidFill>
              <a:schemeClr val="dk2"/>
            </a:solidFill>
            <a:round/>
          </a:ln>
        </p:spPr>
      </p:cxnSp>
      <p:cxnSp>
        <p:nvCxnSpPr>
          <p:cNvPr id="327" name="Conector 327"/>
          <p:cNvCxnSpPr/>
          <p:nvPr/>
        </p:nvCxnSpPr>
        <p:spPr>
          <a:xfrm>
            <a:off x="4169664" y="2889504"/>
            <a:ext cx="59436" cy="91440"/>
          </a:xfrm>
          <a:prstGeom prst="line">
            <a:avLst/>
          </a:prstGeom>
          <a:ln w="15875" cap="flat">
            <a:solidFill>
              <a:schemeClr val="dk2"/>
            </a:solidFill>
            <a:round/>
          </a:ln>
        </p:spPr>
      </p:cxnSp>
      <p:cxnSp>
        <p:nvCxnSpPr>
          <p:cNvPr id="328" name="Conector 328"/>
          <p:cNvCxnSpPr/>
          <p:nvPr/>
        </p:nvCxnSpPr>
        <p:spPr>
          <a:xfrm flipV="1">
            <a:off x="4229100" y="2889504"/>
            <a:ext cx="59436" cy="91440"/>
          </a:xfrm>
          <a:prstGeom prst="line">
            <a:avLst/>
          </a:prstGeom>
          <a:ln w="15875" cap="flat">
            <a:solidFill>
              <a:schemeClr val="dk2"/>
            </a:solidFill>
            <a:round/>
          </a:ln>
        </p:spPr>
      </p:cxnSp>
      <p:cxnSp>
        <p:nvCxnSpPr>
          <p:cNvPr id="329" name="Conector 329"/>
          <p:cNvCxnSpPr/>
          <p:nvPr/>
        </p:nvCxnSpPr>
        <p:spPr>
          <a:xfrm>
            <a:off x="6217920" y="1865376"/>
            <a:ext cx="0" cy="749808"/>
          </a:xfrm>
          <a:prstGeom prst="line">
            <a:avLst/>
          </a:prstGeom>
          <a:ln w="15875" cap="flat">
            <a:solidFill>
              <a:schemeClr val="dk2"/>
            </a:solidFill>
            <a:round/>
          </a:ln>
        </p:spPr>
      </p:cxnSp>
      <p:cxnSp>
        <p:nvCxnSpPr>
          <p:cNvPr id="330" name="Conector 330"/>
          <p:cNvCxnSpPr/>
          <p:nvPr/>
        </p:nvCxnSpPr>
        <p:spPr>
          <a:xfrm>
            <a:off x="6158484" y="1915668"/>
            <a:ext cx="118872" cy="0"/>
          </a:xfrm>
          <a:prstGeom prst="line">
            <a:avLst/>
          </a:prstGeom>
          <a:ln w="15875" cap="flat">
            <a:solidFill>
              <a:schemeClr val="dk2"/>
            </a:solidFill>
            <a:round/>
          </a:ln>
        </p:spPr>
      </p:cxnSp>
      <p:cxnSp>
        <p:nvCxnSpPr>
          <p:cNvPr id="331" name="Conector 331"/>
          <p:cNvCxnSpPr/>
          <p:nvPr/>
        </p:nvCxnSpPr>
        <p:spPr>
          <a:xfrm flipV="1">
            <a:off x="6158484" y="2523744"/>
            <a:ext cx="59436" cy="91440"/>
          </a:xfrm>
          <a:prstGeom prst="line">
            <a:avLst/>
          </a:prstGeom>
          <a:ln w="15875" cap="flat">
            <a:solidFill>
              <a:schemeClr val="dk2"/>
            </a:solidFill>
            <a:round/>
          </a:ln>
        </p:spPr>
      </p:cxnSp>
      <p:cxnSp>
        <p:nvCxnSpPr>
          <p:cNvPr id="332" name="Conector 332"/>
          <p:cNvCxnSpPr/>
          <p:nvPr/>
        </p:nvCxnSpPr>
        <p:spPr>
          <a:xfrm>
            <a:off x="6217920" y="2523744"/>
            <a:ext cx="59436" cy="91440"/>
          </a:xfrm>
          <a:prstGeom prst="line">
            <a:avLst/>
          </a:prstGeom>
          <a:ln w="15875" cap="flat">
            <a:solidFill>
              <a:schemeClr val="dk2"/>
            </a:solidFill>
            <a:round/>
          </a:ln>
        </p:spPr>
      </p:cxnSp>
      <p:cxnSp>
        <p:nvCxnSpPr>
          <p:cNvPr id="333" name="Conector 333"/>
          <p:cNvCxnSpPr/>
          <p:nvPr/>
        </p:nvCxnSpPr>
        <p:spPr>
          <a:xfrm>
            <a:off x="6217920" y="2889504"/>
            <a:ext cx="0" cy="749808"/>
          </a:xfrm>
          <a:prstGeom prst="line">
            <a:avLst/>
          </a:prstGeom>
          <a:ln w="15875" cap="flat">
            <a:solidFill>
              <a:schemeClr val="dk2"/>
            </a:solidFill>
            <a:round/>
          </a:ln>
        </p:spPr>
      </p:cxnSp>
      <p:cxnSp>
        <p:nvCxnSpPr>
          <p:cNvPr id="334" name="Conector 334"/>
          <p:cNvCxnSpPr/>
          <p:nvPr/>
        </p:nvCxnSpPr>
        <p:spPr>
          <a:xfrm>
            <a:off x="6158484" y="2939796"/>
            <a:ext cx="118872" cy="0"/>
          </a:xfrm>
          <a:prstGeom prst="line">
            <a:avLst/>
          </a:prstGeom>
          <a:ln w="15875" cap="flat">
            <a:solidFill>
              <a:schemeClr val="dk2"/>
            </a:solidFill>
            <a:round/>
          </a:ln>
        </p:spPr>
      </p:cxnSp>
      <p:cxnSp>
        <p:nvCxnSpPr>
          <p:cNvPr id="335" name="Conector 335"/>
          <p:cNvCxnSpPr/>
          <p:nvPr/>
        </p:nvCxnSpPr>
        <p:spPr>
          <a:xfrm>
            <a:off x="6158484" y="3589020"/>
            <a:ext cx="118872" cy="0"/>
          </a:xfrm>
          <a:prstGeom prst="line">
            <a:avLst/>
          </a:prstGeom>
          <a:ln w="15875" cap="flat">
            <a:solidFill>
              <a:schemeClr val="dk2"/>
            </a:solidFill>
            <a:round/>
          </a:ln>
        </p:spPr>
      </p:cxnSp>
      <p:cxnSp>
        <p:nvCxnSpPr>
          <p:cNvPr id="336" name="Conector 336"/>
          <p:cNvCxnSpPr/>
          <p:nvPr/>
        </p:nvCxnSpPr>
        <p:spPr>
          <a:xfrm>
            <a:off x="8138160" y="2889504"/>
            <a:ext cx="0" cy="237744"/>
          </a:xfrm>
          <a:prstGeom prst="line">
            <a:avLst/>
          </a:prstGeom>
          <a:ln w="15875" cap="flat">
            <a:solidFill>
              <a:schemeClr val="dk2"/>
            </a:solidFill>
            <a:round/>
          </a:ln>
        </p:spPr>
      </p:cxnSp>
      <p:cxnSp>
        <p:nvCxnSpPr>
          <p:cNvPr id="337" name="Conector 337"/>
          <p:cNvCxnSpPr/>
          <p:nvPr/>
        </p:nvCxnSpPr>
        <p:spPr>
          <a:xfrm>
            <a:off x="8078724" y="2939796"/>
            <a:ext cx="118872" cy="0"/>
          </a:xfrm>
          <a:prstGeom prst="line">
            <a:avLst/>
          </a:prstGeom>
          <a:ln w="15875" cap="flat">
            <a:solidFill>
              <a:schemeClr val="dk2"/>
            </a:solidFill>
            <a:round/>
          </a:ln>
        </p:spPr>
      </p:cxnSp>
      <p:cxnSp>
        <p:nvCxnSpPr>
          <p:cNvPr id="338" name="Conector 338"/>
          <p:cNvCxnSpPr/>
          <p:nvPr/>
        </p:nvCxnSpPr>
        <p:spPr>
          <a:xfrm flipV="1">
            <a:off x="8078724" y="3035808"/>
            <a:ext cx="59436" cy="91440"/>
          </a:xfrm>
          <a:prstGeom prst="line">
            <a:avLst/>
          </a:prstGeom>
          <a:ln w="15875" cap="flat">
            <a:solidFill>
              <a:schemeClr val="dk2"/>
            </a:solidFill>
            <a:round/>
          </a:ln>
        </p:spPr>
      </p:cxnSp>
      <p:cxnSp>
        <p:nvCxnSpPr>
          <p:cNvPr id="339" name="Conector 339"/>
          <p:cNvCxnSpPr/>
          <p:nvPr/>
        </p:nvCxnSpPr>
        <p:spPr>
          <a:xfrm>
            <a:off x="8138160" y="3035808"/>
            <a:ext cx="59436" cy="91440"/>
          </a:xfrm>
          <a:prstGeom prst="line">
            <a:avLst/>
          </a:prstGeom>
          <a:ln w="15875" cap="flat">
            <a:solidFill>
              <a:schemeClr val="dk2"/>
            </a:solidFill>
            <a:round/>
          </a:ln>
        </p:spPr>
      </p:cxnSp>
      <p:cxnSp>
        <p:nvCxnSpPr>
          <p:cNvPr id="340" name="Conector 340"/>
          <p:cNvCxnSpPr/>
          <p:nvPr/>
        </p:nvCxnSpPr>
        <p:spPr>
          <a:xfrm>
            <a:off x="4754880" y="1700784"/>
            <a:ext cx="731520" cy="0"/>
          </a:xfrm>
          <a:prstGeom prst="line">
            <a:avLst/>
          </a:prstGeom>
          <a:ln w="15875" cap="flat">
            <a:solidFill>
              <a:schemeClr val="dk2"/>
            </a:solidFill>
            <a:round/>
          </a:ln>
        </p:spPr>
      </p:cxnSp>
      <p:cxnSp>
        <p:nvCxnSpPr>
          <p:cNvPr id="341" name="Conector 341"/>
          <p:cNvCxnSpPr/>
          <p:nvPr/>
        </p:nvCxnSpPr>
        <p:spPr>
          <a:xfrm>
            <a:off x="4805172" y="1641348"/>
            <a:ext cx="0" cy="118872"/>
          </a:xfrm>
          <a:prstGeom prst="line">
            <a:avLst/>
          </a:prstGeom>
          <a:ln w="15875" cap="flat">
            <a:solidFill>
              <a:schemeClr val="dk2"/>
            </a:solidFill>
            <a:round/>
          </a:ln>
        </p:spPr>
      </p:cxnSp>
      <p:cxnSp>
        <p:nvCxnSpPr>
          <p:cNvPr id="342" name="Conector 342"/>
          <p:cNvCxnSpPr/>
          <p:nvPr/>
        </p:nvCxnSpPr>
        <p:spPr>
          <a:xfrm flipV="1">
            <a:off x="5394960" y="1641348"/>
            <a:ext cx="91440" cy="59436"/>
          </a:xfrm>
          <a:prstGeom prst="line">
            <a:avLst/>
          </a:prstGeom>
          <a:ln w="15875" cap="flat">
            <a:solidFill>
              <a:schemeClr val="dk2"/>
            </a:solidFill>
            <a:round/>
          </a:ln>
        </p:spPr>
      </p:cxnSp>
      <p:cxnSp>
        <p:nvCxnSpPr>
          <p:cNvPr id="343" name="Conector 343"/>
          <p:cNvCxnSpPr/>
          <p:nvPr/>
        </p:nvCxnSpPr>
        <p:spPr>
          <a:xfrm>
            <a:off x="5394960" y="1700784"/>
            <a:ext cx="91440" cy="59436"/>
          </a:xfrm>
          <a:prstGeom prst="line">
            <a:avLst/>
          </a:prstGeom>
          <a:ln w="15875" cap="flat">
            <a:solidFill>
              <a:schemeClr val="dk2"/>
            </a:solidFill>
            <a:round/>
          </a:ln>
        </p:spPr>
      </p:cxnSp>
      <p:cxnSp>
        <p:nvCxnSpPr>
          <p:cNvPr id="344" name="Conector 344"/>
          <p:cNvCxnSpPr/>
          <p:nvPr/>
        </p:nvCxnSpPr>
        <p:spPr>
          <a:xfrm>
            <a:off x="4617720" y="1865376"/>
            <a:ext cx="0" cy="128016"/>
          </a:xfrm>
          <a:prstGeom prst="line">
            <a:avLst/>
          </a:prstGeom>
          <a:ln w="15875" cap="flat">
            <a:solidFill>
              <a:schemeClr val="dk2"/>
            </a:solidFill>
            <a:round/>
          </a:ln>
        </p:spPr>
      </p:cxnSp>
      <p:cxnSp>
        <p:nvCxnSpPr>
          <p:cNvPr id="345" name="Conector 345"/>
          <p:cNvCxnSpPr/>
          <p:nvPr/>
        </p:nvCxnSpPr>
        <p:spPr>
          <a:xfrm>
            <a:off x="4617720" y="1993392"/>
            <a:ext cx="1051560" cy="475488"/>
          </a:xfrm>
          <a:prstGeom prst="line">
            <a:avLst/>
          </a:prstGeom>
          <a:ln w="15875" cap="flat">
            <a:solidFill>
              <a:schemeClr val="dk2"/>
            </a:solidFill>
            <a:round/>
          </a:ln>
        </p:spPr>
      </p:cxnSp>
      <p:cxnSp>
        <p:nvCxnSpPr>
          <p:cNvPr id="346" name="Conector 346"/>
          <p:cNvCxnSpPr/>
          <p:nvPr/>
        </p:nvCxnSpPr>
        <p:spPr>
          <a:xfrm>
            <a:off x="5669280" y="2468880"/>
            <a:ext cx="0" cy="146304"/>
          </a:xfrm>
          <a:prstGeom prst="line">
            <a:avLst/>
          </a:prstGeom>
          <a:ln w="15875" cap="flat">
            <a:solidFill>
              <a:schemeClr val="dk2"/>
            </a:solidFill>
            <a:round/>
          </a:ln>
        </p:spPr>
      </p:cxnSp>
      <p:cxnSp>
        <p:nvCxnSpPr>
          <p:cNvPr id="347" name="Conector 347"/>
          <p:cNvCxnSpPr/>
          <p:nvPr/>
        </p:nvCxnSpPr>
        <p:spPr>
          <a:xfrm>
            <a:off x="4558284" y="1915668"/>
            <a:ext cx="118872" cy="0"/>
          </a:xfrm>
          <a:prstGeom prst="line">
            <a:avLst/>
          </a:prstGeom>
          <a:ln w="15875" cap="flat">
            <a:solidFill>
              <a:schemeClr val="dk2"/>
            </a:solidFill>
            <a:round/>
          </a:ln>
        </p:spPr>
      </p:cxnSp>
      <p:cxnSp>
        <p:nvCxnSpPr>
          <p:cNvPr id="348" name="Conector 348"/>
          <p:cNvCxnSpPr/>
          <p:nvPr/>
        </p:nvCxnSpPr>
        <p:spPr>
          <a:xfrm flipV="1">
            <a:off x="5609844" y="2523744"/>
            <a:ext cx="59436" cy="91440"/>
          </a:xfrm>
          <a:prstGeom prst="line">
            <a:avLst/>
          </a:prstGeom>
          <a:ln w="15875" cap="flat">
            <a:solidFill>
              <a:schemeClr val="dk2"/>
            </a:solidFill>
            <a:round/>
          </a:ln>
        </p:spPr>
      </p:cxnSp>
      <p:cxnSp>
        <p:nvCxnSpPr>
          <p:cNvPr id="349" name="Conector 349"/>
          <p:cNvCxnSpPr/>
          <p:nvPr/>
        </p:nvCxnSpPr>
        <p:spPr>
          <a:xfrm>
            <a:off x="5669280" y="2523744"/>
            <a:ext cx="59436" cy="91440"/>
          </a:xfrm>
          <a:prstGeom prst="line">
            <a:avLst/>
          </a:prstGeom>
          <a:ln w="15875" cap="flat">
            <a:solidFill>
              <a:schemeClr val="dk2"/>
            </a:solidFill>
            <a:round/>
          </a:ln>
        </p:spPr>
      </p:cxnSp>
      <p:cxnSp>
        <p:nvCxnSpPr>
          <p:cNvPr id="350" name="Conector 350"/>
          <p:cNvCxnSpPr/>
          <p:nvPr/>
        </p:nvCxnSpPr>
        <p:spPr>
          <a:xfrm>
            <a:off x="4617720" y="3511296"/>
            <a:ext cx="0" cy="128016"/>
          </a:xfrm>
          <a:prstGeom prst="line">
            <a:avLst/>
          </a:prstGeom>
          <a:ln w="15875" cap="flat">
            <a:solidFill>
              <a:schemeClr val="dk2"/>
            </a:solidFill>
            <a:round/>
          </a:ln>
        </p:spPr>
      </p:cxnSp>
      <p:cxnSp>
        <p:nvCxnSpPr>
          <p:cNvPr id="351" name="Conector 351"/>
          <p:cNvCxnSpPr/>
          <p:nvPr/>
        </p:nvCxnSpPr>
        <p:spPr>
          <a:xfrm flipV="1">
            <a:off x="4617720" y="3035808"/>
            <a:ext cx="1051560" cy="475488"/>
          </a:xfrm>
          <a:prstGeom prst="line">
            <a:avLst/>
          </a:prstGeom>
          <a:ln w="15875" cap="flat">
            <a:solidFill>
              <a:schemeClr val="dk2"/>
            </a:solidFill>
            <a:round/>
          </a:ln>
        </p:spPr>
      </p:cxnSp>
      <p:cxnSp>
        <p:nvCxnSpPr>
          <p:cNvPr id="352" name="Conector 352"/>
          <p:cNvCxnSpPr/>
          <p:nvPr/>
        </p:nvCxnSpPr>
        <p:spPr>
          <a:xfrm>
            <a:off x="5669280" y="2889504"/>
            <a:ext cx="0" cy="146304"/>
          </a:xfrm>
          <a:prstGeom prst="line">
            <a:avLst/>
          </a:prstGeom>
          <a:ln w="15875" cap="flat">
            <a:solidFill>
              <a:schemeClr val="dk2"/>
            </a:solidFill>
            <a:round/>
          </a:ln>
        </p:spPr>
      </p:cxnSp>
      <p:cxnSp>
        <p:nvCxnSpPr>
          <p:cNvPr id="353" name="Conector 353"/>
          <p:cNvCxnSpPr/>
          <p:nvPr/>
        </p:nvCxnSpPr>
        <p:spPr>
          <a:xfrm>
            <a:off x="4558284" y="3589020"/>
            <a:ext cx="118872" cy="0"/>
          </a:xfrm>
          <a:prstGeom prst="line">
            <a:avLst/>
          </a:prstGeom>
          <a:ln w="15875" cap="flat">
            <a:solidFill>
              <a:schemeClr val="dk2"/>
            </a:solidFill>
            <a:round/>
          </a:ln>
        </p:spPr>
      </p:cxnSp>
      <p:cxnSp>
        <p:nvCxnSpPr>
          <p:cNvPr id="354" name="Conector 354"/>
          <p:cNvCxnSpPr/>
          <p:nvPr/>
        </p:nvCxnSpPr>
        <p:spPr>
          <a:xfrm>
            <a:off x="5609844" y="2889504"/>
            <a:ext cx="59436" cy="91440"/>
          </a:xfrm>
          <a:prstGeom prst="line">
            <a:avLst/>
          </a:prstGeom>
          <a:ln w="15875" cap="flat">
            <a:solidFill>
              <a:schemeClr val="dk2"/>
            </a:solidFill>
            <a:round/>
          </a:ln>
        </p:spPr>
      </p:cxnSp>
      <p:cxnSp>
        <p:nvCxnSpPr>
          <p:cNvPr id="355" name="Conector 355"/>
          <p:cNvCxnSpPr/>
          <p:nvPr/>
        </p:nvCxnSpPr>
        <p:spPr>
          <a:xfrm flipV="1">
            <a:off x="5669280" y="2889504"/>
            <a:ext cx="59436" cy="91440"/>
          </a:xfrm>
          <a:prstGeom prst="line">
            <a:avLst/>
          </a:prstGeom>
          <a:ln w="15875" cap="flat">
            <a:solidFill>
              <a:schemeClr val="dk2"/>
            </a:solidFill>
            <a:round/>
          </a:ln>
        </p:spPr>
      </p:cxnSp>
      <p:cxnSp>
        <p:nvCxnSpPr>
          <p:cNvPr id="356" name="Conector 356"/>
          <p:cNvCxnSpPr/>
          <p:nvPr/>
        </p:nvCxnSpPr>
        <p:spPr>
          <a:xfrm>
            <a:off x="1508760" y="1728216"/>
            <a:ext cx="2194560" cy="0"/>
          </a:xfrm>
          <a:prstGeom prst="line">
            <a:avLst/>
          </a:prstGeom>
          <a:ln w="15875" cap="flat">
            <a:solidFill>
              <a:schemeClr val="accent4"/>
            </a:solidFill>
            <a:prstDash val="dash"/>
            <a:round/>
          </a:ln>
        </p:spPr>
      </p:cxnSp>
      <p:cxnSp>
        <p:nvCxnSpPr>
          <p:cNvPr id="357" name="Conector 357"/>
          <p:cNvCxnSpPr/>
          <p:nvPr/>
        </p:nvCxnSpPr>
        <p:spPr>
          <a:xfrm>
            <a:off x="868680" y="1865376"/>
            <a:ext cx="0" cy="374904"/>
          </a:xfrm>
          <a:prstGeom prst="line">
            <a:avLst/>
          </a:prstGeom>
          <a:ln w="15875" cap="flat">
            <a:solidFill>
              <a:schemeClr val="accent4"/>
            </a:solidFill>
            <a:prstDash val="dash"/>
            <a:round/>
          </a:ln>
        </p:spPr>
      </p:cxnSp>
      <p:cxnSp>
        <p:nvCxnSpPr>
          <p:cNvPr id="358" name="Conector 358"/>
          <p:cNvCxnSpPr/>
          <p:nvPr/>
        </p:nvCxnSpPr>
        <p:spPr>
          <a:xfrm>
            <a:off x="868680" y="2240280"/>
            <a:ext cx="1143000" cy="0"/>
          </a:xfrm>
          <a:prstGeom prst="line">
            <a:avLst/>
          </a:prstGeom>
          <a:ln w="15875" cap="flat">
            <a:solidFill>
              <a:schemeClr val="accent4"/>
            </a:solidFill>
            <a:prstDash val="dash"/>
            <a:round/>
          </a:ln>
        </p:spPr>
      </p:cxnSp>
      <p:cxnSp>
        <p:nvCxnSpPr>
          <p:cNvPr id="359" name="Conector 359"/>
          <p:cNvCxnSpPr/>
          <p:nvPr/>
        </p:nvCxnSpPr>
        <p:spPr>
          <a:xfrm>
            <a:off x="3200400" y="3776472"/>
            <a:ext cx="502920" cy="0"/>
          </a:xfrm>
          <a:prstGeom prst="line">
            <a:avLst/>
          </a:prstGeom>
          <a:ln w="15875" cap="flat">
            <a:solidFill>
              <a:schemeClr val="accent4"/>
            </a:solidFill>
            <a:prstDash val="dash"/>
            <a:round/>
          </a:ln>
        </p:spPr>
      </p:cxnSp>
      <p:cxnSp>
        <p:nvCxnSpPr>
          <p:cNvPr id="360" name="Conector 360"/>
          <p:cNvCxnSpPr/>
          <p:nvPr/>
        </p:nvCxnSpPr>
        <p:spPr>
          <a:xfrm>
            <a:off x="6949440" y="2752344"/>
            <a:ext cx="731520" cy="0"/>
          </a:xfrm>
          <a:prstGeom prst="line">
            <a:avLst/>
          </a:prstGeom>
          <a:ln w="15875" cap="flat">
            <a:solidFill>
              <a:schemeClr val="accent4"/>
            </a:solidFill>
            <a:prstDash val="dash"/>
            <a:round/>
          </a:ln>
        </p:spPr>
      </p:cxnSp>
      <p:sp>
        <p:nvSpPr>
          <p:cNvPr id="361" name="Tabla usuario"/>
          <p:cNvSpPr/>
          <p:nvPr/>
        </p:nvSpPr>
        <p:spPr>
          <a:xfrm>
            <a:off x="594360" y="1591056"/>
            <a:ext cx="91440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usuario</a:t>
            </a:r>
          </a:p>
        </p:txBody>
      </p:sp>
      <p:sp>
        <p:nvSpPr>
          <p:cNvPr id="362" name="Tabla carrera"/>
          <p:cNvSpPr/>
          <p:nvPr/>
        </p:nvSpPr>
        <p:spPr>
          <a:xfrm>
            <a:off x="2011680" y="2103120"/>
            <a:ext cx="118872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carrera</a:t>
            </a:r>
          </a:p>
        </p:txBody>
      </p:sp>
      <p:sp>
        <p:nvSpPr>
          <p:cNvPr id="363" name="Tabla malla"/>
          <p:cNvSpPr/>
          <p:nvPr/>
        </p:nvSpPr>
        <p:spPr>
          <a:xfrm>
            <a:off x="2011680" y="2615184"/>
            <a:ext cx="118872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malla</a:t>
            </a:r>
          </a:p>
        </p:txBody>
      </p:sp>
      <p:sp>
        <p:nvSpPr>
          <p:cNvPr id="364" name="Tabla malla_asignatura"/>
          <p:cNvSpPr/>
          <p:nvPr/>
        </p:nvSpPr>
        <p:spPr>
          <a:xfrm>
            <a:off x="2011680" y="3127248"/>
            <a:ext cx="118872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malla_asignatura</a:t>
            </a:r>
          </a:p>
        </p:txBody>
      </p:sp>
      <p:sp>
        <p:nvSpPr>
          <p:cNvPr id="365" name="Tabla asignatura"/>
          <p:cNvSpPr/>
          <p:nvPr/>
        </p:nvSpPr>
        <p:spPr>
          <a:xfrm>
            <a:off x="2011680" y="3639312"/>
            <a:ext cx="118872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asignatura</a:t>
            </a:r>
          </a:p>
        </p:txBody>
      </p:sp>
      <p:sp>
        <p:nvSpPr>
          <p:cNvPr id="366" name="Tabla usuario_ref"/>
          <p:cNvSpPr/>
          <p:nvPr/>
        </p:nvSpPr>
        <p:spPr>
          <a:xfrm>
            <a:off x="3703320" y="1591056"/>
            <a:ext cx="105156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usuario_ref</a:t>
            </a:r>
          </a:p>
        </p:txBody>
      </p:sp>
      <p:sp>
        <p:nvSpPr>
          <p:cNvPr id="367" name="Tabla perfil_tutor"/>
          <p:cNvSpPr/>
          <p:nvPr/>
        </p:nvSpPr>
        <p:spPr>
          <a:xfrm>
            <a:off x="3703320" y="2615184"/>
            <a:ext cx="105156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perfil_tutor</a:t>
            </a:r>
          </a:p>
        </p:txBody>
      </p:sp>
      <p:sp>
        <p:nvSpPr>
          <p:cNvPr id="368" name="Tabla asignatura_ref"/>
          <p:cNvSpPr/>
          <p:nvPr/>
        </p:nvSpPr>
        <p:spPr>
          <a:xfrm>
            <a:off x="3703320" y="3639312"/>
            <a:ext cx="105156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asignatura_ref</a:t>
            </a:r>
          </a:p>
        </p:txBody>
      </p:sp>
      <p:sp>
        <p:nvSpPr>
          <p:cNvPr id="369" name="Tabla bloque_disponibilidad"/>
          <p:cNvSpPr/>
          <p:nvPr/>
        </p:nvSpPr>
        <p:spPr>
          <a:xfrm>
            <a:off x="5486400" y="1591056"/>
            <a:ext cx="146304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bloque_disponibilidad</a:t>
            </a:r>
          </a:p>
        </p:txBody>
      </p:sp>
      <p:sp>
        <p:nvSpPr>
          <p:cNvPr id="370" name="Tabla reserva"/>
          <p:cNvSpPr/>
          <p:nvPr/>
        </p:nvSpPr>
        <p:spPr>
          <a:xfrm>
            <a:off x="5486400" y="2615184"/>
            <a:ext cx="146304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reserva</a:t>
            </a:r>
          </a:p>
        </p:txBody>
      </p:sp>
      <p:sp>
        <p:nvSpPr>
          <p:cNvPr id="371" name="Tabla evaluacion"/>
          <p:cNvSpPr/>
          <p:nvPr/>
        </p:nvSpPr>
        <p:spPr>
          <a:xfrm>
            <a:off x="5486400" y="3639312"/>
            <a:ext cx="146304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evaluacion</a:t>
            </a:r>
          </a:p>
        </p:txBody>
      </p:sp>
      <p:sp>
        <p:nvSpPr>
          <p:cNvPr id="372" name="Tabla pago"/>
          <p:cNvSpPr/>
          <p:nvPr/>
        </p:nvSpPr>
        <p:spPr>
          <a:xfrm>
            <a:off x="7680960" y="2615184"/>
            <a:ext cx="91440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pago</a:t>
            </a:r>
          </a:p>
        </p:txBody>
      </p:sp>
      <p:sp>
        <p:nvSpPr>
          <p:cNvPr id="373" name="Tabla intento_pago"/>
          <p:cNvSpPr/>
          <p:nvPr/>
        </p:nvSpPr>
        <p:spPr>
          <a:xfrm>
            <a:off x="7680960" y="3127248"/>
            <a:ext cx="914400" cy="274320"/>
          </a:xfrm>
          <a:prstGeom prst="rect">
            <a:avLst/>
          </a:prstGeom>
          <a:solidFill>
            <a:schemeClr val="lt1"/>
          </a:solidFill>
          <a:ln w="12700">
            <a:solidFill>
              <a:schemeClr val="dk2"/>
            </a:solidFill>
          </a:ln>
        </p:spPr>
        <p:txBody>
          <a:bodyPr spcFirstLastPara="1" wrap="square" lIns="36576" tIns="0" rIns="36576" bIns="0" anchor="ctr" anchorCtr="0">
            <a:noAutofit/>
          </a:bodyPr>
          <a:lstStyle/>
          <a:p>
            <a:pPr marL="0" indent="0" algn="ctr">
              <a:spcBef>
                <a:spcPts val="0"/>
              </a:spcBef>
              <a:spcAft>
                <a:spcPts val="0"/>
              </a:spcAft>
              <a:buNone/>
            </a:pPr>
            <a:r>
              <a:rPr lang="es-CL" sz="1100" b="1" i="0" dirty="0">
                <a:solidFill>
                  <a:schemeClr val="dk2"/>
                </a:solidFill>
                <a:latin typeface="Calibri"/>
                <a:ea typeface="Calibri"/>
                <a:cs typeface="Calibri"/>
                <a:sym typeface="Calibri"/>
              </a:rPr>
              <a:t>intento_pago</a:t>
            </a:r>
          </a:p>
        </p:txBody>
      </p:sp>
      <p:sp>
        <p:nvSpPr>
          <p:cNvPr id="374" name="Forma 374"/>
          <p:cNvSpPr txBox="1"/>
          <p:nvPr/>
        </p:nvSpPr>
        <p:spPr>
          <a:xfrm>
            <a:off x="2205470" y="1536192"/>
            <a:ext cx="892580" cy="164592"/>
          </a:xfrm>
          <a:prstGeom prst="rect">
            <a:avLst/>
          </a:prstGeom>
          <a:noFill/>
          <a:ln>
            <a:noFill/>
          </a:ln>
        </p:spPr>
        <p:txBody>
          <a:bodyPr spcFirstLastPara="1" wrap="square" lIns="27432" tIns="0" rIns="27432" bIns="0" anchor="b" anchorCtr="0">
            <a:noAutofit/>
          </a:bodyPr>
          <a:lstStyle/>
          <a:p>
            <a:pPr marL="0" indent="0" algn="ctr">
              <a:spcBef>
                <a:spcPts val="0"/>
              </a:spcBef>
              <a:spcAft>
                <a:spcPts val="0"/>
              </a:spcAft>
              <a:buNone/>
            </a:pPr>
            <a:r>
              <a:rPr lang="es-CL" sz="1000" b="0" i="1" dirty="0">
                <a:solidFill>
                  <a:schemeClr val="dk2"/>
                </a:solidFill>
                <a:latin typeface="Calibri"/>
                <a:ea typeface="Calibri"/>
                <a:cs typeface="Calibri"/>
                <a:sym typeface="Calibri"/>
              </a:rPr>
              <a:t>copia de lectura</a:t>
            </a:r>
          </a:p>
        </p:txBody>
      </p:sp>
      <p:sp>
        <p:nvSpPr>
          <p:cNvPr id="375" name="Forma 375"/>
          <p:cNvSpPr txBox="1"/>
          <p:nvPr/>
        </p:nvSpPr>
        <p:spPr>
          <a:xfrm>
            <a:off x="905256" y="2048256"/>
            <a:ext cx="604766" cy="164592"/>
          </a:xfrm>
          <a:prstGeom prst="rect">
            <a:avLst/>
          </a:prstGeom>
          <a:noFill/>
          <a:ln>
            <a:noFill/>
          </a:ln>
        </p:spPr>
        <p:txBody>
          <a:bodyPr spcFirstLastPara="1" wrap="square" lIns="27432" tIns="0" rIns="27432" bIns="0" anchor="b" anchorCtr="0">
            <a:noAutofit/>
          </a:bodyPr>
          <a:lstStyle/>
          <a:p>
            <a:pPr marL="0" indent="0" algn="l">
              <a:spcBef>
                <a:spcPts val="0"/>
              </a:spcBef>
              <a:spcAft>
                <a:spcPts val="0"/>
              </a:spcAft>
              <a:buNone/>
            </a:pPr>
            <a:r>
              <a:rPr lang="es-CL" sz="1000" b="0" i="1" dirty="0">
                <a:solidFill>
                  <a:schemeClr val="dk2"/>
                </a:solidFill>
                <a:latin typeface="Calibri"/>
                <a:ea typeface="Calibri"/>
                <a:cs typeface="Calibri"/>
                <a:sym typeface="Calibri"/>
              </a:rPr>
              <a:t>carrera_id</a:t>
            </a:r>
          </a:p>
        </p:txBody>
      </p:sp>
      <p:sp>
        <p:nvSpPr>
          <p:cNvPr id="376" name="Forma 376"/>
          <p:cNvSpPr txBox="1"/>
          <p:nvPr/>
        </p:nvSpPr>
        <p:spPr>
          <a:xfrm>
            <a:off x="3276923" y="3584448"/>
            <a:ext cx="349873" cy="164592"/>
          </a:xfrm>
          <a:prstGeom prst="rect">
            <a:avLst/>
          </a:prstGeom>
          <a:noFill/>
          <a:ln>
            <a:noFill/>
          </a:ln>
        </p:spPr>
        <p:txBody>
          <a:bodyPr spcFirstLastPara="1" wrap="square" lIns="27432" tIns="0" rIns="27432" bIns="0" anchor="b" anchorCtr="0">
            <a:noAutofit/>
          </a:bodyPr>
          <a:lstStyle/>
          <a:p>
            <a:pPr marL="0" indent="0" algn="ctr">
              <a:spcBef>
                <a:spcPts val="0"/>
              </a:spcBef>
              <a:spcAft>
                <a:spcPts val="0"/>
              </a:spcAft>
              <a:buNone/>
            </a:pPr>
            <a:r>
              <a:rPr lang="es-CL" sz="1000" b="0" i="1" dirty="0">
                <a:solidFill>
                  <a:schemeClr val="dk2"/>
                </a:solidFill>
                <a:latin typeface="Calibri"/>
                <a:ea typeface="Calibri"/>
                <a:cs typeface="Calibri"/>
                <a:sym typeface="Calibri"/>
              </a:rPr>
              <a:t>copia</a:t>
            </a:r>
          </a:p>
        </p:txBody>
      </p:sp>
      <p:sp>
        <p:nvSpPr>
          <p:cNvPr id="377" name="Forma 377"/>
          <p:cNvSpPr txBox="1"/>
          <p:nvPr/>
        </p:nvSpPr>
        <p:spPr>
          <a:xfrm>
            <a:off x="7009324" y="2560320"/>
            <a:ext cx="611751" cy="164592"/>
          </a:xfrm>
          <a:prstGeom prst="rect">
            <a:avLst/>
          </a:prstGeom>
          <a:noFill/>
          <a:ln>
            <a:noFill/>
          </a:ln>
        </p:spPr>
        <p:txBody>
          <a:bodyPr spcFirstLastPara="1" wrap="square" lIns="27432" tIns="0" rIns="27432" bIns="0" anchor="b" anchorCtr="0">
            <a:noAutofit/>
          </a:bodyPr>
          <a:lstStyle/>
          <a:p>
            <a:pPr marL="0" indent="0" algn="ctr">
              <a:spcBef>
                <a:spcPts val="0"/>
              </a:spcBef>
              <a:spcAft>
                <a:spcPts val="0"/>
              </a:spcAft>
              <a:buNone/>
            </a:pPr>
            <a:r>
              <a:rPr lang="es-CL" sz="1000" b="0" i="1" dirty="0">
                <a:solidFill>
                  <a:schemeClr val="dk2"/>
                </a:solidFill>
                <a:latin typeface="Calibri"/>
                <a:ea typeface="Calibri"/>
                <a:cs typeface="Calibri"/>
                <a:sym typeface="Calibri"/>
              </a:rPr>
              <a:t>reserva_id</a:t>
            </a:r>
          </a:p>
        </p:txBody>
      </p:sp>
      <p:sp>
        <p:nvSpPr>
          <p:cNvPr id="378" name="Forma 378"/>
          <p:cNvSpPr txBox="1"/>
          <p:nvPr/>
        </p:nvSpPr>
        <p:spPr>
          <a:xfrm>
            <a:off x="4898287" y="1508760"/>
            <a:ext cx="444706" cy="164592"/>
          </a:xfrm>
          <a:prstGeom prst="rect">
            <a:avLst/>
          </a:prstGeom>
          <a:noFill/>
          <a:ln>
            <a:noFill/>
          </a:ln>
        </p:spPr>
        <p:txBody>
          <a:bodyPr spcFirstLastPara="1" wrap="square" lIns="27432" tIns="0" rIns="27432" bIns="0" anchor="b" anchorCtr="0">
            <a:noAutofit/>
          </a:bodyPr>
          <a:lstStyle/>
          <a:p>
            <a:pPr marL="0" indent="0" algn="ctr">
              <a:spcBef>
                <a:spcPts val="0"/>
              </a:spcBef>
              <a:spcAft>
                <a:spcPts val="0"/>
              </a:spcAft>
              <a:buNone/>
            </a:pPr>
            <a:r>
              <a:rPr lang="es-CL" sz="1000" b="0" i="1" dirty="0">
                <a:solidFill>
                  <a:schemeClr val="dk2"/>
                </a:solidFill>
                <a:latin typeface="Calibri"/>
                <a:ea typeface="Calibri"/>
                <a:cs typeface="Calibri"/>
                <a:sym typeface="Calibri"/>
              </a:rPr>
              <a:t>publica</a:t>
            </a:r>
          </a:p>
        </p:txBody>
      </p:sp>
      <p:sp>
        <p:nvSpPr>
          <p:cNvPr id="379" name="Forma 379"/>
          <p:cNvSpPr txBox="1"/>
          <p:nvPr/>
        </p:nvSpPr>
        <p:spPr>
          <a:xfrm>
            <a:off x="5308620" y="2112264"/>
            <a:ext cx="434169" cy="164592"/>
          </a:xfrm>
          <a:prstGeom prst="rect">
            <a:avLst/>
          </a:prstGeom>
          <a:noFill/>
          <a:ln>
            <a:noFill/>
          </a:ln>
        </p:spPr>
        <p:txBody>
          <a:bodyPr spcFirstLastPara="1" wrap="square" lIns="27432" tIns="0" rIns="27432" bIns="0" anchor="b" anchorCtr="0">
            <a:noAutofit/>
          </a:bodyPr>
          <a:lstStyle/>
          <a:p>
            <a:pPr marL="0" indent="0" algn="l">
              <a:spcBef>
                <a:spcPts val="0"/>
              </a:spcBef>
              <a:spcAft>
                <a:spcPts val="0"/>
              </a:spcAft>
              <a:buNone/>
            </a:pPr>
            <a:r>
              <a:rPr lang="es-CL" sz="1000" b="0" i="1" dirty="0">
                <a:solidFill>
                  <a:schemeClr val="dk2"/>
                </a:solidFill>
                <a:latin typeface="Calibri"/>
                <a:ea typeface="Calibri"/>
                <a:cs typeface="Calibri"/>
                <a:sym typeface="Calibri"/>
              </a:rPr>
              <a:t>solicita</a:t>
            </a:r>
          </a:p>
        </p:txBody>
      </p:sp>
      <p:sp>
        <p:nvSpPr>
          <p:cNvPr id="380" name="Forma 380"/>
          <p:cNvSpPr txBox="1"/>
          <p:nvPr/>
        </p:nvSpPr>
        <p:spPr>
          <a:xfrm>
            <a:off x="6281928" y="3182112"/>
            <a:ext cx="613041" cy="164592"/>
          </a:xfrm>
          <a:prstGeom prst="rect">
            <a:avLst/>
          </a:prstGeom>
          <a:noFill/>
          <a:ln>
            <a:noFill/>
          </a:ln>
        </p:spPr>
        <p:txBody>
          <a:bodyPr spcFirstLastPara="1" wrap="square" lIns="27432" tIns="0" rIns="27432" bIns="0" anchor="b" anchorCtr="0">
            <a:noAutofit/>
          </a:bodyPr>
          <a:lstStyle/>
          <a:p>
            <a:pPr marL="0" indent="0" algn="l">
              <a:spcBef>
                <a:spcPts val="0"/>
              </a:spcBef>
              <a:spcAft>
                <a:spcPts val="0"/>
              </a:spcAft>
              <a:buNone/>
            </a:pPr>
            <a:r>
              <a:rPr lang="es-CL" sz="1000" b="0" i="1" dirty="0">
                <a:solidFill>
                  <a:schemeClr val="dk2"/>
                </a:solidFill>
                <a:latin typeface="Calibri"/>
                <a:ea typeface="Calibri"/>
                <a:cs typeface="Calibri"/>
                <a:sym typeface="Calibri"/>
              </a:rPr>
              <a:t>cero o una</a:t>
            </a:r>
          </a:p>
        </p:txBody>
      </p:sp>
      <p:cxnSp>
        <p:nvCxnSpPr>
          <p:cNvPr id="381" name="Conector 381"/>
          <p:cNvCxnSpPr/>
          <p:nvPr/>
        </p:nvCxnSpPr>
        <p:spPr>
          <a:xfrm>
            <a:off x="548640" y="4261104"/>
            <a:ext cx="457200" cy="0"/>
          </a:xfrm>
          <a:prstGeom prst="line">
            <a:avLst/>
          </a:prstGeom>
          <a:ln w="15875" cap="flat">
            <a:solidFill>
              <a:schemeClr val="dk2"/>
            </a:solidFill>
            <a:round/>
          </a:ln>
        </p:spPr>
      </p:cxnSp>
      <p:cxnSp>
        <p:nvCxnSpPr>
          <p:cNvPr id="382" name="Conector 382"/>
          <p:cNvCxnSpPr/>
          <p:nvPr/>
        </p:nvCxnSpPr>
        <p:spPr>
          <a:xfrm>
            <a:off x="598932" y="4201668"/>
            <a:ext cx="0" cy="118872"/>
          </a:xfrm>
          <a:prstGeom prst="line">
            <a:avLst/>
          </a:prstGeom>
          <a:ln w="15875" cap="flat">
            <a:solidFill>
              <a:schemeClr val="dk2"/>
            </a:solidFill>
            <a:round/>
          </a:ln>
        </p:spPr>
      </p:cxnSp>
      <p:cxnSp>
        <p:nvCxnSpPr>
          <p:cNvPr id="383" name="Conector 383"/>
          <p:cNvCxnSpPr/>
          <p:nvPr/>
        </p:nvCxnSpPr>
        <p:spPr>
          <a:xfrm flipV="1">
            <a:off x="914400" y="4201668"/>
            <a:ext cx="91440" cy="59436"/>
          </a:xfrm>
          <a:prstGeom prst="line">
            <a:avLst/>
          </a:prstGeom>
          <a:ln w="15875" cap="flat">
            <a:solidFill>
              <a:schemeClr val="dk2"/>
            </a:solidFill>
            <a:round/>
          </a:ln>
        </p:spPr>
      </p:cxnSp>
      <p:cxnSp>
        <p:nvCxnSpPr>
          <p:cNvPr id="384" name="Conector 384"/>
          <p:cNvCxnSpPr/>
          <p:nvPr/>
        </p:nvCxnSpPr>
        <p:spPr>
          <a:xfrm>
            <a:off x="914400" y="4261104"/>
            <a:ext cx="91440" cy="59436"/>
          </a:xfrm>
          <a:prstGeom prst="line">
            <a:avLst/>
          </a:prstGeom>
          <a:ln w="15875" cap="flat">
            <a:solidFill>
              <a:schemeClr val="dk2"/>
            </a:solidFill>
            <a:round/>
          </a:ln>
        </p:spPr>
      </p:cxnSp>
      <p:sp>
        <p:nvSpPr>
          <p:cNvPr id="385" name="Leyenda tabla 1"/>
          <p:cNvSpPr/>
          <p:nvPr/>
        </p:nvSpPr>
        <p:spPr>
          <a:xfrm>
            <a:off x="457200" y="4169664"/>
            <a:ext cx="91440" cy="182880"/>
          </a:xfrm>
          <a:prstGeom prst="rect">
            <a:avLst/>
          </a:prstGeom>
          <a:solidFill>
            <a:schemeClr val="lt1"/>
          </a:solidFill>
          <a:ln w="12700">
            <a:solidFill>
              <a:schemeClr val="dk2"/>
            </a:solidFill>
          </a:ln>
        </p:spPr>
        <p:txBody>
          <a:bodyPr spcFirstLastPara="1" wrap="square" lIns="36576" tIns="0" rIns="36576" bIns="0" anchor="ctr" anchorCtr="0">
            <a:noAutofit/>
          </a:bodyPr>
          <a:lstStyle/>
          <a:p>
            <a:endParaRPr lang="es-CL"/>
          </a:p>
        </p:txBody>
      </p:sp>
      <p:sp>
        <p:nvSpPr>
          <p:cNvPr id="386" name="Leyenda tabla 2"/>
          <p:cNvSpPr/>
          <p:nvPr/>
        </p:nvSpPr>
        <p:spPr>
          <a:xfrm>
            <a:off x="1005840" y="4169664"/>
            <a:ext cx="91440" cy="182880"/>
          </a:xfrm>
          <a:prstGeom prst="rect">
            <a:avLst/>
          </a:prstGeom>
          <a:solidFill>
            <a:schemeClr val="lt1"/>
          </a:solidFill>
          <a:ln w="12700">
            <a:solidFill>
              <a:schemeClr val="dk2"/>
            </a:solidFill>
          </a:ln>
        </p:spPr>
        <p:txBody>
          <a:bodyPr spcFirstLastPara="1" wrap="square" lIns="36576" tIns="0" rIns="36576" bIns="0" anchor="ctr" anchorCtr="0">
            <a:noAutofit/>
          </a:bodyPr>
          <a:lstStyle/>
          <a:p>
            <a:endParaRPr lang="es-CL"/>
          </a:p>
        </p:txBody>
      </p:sp>
      <p:cxnSp>
        <p:nvCxnSpPr>
          <p:cNvPr id="387" name="Conector 387"/>
          <p:cNvCxnSpPr/>
          <p:nvPr/>
        </p:nvCxnSpPr>
        <p:spPr>
          <a:xfrm>
            <a:off x="457200" y="4507992"/>
            <a:ext cx="640080" cy="0"/>
          </a:xfrm>
          <a:prstGeom prst="line">
            <a:avLst/>
          </a:prstGeom>
          <a:ln w="15875" cap="flat">
            <a:solidFill>
              <a:schemeClr val="accent4"/>
            </a:solidFill>
            <a:prstDash val="dash"/>
            <a:round/>
          </a:ln>
        </p:spPr>
      </p:cxnSp>
      <p:sp>
        <p:nvSpPr>
          <p:cNvPr id="388" name="Forma 388"/>
          <p:cNvSpPr txBox="1"/>
          <p:nvPr/>
        </p:nvSpPr>
        <p:spPr>
          <a:xfrm>
            <a:off x="1188720" y="4142232"/>
            <a:ext cx="4860608" cy="237744"/>
          </a:xfrm>
          <a:prstGeom prst="rect">
            <a:avLst/>
          </a:prstGeom>
          <a:noFill/>
          <a:ln>
            <a:noFill/>
          </a:ln>
        </p:spPr>
        <p:txBody>
          <a:bodyPr spcFirstLastPara="1" wrap="square" lIns="0" tIns="0" rIns="0" bIns="0" anchor="ctr" anchorCtr="0">
            <a:noAutofit/>
          </a:bodyPr>
          <a:lstStyle/>
          <a:p>
            <a:pPr marL="0" indent="0" algn="l">
              <a:spcBef>
                <a:spcPts val="0"/>
              </a:spcBef>
              <a:spcAft>
                <a:spcPts val="0"/>
              </a:spcAft>
              <a:buNone/>
            </a:pPr>
            <a:r>
              <a:rPr lang="es-CL" sz="1100" b="0" i="0" dirty="0">
                <a:solidFill>
                  <a:schemeClr val="dk1"/>
                </a:solidFill>
                <a:latin typeface="Calibri"/>
                <a:ea typeface="Calibri"/>
                <a:cs typeface="Calibri"/>
                <a:sym typeface="Calibri"/>
              </a:rPr>
              <a:t>Clave foránea dentro de una base: la raya corta es «uno» y las tres patas, «muchos».</a:t>
            </a:r>
          </a:p>
        </p:txBody>
      </p:sp>
      <p:sp>
        <p:nvSpPr>
          <p:cNvPr id="389" name="Forma 389"/>
          <p:cNvSpPr txBox="1"/>
          <p:nvPr/>
        </p:nvSpPr>
        <p:spPr>
          <a:xfrm>
            <a:off x="1188720" y="4389120"/>
            <a:ext cx="5212576" cy="237744"/>
          </a:xfrm>
          <a:prstGeom prst="rect">
            <a:avLst/>
          </a:prstGeom>
          <a:noFill/>
          <a:ln>
            <a:noFill/>
          </a:ln>
        </p:spPr>
        <p:txBody>
          <a:bodyPr spcFirstLastPara="1" wrap="square" lIns="0" tIns="0" rIns="0" bIns="0" anchor="ctr" anchorCtr="0">
            <a:noAutofit/>
          </a:bodyPr>
          <a:lstStyle/>
          <a:p>
            <a:pPr marL="0" indent="0" algn="l">
              <a:spcBef>
                <a:spcPts val="0"/>
              </a:spcBef>
              <a:spcAft>
                <a:spcPts val="0"/>
              </a:spcAft>
              <a:buNone/>
            </a:pPr>
            <a:r>
              <a:rPr lang="es-CL" sz="1100" b="0" i="0" dirty="0">
                <a:solidFill>
                  <a:schemeClr val="dk1"/>
                </a:solidFill>
                <a:latin typeface="Calibri"/>
                <a:ea typeface="Calibri"/>
                <a:cs typeface="Calibri"/>
                <a:sym typeface="Calibri"/>
              </a:rPr>
              <a:t>Referencia entre bases, sin clave foránea: se guarda el identificador o una copia de lectura.</a:t>
            </a:r>
          </a:p>
        </p:txBody>
      </p:sp>
      <p:sp>
        <p:nvSpPr>
          <p:cNvPr id="390" name="Forma 390"/>
          <p:cNvSpPr txBox="1"/>
          <p:nvPr/>
        </p:nvSpPr>
        <p:spPr>
          <a:xfrm>
            <a:off x="6742609" y="4142232"/>
            <a:ext cx="1944191" cy="237744"/>
          </a:xfrm>
          <a:prstGeom prst="rect">
            <a:avLst/>
          </a:prstGeom>
          <a:noFill/>
          <a:ln>
            <a:noFill/>
          </a:ln>
        </p:spPr>
        <p:txBody>
          <a:bodyPr spcFirstLastPara="1" wrap="square" lIns="0" tIns="0" rIns="0" bIns="0" anchor="ctr" anchorCtr="0">
            <a:noAutofit/>
          </a:bodyPr>
          <a:lstStyle/>
          <a:p>
            <a:pPr marL="0" indent="0" algn="r">
              <a:spcBef>
                <a:spcPts val="0"/>
              </a:spcBef>
              <a:spcAft>
                <a:spcPts val="0"/>
              </a:spcAft>
              <a:buNone/>
            </a:pPr>
            <a:r>
              <a:rPr lang="es-CL" sz="1100" b="1" i="0" dirty="0">
                <a:solidFill>
                  <a:schemeClr val="dk2"/>
                </a:solidFill>
                <a:latin typeface="Calibri"/>
                <a:ea typeface="Calibri"/>
                <a:cs typeface="Calibri"/>
                <a:sym typeface="Calibri"/>
              </a:rPr>
              <a:t>Se muestran 13 de las 21 tablas.</a:t>
            </a:r>
          </a:p>
        </p:txBody>
      </p:sp>
      <p:sp>
        <p:nvSpPr>
          <p:cNvPr id="189" name="Google Shape;189;p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8</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Base de datos: la estructura</a:t>
            </a:r>
            <a:endParaRPr sz="3600"/>
          </a:p>
        </p:txBody>
      </p:sp>
      <p:sp>
        <p:nvSpPr>
          <p:cNvPr id="165" name="Google Shape;165;p6"/>
          <p:cNvSpPr/>
          <p:nvPr/>
        </p:nvSpPr>
        <p:spPr>
          <a:xfrm>
            <a:off x="457200" y="1188720"/>
            <a:ext cx="1920240" cy="54864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6"/>
          <p:cNvSpPr txBox="1"/>
          <p:nvPr/>
        </p:nvSpPr>
        <p:spPr>
          <a:xfrm>
            <a:off x="457200" y="11887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Identidad · 4 tablas</a:t>
            </a:r>
            <a:endParaRPr sz="1400" b="0" i="0" u="none" strike="noStrike" cap="none">
              <a:solidFill>
                <a:schemeClr val="dk1"/>
              </a:solidFill>
              <a:latin typeface="Calibri"/>
              <a:ea typeface="Calibri"/>
              <a:cs typeface="Calibri"/>
              <a:sym typeface="Calibri"/>
            </a:endParaRPr>
          </a:p>
        </p:txBody>
      </p:sp>
      <p:sp>
        <p:nvSpPr>
          <p:cNvPr id="168" name="Google Shape;168;p6"/>
          <p:cNvSpPr/>
          <p:nvPr/>
        </p:nvSpPr>
        <p:spPr>
          <a:xfrm>
            <a:off x="457200" y="1828800"/>
            <a:ext cx="1920240" cy="201168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6"/>
          <p:cNvSpPr txBox="1"/>
          <p:nvPr/>
        </p:nvSpPr>
        <p:spPr>
          <a:xfrm>
            <a:off x="457200" y="1828800"/>
            <a:ext cx="1920240" cy="2011680"/>
          </a:xfrm>
          <a:prstGeom prst="rect">
            <a:avLst/>
          </a:prstGeom>
          <a:noFill/>
          <a:ln>
            <a:noFill/>
          </a:ln>
        </p:spPr>
        <p:txBody>
          <a:bodyPr spcFirstLastPara="1" wrap="square" lIns="182880" tIns="137160" rIns="0" bIns="91440" anchor="t" anchorCtr="0">
            <a:noAutofit/>
          </a:bodyPr>
          <a:lstStyle/>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usuario</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token_verificacion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refresh_token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aviso_correo</a:t>
            </a:r>
            <a:endParaRPr sz="1300" b="0" i="0" u="none" strike="noStrike" cap="none">
              <a:solidFill>
                <a:schemeClr val="dk1"/>
              </a:solidFill>
              <a:latin typeface="Calibri"/>
              <a:ea typeface="Calibri"/>
              <a:cs typeface="Calibri"/>
              <a:sym typeface="Calibri"/>
            </a:endParaRPr>
          </a:p>
        </p:txBody>
      </p:sp>
      <p:sp>
        <p:nvSpPr>
          <p:cNvPr id="171" name="Google Shape;171;p6"/>
          <p:cNvSpPr/>
          <p:nvPr/>
        </p:nvSpPr>
        <p:spPr>
          <a:xfrm>
            <a:off x="2560320" y="1188720"/>
            <a:ext cx="1920240" cy="54864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6"/>
          <p:cNvSpPr txBox="1"/>
          <p:nvPr/>
        </p:nvSpPr>
        <p:spPr>
          <a:xfrm>
            <a:off x="2560320" y="11887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Catálogo · 8 tablas</a:t>
            </a:r>
            <a:endParaRPr sz="1400" b="0" i="0" u="none" strike="noStrike" cap="none">
              <a:solidFill>
                <a:schemeClr val="dk1"/>
              </a:solidFill>
              <a:latin typeface="Calibri"/>
              <a:ea typeface="Calibri"/>
              <a:cs typeface="Calibri"/>
              <a:sym typeface="Calibri"/>
            </a:endParaRPr>
          </a:p>
        </p:txBody>
      </p:sp>
      <p:sp>
        <p:nvSpPr>
          <p:cNvPr id="174" name="Google Shape;174;p6"/>
          <p:cNvSpPr/>
          <p:nvPr/>
        </p:nvSpPr>
        <p:spPr>
          <a:xfrm>
            <a:off x="2560320" y="1828800"/>
            <a:ext cx="1920240" cy="201168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6"/>
          <p:cNvSpPr txBox="1"/>
          <p:nvPr/>
        </p:nvSpPr>
        <p:spPr>
          <a:xfrm>
            <a:off x="2560320" y="1828800"/>
            <a:ext cx="1920240" cy="2011680"/>
          </a:xfrm>
          <a:prstGeom prst="rect">
            <a:avLst/>
          </a:prstGeom>
          <a:noFill/>
          <a:ln>
            <a:noFill/>
          </a:ln>
        </p:spPr>
        <p:txBody>
          <a:bodyPr spcFirstLastPara="1" wrap="square" lIns="182880" tIns="137160" rIns="0" bIns="91440" anchor="t" anchorCtr="0">
            <a:noAutofit/>
          </a:bodyPr>
          <a:lstStyle/>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carrera</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malla</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asignatura</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malla_asignatura</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prerrequisito</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sede</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importacion_catalogo</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importacion_error</a:t>
            </a:r>
            <a:endParaRPr sz="1300" b="0" i="0" u="none" strike="noStrike" cap="none">
              <a:solidFill>
                <a:schemeClr val="dk1"/>
              </a:solidFill>
              <a:latin typeface="Calibri"/>
              <a:ea typeface="Calibri"/>
              <a:cs typeface="Calibri"/>
              <a:sym typeface="Calibri"/>
            </a:endParaRPr>
          </a:p>
        </p:txBody>
      </p:sp>
      <p:sp>
        <p:nvSpPr>
          <p:cNvPr id="177" name="Google Shape;177;p6"/>
          <p:cNvSpPr/>
          <p:nvPr/>
        </p:nvSpPr>
        <p:spPr>
          <a:xfrm>
            <a:off x="4663440" y="1188720"/>
            <a:ext cx="1920240" cy="54864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txBox="1"/>
          <p:nvPr/>
        </p:nvSpPr>
        <p:spPr>
          <a:xfrm>
            <a:off x="4663440" y="11887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Tutorías · 7 tablas</a:t>
            </a:r>
            <a:endParaRPr sz="1400" b="0" i="0" u="none" strike="noStrike" cap="none">
              <a:solidFill>
                <a:schemeClr val="dk1"/>
              </a:solidFill>
              <a:latin typeface="Calibri"/>
              <a:ea typeface="Calibri"/>
              <a:cs typeface="Calibri"/>
              <a:sym typeface="Calibri"/>
            </a:endParaRPr>
          </a:p>
        </p:txBody>
      </p:sp>
      <p:sp>
        <p:nvSpPr>
          <p:cNvPr id="180" name="Google Shape;180;p6"/>
          <p:cNvSpPr/>
          <p:nvPr/>
        </p:nvSpPr>
        <p:spPr>
          <a:xfrm>
            <a:off x="4663440" y="1828800"/>
            <a:ext cx="1920240" cy="201168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txBox="1"/>
          <p:nvPr/>
        </p:nvSpPr>
        <p:spPr>
          <a:xfrm>
            <a:off x="4663440" y="1828800"/>
            <a:ext cx="1920240" cy="2011680"/>
          </a:xfrm>
          <a:prstGeom prst="rect">
            <a:avLst/>
          </a:prstGeom>
          <a:noFill/>
          <a:ln>
            <a:noFill/>
          </a:ln>
        </p:spPr>
        <p:txBody>
          <a:bodyPr spcFirstLastPara="1" wrap="square" lIns="182880" tIns="137160" rIns="0" bIns="91440" anchor="t" anchorCtr="0">
            <a:noAutofit/>
          </a:bodyPr>
          <a:lstStyle/>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usuario_ref</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asignatura_ref</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perfil_tutor</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bloque_disponibilidad</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reserva</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evaluacion</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ejecucion_tarea</a:t>
            </a:r>
            <a:endParaRPr sz="1300" b="0" i="0" u="none" strike="noStrike" cap="none">
              <a:solidFill>
                <a:schemeClr val="dk1"/>
              </a:solidFill>
              <a:latin typeface="Calibri"/>
              <a:ea typeface="Calibri"/>
              <a:cs typeface="Calibri"/>
              <a:sym typeface="Calibri"/>
            </a:endParaRPr>
          </a:p>
        </p:txBody>
      </p:sp>
      <p:sp>
        <p:nvSpPr>
          <p:cNvPr id="183" name="Google Shape;183;p6"/>
          <p:cNvSpPr/>
          <p:nvPr/>
        </p:nvSpPr>
        <p:spPr>
          <a:xfrm>
            <a:off x="6766560" y="1188720"/>
            <a:ext cx="1920240" cy="54864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txBox="1"/>
          <p:nvPr/>
        </p:nvSpPr>
        <p:spPr>
          <a:xfrm>
            <a:off x="6766560" y="1188720"/>
            <a:ext cx="192024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400"/>
              <a:buFont typeface="Calibri"/>
              <a:buNone/>
            </a:pPr>
            <a:r>
              <a:rPr lang="en-US" sz="1400" b="1" i="0" u="none" strike="noStrike" cap="none">
                <a:solidFill>
                  <a:schemeClr val="lt1"/>
                </a:solidFill>
                <a:latin typeface="Calibri"/>
                <a:ea typeface="Calibri"/>
                <a:cs typeface="Calibri"/>
                <a:sym typeface="Calibri"/>
              </a:rPr>
              <a:t>Pagos · 2 tablas</a:t>
            </a:r>
            <a:endParaRPr sz="1400" b="0" i="0" u="none" strike="noStrike" cap="none">
              <a:solidFill>
                <a:schemeClr val="dk1"/>
              </a:solidFill>
              <a:latin typeface="Calibri"/>
              <a:ea typeface="Calibri"/>
              <a:cs typeface="Calibri"/>
              <a:sym typeface="Calibri"/>
            </a:endParaRPr>
          </a:p>
        </p:txBody>
      </p:sp>
      <p:sp>
        <p:nvSpPr>
          <p:cNvPr id="186" name="Google Shape;186;p6"/>
          <p:cNvSpPr/>
          <p:nvPr/>
        </p:nvSpPr>
        <p:spPr>
          <a:xfrm>
            <a:off x="6766560" y="1828800"/>
            <a:ext cx="1920240" cy="201168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txBox="1"/>
          <p:nvPr/>
        </p:nvSpPr>
        <p:spPr>
          <a:xfrm>
            <a:off x="6766560" y="1828800"/>
            <a:ext cx="1920240" cy="2011680"/>
          </a:xfrm>
          <a:prstGeom prst="rect">
            <a:avLst/>
          </a:prstGeom>
          <a:noFill/>
          <a:ln>
            <a:noFill/>
          </a:ln>
        </p:spPr>
        <p:txBody>
          <a:bodyPr spcFirstLastPara="1" wrap="square" lIns="182880" tIns="137160" rIns="0" bIns="91440" anchor="t" anchorCtr="0">
            <a:noAutofit/>
          </a:bodyPr>
          <a:lstStyle/>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pago</a:t>
            </a:r>
            <a:endParaRPr sz="13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400"/>
              <a:buFont typeface="Calibri"/>
              <a:buNone/>
            </a:pPr>
            <a:r>
              <a:rPr lang="en-US" sz="1300" b="0" i="0" u="none" strike="noStrike" cap="none">
                <a:solidFill>
                  <a:schemeClr val="dk1"/>
                </a:solidFill>
                <a:latin typeface="Calibri"/>
                <a:ea typeface="Calibri"/>
                <a:cs typeface="Calibri"/>
                <a:sym typeface="Calibri"/>
              </a:rPr>
              <a:t>intento_pago</a:t>
            </a:r>
            <a:endParaRPr sz="1300" b="0" i="0" u="none" strike="noStrike" cap="none">
              <a:solidFill>
                <a:schemeClr val="dk1"/>
              </a:solidFill>
              <a:latin typeface="Calibri"/>
              <a:ea typeface="Calibri"/>
              <a:cs typeface="Calibri"/>
              <a:sym typeface="Calibri"/>
            </a:endParaRPr>
          </a:p>
        </p:txBody>
      </p:sp>
      <p:sp>
        <p:nvSpPr>
          <p:cNvPr id="188" name="Google Shape;188;p6"/>
          <p:cNvSpPr txBox="1"/>
          <p:nvPr/>
        </p:nvSpPr>
        <p:spPr>
          <a:xfrm>
            <a:off x="457200" y="4023360"/>
            <a:ext cx="8229600" cy="6400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Ninguna clave foránea cruza de una base a otra: entre servicios se guardan identificadores.</a:t>
            </a:r>
            <a:endParaRPr sz="14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chemeClr val="dk2"/>
              </a:buClr>
              <a:buSzPts val="1400"/>
              <a:buFont typeface="Calibri"/>
              <a:buNone/>
            </a:pPr>
            <a:r>
              <a:rPr lang="en-US" sz="1400" b="0" i="0" u="none" strike="noStrike" cap="none">
                <a:solidFill>
                  <a:schemeClr val="dk2"/>
                </a:solidFill>
                <a:latin typeface="Calibri"/>
                <a:ea typeface="Calibri"/>
                <a:cs typeface="Calibri"/>
                <a:sym typeface="Calibri"/>
              </a:rPr>
              <a:t>Tutorías guarda copias de lectura de usuarios y asignaturas, para buscar tutores sin llamar a otros servicios.</a:t>
            </a:r>
            <a:endParaRPr sz="1400" b="0" i="0" u="none" strike="noStrike" cap="none">
              <a:solidFill>
                <a:schemeClr val="dk1"/>
              </a:solidFill>
              <a:latin typeface="Calibri"/>
              <a:ea typeface="Calibri"/>
              <a:cs typeface="Calibri"/>
              <a:sym typeface="Calibri"/>
            </a:endParaRPr>
          </a:p>
        </p:txBody>
      </p:sp>
      <p:sp>
        <p:nvSpPr>
          <p:cNvPr id="189" name="Google Shape;189;p6"/>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9</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8"/>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Roadmap del proyecto</a:t>
            </a:r>
            <a:endParaRPr sz="3600"/>
          </a:p>
        </p:txBody>
      </p:sp>
      <p:sp>
        <p:nvSpPr>
          <p:cNvPr id="227" name="Google Shape;227;p8"/>
          <p:cNvSpPr/>
          <p:nvPr/>
        </p:nvSpPr>
        <p:spPr>
          <a:xfrm>
            <a:off x="457200" y="1234439"/>
            <a:ext cx="2651760" cy="2964073"/>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640080" y="1371600"/>
            <a:ext cx="1920240" cy="274320"/>
          </a:xfrm>
          <a:prstGeom prst="roundRect">
            <a:avLst>
              <a:gd name="adj" fmla="val 26667"/>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txBox="1"/>
          <p:nvPr/>
        </p:nvSpPr>
        <p:spPr>
          <a:xfrm>
            <a:off x="640080" y="1371600"/>
            <a:ext cx="19202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200"/>
              <a:buFont typeface="Calibri"/>
              <a:buNone/>
            </a:pPr>
            <a:r>
              <a:rPr lang="en-US" sz="1200" b="1" i="0" u="none" strike="noStrike" cap="none">
                <a:solidFill>
                  <a:schemeClr val="lt1"/>
                </a:solidFill>
                <a:latin typeface="Calibri"/>
                <a:ea typeface="Calibri"/>
                <a:cs typeface="Calibri"/>
                <a:sym typeface="Calibri"/>
              </a:rPr>
              <a:t>Base lista</a:t>
            </a:r>
            <a:endParaRPr sz="1200" b="0" i="0" u="none" strike="noStrike" cap="none">
              <a:solidFill>
                <a:schemeClr val="dk1"/>
              </a:solidFill>
              <a:latin typeface="Calibri"/>
              <a:ea typeface="Calibri"/>
              <a:cs typeface="Calibri"/>
              <a:sym typeface="Calibri"/>
            </a:endParaRPr>
          </a:p>
        </p:txBody>
      </p:sp>
      <p:sp>
        <p:nvSpPr>
          <p:cNvPr id="230" name="Google Shape;230;p8"/>
          <p:cNvSpPr txBox="1"/>
          <p:nvPr/>
        </p:nvSpPr>
        <p:spPr>
          <a:xfrm>
            <a:off x="640080" y="178308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Sprints 1 y 2 · Cimientos</a:t>
            </a:r>
            <a:endParaRPr sz="1600" b="0" i="0" u="none" strike="noStrike" cap="none">
              <a:solidFill>
                <a:schemeClr val="dk1"/>
              </a:solidFill>
              <a:latin typeface="Calibri"/>
              <a:ea typeface="Calibri"/>
              <a:cs typeface="Calibri"/>
              <a:sym typeface="Calibri"/>
            </a:endParaRPr>
          </a:p>
        </p:txBody>
      </p:sp>
      <p:sp>
        <p:nvSpPr>
          <p:cNvPr id="231" name="Google Shape;231;p8"/>
          <p:cNvSpPr txBox="1"/>
          <p:nvPr/>
        </p:nvSpPr>
        <p:spPr>
          <a:xfrm>
            <a:off x="640080" y="2103120"/>
            <a:ext cx="2286000" cy="1325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Planificación, contenedores, puerta de entrada, registro e inicio de sesión con correo institucional y consulta del catálogo académico.</a:t>
            </a:r>
            <a:endParaRPr sz="1400" b="0" i="0" u="none" strike="noStrike" cap="none">
              <a:solidFill>
                <a:schemeClr val="dk1"/>
              </a:solidFill>
              <a:latin typeface="Calibri"/>
              <a:ea typeface="Calibri"/>
              <a:cs typeface="Calibri"/>
              <a:sym typeface="Calibri"/>
            </a:endParaRPr>
          </a:p>
        </p:txBody>
      </p:sp>
      <p:sp>
        <p:nvSpPr>
          <p:cNvPr id="232" name="Google Shape;232;p8"/>
          <p:cNvSpPr/>
          <p:nvPr/>
        </p:nvSpPr>
        <p:spPr>
          <a:xfrm>
            <a:off x="3246120" y="1234440"/>
            <a:ext cx="2651760" cy="2964072"/>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3429000" y="1371600"/>
            <a:ext cx="1920240" cy="274320"/>
          </a:xfrm>
          <a:prstGeom prst="roundRect">
            <a:avLst>
              <a:gd name="adj" fmla="val 2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8"/>
          <p:cNvSpPr txBox="1"/>
          <p:nvPr/>
        </p:nvSpPr>
        <p:spPr>
          <a:xfrm>
            <a:off x="3429000" y="1371600"/>
            <a:ext cx="19202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200"/>
              <a:buFont typeface="Calibri"/>
              <a:buNone/>
            </a:pPr>
            <a:r>
              <a:rPr lang="en-US" sz="1200" b="1" i="0" u="none" strike="noStrike" cap="none">
                <a:solidFill>
                  <a:schemeClr val="dk2"/>
                </a:solidFill>
                <a:latin typeface="Calibri"/>
                <a:ea typeface="Calibri"/>
                <a:cs typeface="Calibri"/>
                <a:sym typeface="Calibri"/>
              </a:rPr>
              <a:t>En curso · hasta el 01-11</a:t>
            </a:r>
            <a:endParaRPr sz="1200" b="0" i="0" u="none" strike="noStrike" cap="none">
              <a:solidFill>
                <a:schemeClr val="dk1"/>
              </a:solidFill>
              <a:latin typeface="Calibri"/>
              <a:ea typeface="Calibri"/>
              <a:cs typeface="Calibri"/>
              <a:sym typeface="Calibri"/>
            </a:endParaRPr>
          </a:p>
        </p:txBody>
      </p:sp>
      <p:sp>
        <p:nvSpPr>
          <p:cNvPr id="235" name="Google Shape;235;p8"/>
          <p:cNvSpPr txBox="1"/>
          <p:nvPr/>
        </p:nvSpPr>
        <p:spPr>
          <a:xfrm>
            <a:off x="3429000" y="178308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Sprint 3 · Flujo principal</a:t>
            </a:r>
            <a:endParaRPr sz="1600" b="0" i="0" u="none" strike="noStrike" cap="none">
              <a:solidFill>
                <a:schemeClr val="dk1"/>
              </a:solidFill>
              <a:latin typeface="Calibri"/>
              <a:ea typeface="Calibri"/>
              <a:cs typeface="Calibri"/>
              <a:sym typeface="Calibri"/>
            </a:endParaRPr>
          </a:p>
        </p:txBody>
      </p:sp>
      <p:sp>
        <p:nvSpPr>
          <p:cNvPr id="236" name="Google Shape;236;p8"/>
          <p:cNvSpPr txBox="1"/>
          <p:nvPr/>
        </p:nvSpPr>
        <p:spPr>
          <a:xfrm>
            <a:off x="3429000" y="2103120"/>
            <a:ext cx="2286000" cy="1325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Listo: perfil, ser tutor según la malla, horarios y búsqueda de tutores. Falta: solicitar y confirmar tutorías, el pago simulado y las carreras reales.</a:t>
            </a:r>
            <a:endParaRPr sz="1400" b="0" i="0" u="none" strike="noStrike" cap="none">
              <a:solidFill>
                <a:schemeClr val="dk1"/>
              </a:solidFill>
              <a:latin typeface="Calibri"/>
              <a:ea typeface="Calibri"/>
              <a:cs typeface="Calibri"/>
              <a:sym typeface="Calibri"/>
            </a:endParaRPr>
          </a:p>
        </p:txBody>
      </p:sp>
      <p:sp>
        <p:nvSpPr>
          <p:cNvPr id="237" name="Google Shape;237;p8"/>
          <p:cNvSpPr/>
          <p:nvPr/>
        </p:nvSpPr>
        <p:spPr>
          <a:xfrm>
            <a:off x="6035040" y="1234440"/>
            <a:ext cx="2651760" cy="2964072"/>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6217920" y="1371600"/>
            <a:ext cx="1920240" cy="274320"/>
          </a:xfrm>
          <a:prstGeom prst="roundRect">
            <a:avLst>
              <a:gd name="adj" fmla="val 26667"/>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txBox="1"/>
          <p:nvPr/>
        </p:nvSpPr>
        <p:spPr>
          <a:xfrm>
            <a:off x="6217920" y="1371600"/>
            <a:ext cx="1920240"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lt1"/>
              </a:buClr>
              <a:buSzPts val="1200"/>
              <a:buFont typeface="Calibri"/>
              <a:buNone/>
            </a:pPr>
            <a:r>
              <a:rPr lang="en-US" sz="1200" b="1" i="0" u="none" strike="noStrike" cap="none">
                <a:solidFill>
                  <a:schemeClr val="lt1"/>
                </a:solidFill>
                <a:latin typeface="Calibri"/>
                <a:ea typeface="Calibri"/>
                <a:cs typeface="Calibri"/>
                <a:sym typeface="Calibri"/>
              </a:rPr>
              <a:t>Hasta el 8 de noviembre</a:t>
            </a:r>
            <a:endParaRPr sz="1200" b="0" i="0" u="none" strike="noStrike" cap="none">
              <a:solidFill>
                <a:schemeClr val="dk1"/>
              </a:solidFill>
              <a:latin typeface="Calibri"/>
              <a:ea typeface="Calibri"/>
              <a:cs typeface="Calibri"/>
              <a:sym typeface="Calibri"/>
            </a:endParaRPr>
          </a:p>
        </p:txBody>
      </p:sp>
      <p:sp>
        <p:nvSpPr>
          <p:cNvPr id="240" name="Google Shape;240;p8"/>
          <p:cNvSpPr txBox="1"/>
          <p:nvPr/>
        </p:nvSpPr>
        <p:spPr>
          <a:xfrm>
            <a:off x="6217920" y="1783080"/>
            <a:ext cx="22860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Sprint 4 · Cierre del MVP</a:t>
            </a:r>
            <a:endParaRPr sz="1600" b="0" i="0" u="none" strike="noStrike" cap="none">
              <a:solidFill>
                <a:schemeClr val="dk1"/>
              </a:solidFill>
              <a:latin typeface="Calibri"/>
              <a:ea typeface="Calibri"/>
              <a:cs typeface="Calibri"/>
              <a:sym typeface="Calibri"/>
            </a:endParaRPr>
          </a:p>
        </p:txBody>
      </p:sp>
      <p:sp>
        <p:nvSpPr>
          <p:cNvPr id="241" name="Google Shape;241;p8"/>
          <p:cNvSpPr txBox="1"/>
          <p:nvPr/>
        </p:nvSpPr>
        <p:spPr>
          <a:xfrm>
            <a:off x="6217920" y="2103120"/>
            <a:ext cx="2286000" cy="13258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Cancelación, evaluaciones y reputación, avisos por correo, panel de administración y pruebas de punta a punta.</a:t>
            </a:r>
            <a:endParaRPr sz="1400" b="0" i="0" u="none" strike="noStrike" cap="none">
              <a:solidFill>
                <a:schemeClr val="dk1"/>
              </a:solidFill>
              <a:latin typeface="Calibri"/>
              <a:ea typeface="Calibri"/>
              <a:cs typeface="Calibri"/>
              <a:sym typeface="Calibri"/>
            </a:endParaRPr>
          </a:p>
        </p:txBody>
      </p:sp>
      <p:sp>
        <p:nvSpPr>
          <p:cNvPr id="244" name="Google Shape;244;p8"/>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10</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9"/>
          <p:cNvSpPr txBox="1">
            <a:spLocks noGrp="1"/>
          </p:cNvSpPr>
          <p:nvPr>
            <p:ph type="title"/>
          </p:nvPr>
        </p:nvSpPr>
        <p:spPr>
          <a:xfrm>
            <a:off x="457200" y="274320"/>
            <a:ext cx="8229600" cy="73152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2"/>
              </a:buClr>
              <a:buSzPts val="3600"/>
              <a:buFont typeface="Cambria"/>
              <a:buNone/>
            </a:pPr>
            <a:r>
              <a:rPr lang="en-US" sz="3600" b="1">
                <a:solidFill>
                  <a:schemeClr val="dk2"/>
                </a:solidFill>
              </a:rPr>
              <a:t>Demostración de avances</a:t>
            </a:r>
            <a:endParaRPr sz="3600"/>
          </a:p>
        </p:txBody>
      </p:sp>
      <p:sp>
        <p:nvSpPr>
          <p:cNvPr id="251" name="Google Shape;251;p9"/>
          <p:cNvSpPr/>
          <p:nvPr/>
        </p:nvSpPr>
        <p:spPr>
          <a:xfrm>
            <a:off x="457200" y="128016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9"/>
          <p:cNvSpPr txBox="1"/>
          <p:nvPr/>
        </p:nvSpPr>
        <p:spPr>
          <a:xfrm>
            <a:off x="457200" y="12801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1</a:t>
            </a:r>
            <a:endParaRPr sz="1800" b="0" i="0" u="none" strike="noStrike" cap="none">
              <a:solidFill>
                <a:schemeClr val="dk1"/>
              </a:solidFill>
              <a:latin typeface="Calibri"/>
              <a:ea typeface="Calibri"/>
              <a:cs typeface="Calibri"/>
              <a:sym typeface="Calibri"/>
            </a:endParaRPr>
          </a:p>
        </p:txBody>
      </p:sp>
      <p:sp>
        <p:nvSpPr>
          <p:cNvPr id="253" name="Google Shape;253;p9"/>
          <p:cNvSpPr txBox="1"/>
          <p:nvPr/>
        </p:nvSpPr>
        <p:spPr>
          <a:xfrm>
            <a:off x="457200" y="187452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Ser tutor</a:t>
            </a:r>
            <a:endParaRPr sz="1600" b="0" i="0" u="none" strike="noStrike" cap="none">
              <a:solidFill>
                <a:schemeClr val="dk1"/>
              </a:solidFill>
              <a:latin typeface="Calibri"/>
              <a:ea typeface="Calibri"/>
              <a:cs typeface="Calibri"/>
              <a:sym typeface="Calibri"/>
            </a:endParaRPr>
          </a:p>
        </p:txBody>
      </p:sp>
      <p:sp>
        <p:nvSpPr>
          <p:cNvPr id="254" name="Google Shape;254;p9"/>
          <p:cNvSpPr txBox="1"/>
          <p:nvPr/>
        </p:nvSpPr>
        <p:spPr>
          <a:xfrm>
            <a:off x="457200" y="2194560"/>
            <a:ext cx="155448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Camila solo puede ofrecer asignaturas de semestres que ya cursó.</a:t>
            </a:r>
            <a:endParaRPr sz="1400" b="0" i="0" u="none" strike="noStrike" cap="none">
              <a:solidFill>
                <a:schemeClr val="dk1"/>
              </a:solidFill>
              <a:latin typeface="Calibri"/>
              <a:ea typeface="Calibri"/>
              <a:cs typeface="Calibri"/>
              <a:sym typeface="Calibri"/>
            </a:endParaRPr>
          </a:p>
        </p:txBody>
      </p:sp>
      <p:sp>
        <p:nvSpPr>
          <p:cNvPr id="255" name="Google Shape;255;p9"/>
          <p:cNvSpPr/>
          <p:nvPr/>
        </p:nvSpPr>
        <p:spPr>
          <a:xfrm>
            <a:off x="2125980" y="128016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9"/>
          <p:cNvSpPr txBox="1"/>
          <p:nvPr/>
        </p:nvSpPr>
        <p:spPr>
          <a:xfrm>
            <a:off x="2125980" y="12801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2</a:t>
            </a:r>
            <a:endParaRPr sz="1800" b="0" i="0" u="none" strike="noStrike" cap="none">
              <a:solidFill>
                <a:schemeClr val="dk1"/>
              </a:solidFill>
              <a:latin typeface="Calibri"/>
              <a:ea typeface="Calibri"/>
              <a:cs typeface="Calibri"/>
              <a:sym typeface="Calibri"/>
            </a:endParaRPr>
          </a:p>
        </p:txBody>
      </p:sp>
      <p:sp>
        <p:nvSpPr>
          <p:cNvPr id="257" name="Google Shape;257;p9"/>
          <p:cNvSpPr txBox="1"/>
          <p:nvPr/>
        </p:nvSpPr>
        <p:spPr>
          <a:xfrm>
            <a:off x="2125980" y="187452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Tarifa y nombre</a:t>
            </a:r>
            <a:endParaRPr sz="1600" b="0" i="0" u="none" strike="noStrike" cap="none">
              <a:solidFill>
                <a:schemeClr val="dk1"/>
              </a:solidFill>
              <a:latin typeface="Calibri"/>
              <a:ea typeface="Calibri"/>
              <a:cs typeface="Calibri"/>
              <a:sym typeface="Calibri"/>
            </a:endParaRPr>
          </a:p>
        </p:txBody>
      </p:sp>
      <p:sp>
        <p:nvSpPr>
          <p:cNvPr id="258" name="Google Shape;258;p9"/>
          <p:cNvSpPr txBox="1"/>
          <p:nvPr/>
        </p:nvSpPr>
        <p:spPr>
          <a:xfrm>
            <a:off x="2125980" y="2194560"/>
            <a:ext cx="155448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Gratis o con </a:t>
            </a:r>
            <a:r>
              <a:rPr lang="en-US" sz="1400" b="0" i="0" u="none" strike="noStrike" cap="none" dirty="0" err="1">
                <a:solidFill>
                  <a:schemeClr val="dk1"/>
                </a:solidFill>
                <a:latin typeface="Calibri"/>
                <a:ea typeface="Calibri"/>
                <a:cs typeface="Calibri"/>
                <a:sym typeface="Calibri"/>
              </a:rPr>
              <a:t>tarifa</a:t>
            </a:r>
            <a:r>
              <a:rPr lang="en-US" sz="1400" b="0" i="0" u="none" strike="noStrike" cap="none" dirty="0">
                <a:solidFill>
                  <a:schemeClr val="dk1"/>
                </a:solidFill>
                <a:latin typeface="Calibri"/>
                <a:ea typeface="Calibri"/>
                <a:cs typeface="Calibri"/>
                <a:sym typeface="Calibri"/>
              </a:rPr>
              <a:t>; el </a:t>
            </a:r>
            <a:r>
              <a:rPr lang="en-US" sz="1400" b="0" i="0" u="none" strike="noStrike" cap="none" dirty="0" err="1">
                <a:solidFill>
                  <a:schemeClr val="dk1"/>
                </a:solidFill>
                <a:latin typeface="Calibri"/>
                <a:ea typeface="Calibri"/>
                <a:cs typeface="Calibri"/>
                <a:sym typeface="Calibri"/>
              </a:rPr>
              <a:t>nombre</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editado</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llega</a:t>
            </a:r>
            <a:r>
              <a:rPr lang="en-US" sz="1400" b="0" i="0" u="none" strike="noStrike" cap="none" dirty="0">
                <a:solidFill>
                  <a:schemeClr val="dk1"/>
                </a:solidFill>
                <a:latin typeface="Calibri"/>
                <a:ea typeface="Calibri"/>
                <a:cs typeface="Calibri"/>
                <a:sym typeface="Calibri"/>
              </a:rPr>
              <a:t> a la </a:t>
            </a:r>
            <a:r>
              <a:rPr lang="en-US" sz="1400" b="0" i="0" u="none" strike="noStrike" cap="none" dirty="0" err="1">
                <a:solidFill>
                  <a:schemeClr val="dk1"/>
                </a:solidFill>
                <a:latin typeface="Calibri"/>
                <a:ea typeface="Calibri"/>
                <a:cs typeface="Calibri"/>
                <a:sym typeface="Calibri"/>
              </a:rPr>
              <a:t>búsqueda</a:t>
            </a:r>
            <a:r>
              <a:rPr lang="en-US" sz="1400" b="0" i="0" u="none" strike="noStrike" cap="none" dirty="0">
                <a:solidFill>
                  <a:schemeClr val="dk1"/>
                </a:solidFill>
                <a:latin typeface="Calibri"/>
                <a:ea typeface="Calibri"/>
                <a:cs typeface="Calibri"/>
                <a:sym typeface="Calibri"/>
              </a:rPr>
              <a:t>.</a:t>
            </a:r>
            <a:endParaRPr sz="1400" b="0" i="0" u="none" strike="noStrike" cap="none" dirty="0">
              <a:solidFill>
                <a:schemeClr val="dk1"/>
              </a:solidFill>
              <a:latin typeface="Calibri"/>
              <a:ea typeface="Calibri"/>
              <a:cs typeface="Calibri"/>
              <a:sym typeface="Calibri"/>
            </a:endParaRPr>
          </a:p>
        </p:txBody>
      </p:sp>
      <p:sp>
        <p:nvSpPr>
          <p:cNvPr id="259" name="Google Shape;259;p9"/>
          <p:cNvSpPr/>
          <p:nvPr/>
        </p:nvSpPr>
        <p:spPr>
          <a:xfrm>
            <a:off x="3794760" y="128016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9"/>
          <p:cNvSpPr txBox="1"/>
          <p:nvPr/>
        </p:nvSpPr>
        <p:spPr>
          <a:xfrm>
            <a:off x="3794760" y="12801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3</a:t>
            </a:r>
            <a:endParaRPr sz="1800" b="0" i="0" u="none" strike="noStrike" cap="none">
              <a:solidFill>
                <a:schemeClr val="dk1"/>
              </a:solidFill>
              <a:latin typeface="Calibri"/>
              <a:ea typeface="Calibri"/>
              <a:cs typeface="Calibri"/>
              <a:sym typeface="Calibri"/>
            </a:endParaRPr>
          </a:p>
        </p:txBody>
      </p:sp>
      <p:sp>
        <p:nvSpPr>
          <p:cNvPr id="261" name="Google Shape;261;p9"/>
          <p:cNvSpPr txBox="1"/>
          <p:nvPr/>
        </p:nvSpPr>
        <p:spPr>
          <a:xfrm>
            <a:off x="3794760" y="187452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Tutores por ramo</a:t>
            </a:r>
            <a:endParaRPr sz="1600" b="0" i="0" u="none" strike="noStrike" cap="none">
              <a:solidFill>
                <a:schemeClr val="dk1"/>
              </a:solidFill>
              <a:latin typeface="Calibri"/>
              <a:ea typeface="Calibri"/>
              <a:cs typeface="Calibri"/>
              <a:sym typeface="Calibri"/>
            </a:endParaRPr>
          </a:p>
        </p:txBody>
      </p:sp>
      <p:sp>
        <p:nvSpPr>
          <p:cNvPr id="262" name="Google Shape;262;p9"/>
          <p:cNvSpPr txBox="1"/>
          <p:nvPr/>
        </p:nvSpPr>
        <p:spPr>
          <a:xfrm>
            <a:off x="3794760" y="2194560"/>
            <a:ext cx="155448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dirty="0">
                <a:solidFill>
                  <a:schemeClr val="dk1"/>
                </a:solidFill>
                <a:latin typeface="Calibri"/>
                <a:ea typeface="Calibri"/>
                <a:cs typeface="Calibri"/>
                <a:sym typeface="Calibri"/>
              </a:rPr>
              <a:t>Cada </a:t>
            </a:r>
            <a:r>
              <a:rPr lang="en-US" sz="1400" b="0" i="0" u="none" strike="noStrike" cap="none" dirty="0" err="1">
                <a:solidFill>
                  <a:schemeClr val="dk1"/>
                </a:solidFill>
                <a:latin typeface="Calibri"/>
                <a:ea typeface="Calibri"/>
                <a:cs typeface="Calibri"/>
                <a:sym typeface="Calibri"/>
              </a:rPr>
              <a:t>asignatura</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muestra</a:t>
            </a:r>
            <a:r>
              <a:rPr lang="en-US" sz="1400" b="0" i="0" u="none" strike="noStrike" cap="none" dirty="0">
                <a:solidFill>
                  <a:schemeClr val="dk1"/>
                </a:solidFill>
                <a:latin typeface="Calibri"/>
                <a:ea typeface="Calibri"/>
                <a:cs typeface="Calibri"/>
                <a:sym typeface="Calibri"/>
              </a:rPr>
              <a:t> sus </a:t>
            </a:r>
            <a:r>
              <a:rPr lang="en-US" sz="1400" b="0" i="0" u="none" strike="noStrike" cap="none" dirty="0" err="1">
                <a:solidFill>
                  <a:schemeClr val="dk1"/>
                </a:solidFill>
                <a:latin typeface="Calibri"/>
                <a:ea typeface="Calibri"/>
                <a:cs typeface="Calibri"/>
                <a:sym typeface="Calibri"/>
              </a:rPr>
              <a:t>tutores</a:t>
            </a:r>
            <a:r>
              <a:rPr lang="en-US" sz="1400" b="0" i="0" u="none" strike="noStrike" cap="none" dirty="0">
                <a:solidFill>
                  <a:schemeClr val="dk1"/>
                </a:solidFill>
                <a:latin typeface="Calibri"/>
                <a:ea typeface="Calibri"/>
                <a:cs typeface="Calibri"/>
                <a:sym typeface="Calibri"/>
              </a:rPr>
              <a:t>, primero </a:t>
            </a:r>
            <a:r>
              <a:rPr lang="en-US" sz="1400" b="0" i="0" u="none" strike="noStrike" cap="none" dirty="0" err="1">
                <a:solidFill>
                  <a:schemeClr val="dk1"/>
                </a:solidFill>
                <a:latin typeface="Calibri"/>
                <a:ea typeface="Calibri"/>
                <a:cs typeface="Calibri"/>
                <a:sym typeface="Calibri"/>
              </a:rPr>
              <a:t>los</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mejor</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evaluados</a:t>
            </a:r>
            <a:r>
              <a:rPr lang="en-US" sz="1400" b="0" i="0" u="none" strike="noStrike" cap="none" dirty="0">
                <a:solidFill>
                  <a:schemeClr val="dk1"/>
                </a:solidFill>
                <a:latin typeface="Calibri"/>
                <a:ea typeface="Calibri"/>
                <a:cs typeface="Calibri"/>
                <a:sym typeface="Calibri"/>
              </a:rPr>
              <a:t>.</a:t>
            </a:r>
            <a:endParaRPr sz="1400" b="0" i="0" u="none" strike="noStrike" cap="none" dirty="0">
              <a:solidFill>
                <a:schemeClr val="dk1"/>
              </a:solidFill>
              <a:latin typeface="Calibri"/>
              <a:ea typeface="Calibri"/>
              <a:cs typeface="Calibri"/>
              <a:sym typeface="Calibri"/>
            </a:endParaRPr>
          </a:p>
        </p:txBody>
      </p:sp>
      <p:sp>
        <p:nvSpPr>
          <p:cNvPr id="263" name="Google Shape;263;p9"/>
          <p:cNvSpPr/>
          <p:nvPr/>
        </p:nvSpPr>
        <p:spPr>
          <a:xfrm>
            <a:off x="5463540" y="128016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9"/>
          <p:cNvSpPr txBox="1"/>
          <p:nvPr/>
        </p:nvSpPr>
        <p:spPr>
          <a:xfrm>
            <a:off x="5463540" y="12801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4</a:t>
            </a:r>
            <a:endParaRPr sz="1800" b="0" i="0" u="none" strike="noStrike" cap="none">
              <a:solidFill>
                <a:schemeClr val="dk1"/>
              </a:solidFill>
              <a:latin typeface="Calibri"/>
              <a:ea typeface="Calibri"/>
              <a:cs typeface="Calibri"/>
              <a:sym typeface="Calibri"/>
            </a:endParaRPr>
          </a:p>
        </p:txBody>
      </p:sp>
      <p:sp>
        <p:nvSpPr>
          <p:cNvPr id="265" name="Google Shape;265;p9"/>
          <p:cNvSpPr txBox="1"/>
          <p:nvPr/>
        </p:nvSpPr>
        <p:spPr>
          <a:xfrm>
            <a:off x="5463540" y="187452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Búsqueda</a:t>
            </a:r>
            <a:endParaRPr sz="1600" b="0" i="0" u="none" strike="noStrike" cap="none">
              <a:solidFill>
                <a:schemeClr val="dk1"/>
              </a:solidFill>
              <a:latin typeface="Calibri"/>
              <a:ea typeface="Calibri"/>
              <a:cs typeface="Calibri"/>
              <a:sym typeface="Calibri"/>
            </a:endParaRPr>
          </a:p>
        </p:txBody>
      </p:sp>
      <p:sp>
        <p:nvSpPr>
          <p:cNvPr id="266" name="Google Shape;266;p9"/>
          <p:cNvSpPr txBox="1"/>
          <p:nvPr/>
        </p:nvSpPr>
        <p:spPr>
          <a:xfrm>
            <a:off x="5463540" y="2194560"/>
            <a:ext cx="155448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Por nombre del tutor, sin importar tildes, y por evaluación.</a:t>
            </a:r>
            <a:endParaRPr sz="1400" b="0" i="0" u="none" strike="noStrike" cap="none">
              <a:solidFill>
                <a:schemeClr val="dk1"/>
              </a:solidFill>
              <a:latin typeface="Calibri"/>
              <a:ea typeface="Calibri"/>
              <a:cs typeface="Calibri"/>
              <a:sym typeface="Calibri"/>
            </a:endParaRPr>
          </a:p>
        </p:txBody>
      </p:sp>
      <p:sp>
        <p:nvSpPr>
          <p:cNvPr id="267" name="Google Shape;267;p9"/>
          <p:cNvSpPr/>
          <p:nvPr/>
        </p:nvSpPr>
        <p:spPr>
          <a:xfrm>
            <a:off x="7132320" y="1280160"/>
            <a:ext cx="457200" cy="457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9"/>
          <p:cNvSpPr txBox="1"/>
          <p:nvPr/>
        </p:nvSpPr>
        <p:spPr>
          <a:xfrm>
            <a:off x="7132320" y="1280160"/>
            <a:ext cx="4572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chemeClr val="dk2"/>
              </a:buClr>
              <a:buSzPts val="1800"/>
              <a:buFont typeface="Calibri"/>
              <a:buNone/>
            </a:pPr>
            <a:r>
              <a:rPr lang="en-US" sz="1800" b="1" i="0" u="none" strike="noStrike" cap="none">
                <a:solidFill>
                  <a:schemeClr val="dk2"/>
                </a:solidFill>
                <a:latin typeface="Calibri"/>
                <a:ea typeface="Calibri"/>
                <a:cs typeface="Calibri"/>
                <a:sym typeface="Calibri"/>
              </a:rPr>
              <a:t>5</a:t>
            </a:r>
            <a:endParaRPr sz="1800" b="0" i="0" u="none" strike="noStrike" cap="none">
              <a:solidFill>
                <a:schemeClr val="dk1"/>
              </a:solidFill>
              <a:latin typeface="Calibri"/>
              <a:ea typeface="Calibri"/>
              <a:cs typeface="Calibri"/>
              <a:sym typeface="Calibri"/>
            </a:endParaRPr>
          </a:p>
        </p:txBody>
      </p:sp>
      <p:sp>
        <p:nvSpPr>
          <p:cNvPr id="269" name="Google Shape;269;p9"/>
          <p:cNvSpPr txBox="1"/>
          <p:nvPr/>
        </p:nvSpPr>
        <p:spPr>
          <a:xfrm>
            <a:off x="7132320" y="1874520"/>
            <a:ext cx="155448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2"/>
              </a:buClr>
              <a:buSzPts val="1600"/>
              <a:buFont typeface="Calibri"/>
              <a:buNone/>
            </a:pPr>
            <a:r>
              <a:rPr lang="en-US" sz="1600" b="1" i="0" u="none" strike="noStrike" cap="none">
                <a:solidFill>
                  <a:schemeClr val="dk2"/>
                </a:solidFill>
                <a:latin typeface="Calibri"/>
                <a:ea typeface="Calibri"/>
                <a:cs typeface="Calibri"/>
                <a:sym typeface="Calibri"/>
              </a:rPr>
              <a:t>Agenda del tutor</a:t>
            </a:r>
            <a:endParaRPr sz="1600" b="0" i="0" u="none" strike="noStrike" cap="none">
              <a:solidFill>
                <a:schemeClr val="dk1"/>
              </a:solidFill>
              <a:latin typeface="Calibri"/>
              <a:ea typeface="Calibri"/>
              <a:cs typeface="Calibri"/>
              <a:sym typeface="Calibri"/>
            </a:endParaRPr>
          </a:p>
        </p:txBody>
      </p:sp>
      <p:sp>
        <p:nvSpPr>
          <p:cNvPr id="270" name="Google Shape;270;p9"/>
          <p:cNvSpPr txBox="1"/>
          <p:nvPr/>
        </p:nvSpPr>
        <p:spPr>
          <a:xfrm>
            <a:off x="7132320" y="2194560"/>
            <a:ext cx="1554480" cy="109728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400"/>
              <a:buFont typeface="Calibri"/>
              <a:buNone/>
            </a:pPr>
            <a:r>
              <a:rPr lang="en-US" sz="1400" b="0" i="0" u="none" strike="noStrike" cap="none">
                <a:solidFill>
                  <a:schemeClr val="dk1"/>
                </a:solidFill>
                <a:latin typeface="Calibri"/>
                <a:ea typeface="Calibri"/>
                <a:cs typeface="Calibri"/>
                <a:sym typeface="Calibri"/>
              </a:rPr>
              <a:t>Publica sus bloques; si dos se cruzan, la base rechaza el segundo.</a:t>
            </a:r>
            <a:endParaRPr sz="1400" b="0" i="0" u="none" strike="noStrike" cap="none">
              <a:solidFill>
                <a:schemeClr val="dk1"/>
              </a:solidFill>
              <a:latin typeface="Calibri"/>
              <a:ea typeface="Calibri"/>
              <a:cs typeface="Calibri"/>
              <a:sym typeface="Calibri"/>
            </a:endParaRPr>
          </a:p>
        </p:txBody>
      </p:sp>
      <p:sp>
        <p:nvSpPr>
          <p:cNvPr id="271" name="Google Shape;271;p9"/>
          <p:cNvSpPr/>
          <p:nvPr/>
        </p:nvSpPr>
        <p:spPr>
          <a:xfrm>
            <a:off x="457200" y="3520440"/>
            <a:ext cx="4023360" cy="914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9"/>
          <p:cNvSpPr txBox="1"/>
          <p:nvPr/>
        </p:nvSpPr>
        <p:spPr>
          <a:xfrm>
            <a:off x="640080" y="3520440"/>
            <a:ext cx="36576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2"/>
              </a:buClr>
              <a:buSzPts val="1400"/>
              <a:buFont typeface="Calibri"/>
              <a:buNone/>
            </a:pPr>
            <a:r>
              <a:rPr lang="en-US" sz="1400" b="1" i="0" u="none" strike="noStrike" cap="none" dirty="0">
                <a:solidFill>
                  <a:schemeClr val="dk2"/>
                </a:solidFill>
                <a:latin typeface="Calibri"/>
                <a:ea typeface="Calibri"/>
                <a:cs typeface="Calibri"/>
                <a:sym typeface="Calibri"/>
              </a:rPr>
              <a:t>Reglas </a:t>
            </a:r>
            <a:r>
              <a:rPr lang="en-US" sz="1400" b="1" i="0" u="none" strike="noStrike" cap="none" dirty="0" err="1">
                <a:solidFill>
                  <a:schemeClr val="dk2"/>
                </a:solidFill>
                <a:latin typeface="Calibri"/>
                <a:ea typeface="Calibri"/>
                <a:cs typeface="Calibri"/>
                <a:sym typeface="Calibri"/>
              </a:rPr>
              <a:t>en</a:t>
            </a:r>
            <a:r>
              <a:rPr lang="en-US" sz="1400" b="1" i="0" u="none" strike="noStrike" cap="none" dirty="0">
                <a:solidFill>
                  <a:schemeClr val="dk2"/>
                </a:solidFill>
                <a:latin typeface="Calibri"/>
                <a:ea typeface="Calibri"/>
                <a:cs typeface="Calibri"/>
                <a:sym typeface="Calibri"/>
              </a:rPr>
              <a:t> el </a:t>
            </a:r>
            <a:r>
              <a:rPr lang="en-US" sz="1400" b="1" i="0" u="none" strike="noStrike" cap="none" dirty="0" err="1">
                <a:solidFill>
                  <a:schemeClr val="dk2"/>
                </a:solidFill>
                <a:latin typeface="Calibri"/>
                <a:ea typeface="Calibri"/>
                <a:cs typeface="Calibri"/>
                <a:sym typeface="Calibri"/>
              </a:rPr>
              <a:t>servidor</a:t>
            </a:r>
            <a:r>
              <a:rPr lang="en-US" sz="1400" b="1" i="0" u="none" strike="noStrike" cap="none" dirty="0">
                <a:solidFill>
                  <a:schemeClr val="dk2"/>
                </a:solidFill>
                <a:latin typeface="Calibri"/>
                <a:ea typeface="Calibri"/>
                <a:cs typeface="Calibri"/>
                <a:sym typeface="Calibri"/>
              </a:rPr>
              <a:t>: </a:t>
            </a:r>
            <a:r>
              <a:rPr lang="en-US" sz="1400" b="0" i="0" u="none" strike="noStrike" cap="none" dirty="0">
                <a:solidFill>
                  <a:schemeClr val="dk1"/>
                </a:solidFill>
                <a:latin typeface="Calibri"/>
                <a:ea typeface="Calibri"/>
                <a:cs typeface="Calibri"/>
                <a:sym typeface="Calibri"/>
              </a:rPr>
              <a:t>la </a:t>
            </a:r>
            <a:r>
              <a:rPr lang="en-US" sz="1400" b="0" i="0" u="none" strike="noStrike" cap="none" dirty="0" err="1">
                <a:solidFill>
                  <a:schemeClr val="dk1"/>
                </a:solidFill>
                <a:latin typeface="Calibri"/>
                <a:ea typeface="Calibri"/>
                <a:cs typeface="Calibri"/>
                <a:sym typeface="Calibri"/>
              </a:rPr>
              <a:t>habilitación</a:t>
            </a:r>
            <a:r>
              <a:rPr lang="en-US" sz="1400" b="0" i="0" u="none" strike="noStrike" cap="none">
                <a:solidFill>
                  <a:schemeClr val="dk1"/>
                </a:solidFill>
                <a:latin typeface="Calibri"/>
                <a:ea typeface="Calibri"/>
                <a:cs typeface="Calibri"/>
                <a:sym typeface="Calibri"/>
              </a:rPr>
              <a:t> (RN-01) la </a:t>
            </a:r>
            <a:r>
              <a:rPr lang="en-US" sz="1400" b="0" i="0" u="none" strike="noStrike" cap="none" dirty="0" err="1">
                <a:solidFill>
                  <a:schemeClr val="dk1"/>
                </a:solidFill>
                <a:latin typeface="Calibri"/>
                <a:ea typeface="Calibri"/>
                <a:cs typeface="Calibri"/>
                <a:sym typeface="Calibri"/>
              </a:rPr>
              <a:t>valida</a:t>
            </a:r>
            <a:r>
              <a:rPr lang="en-US" sz="1400" b="0" i="0" u="none" strike="noStrike" cap="none" dirty="0">
                <a:solidFill>
                  <a:schemeClr val="dk1"/>
                </a:solidFill>
                <a:latin typeface="Calibri"/>
                <a:ea typeface="Calibri"/>
                <a:cs typeface="Calibri"/>
                <a:sym typeface="Calibri"/>
              </a:rPr>
              <a:t> </a:t>
            </a:r>
            <a:r>
              <a:rPr lang="en-US" sz="1400" b="0" i="0" u="none" strike="noStrike" cap="none" dirty="0" err="1">
                <a:solidFill>
                  <a:schemeClr val="dk1"/>
                </a:solidFill>
                <a:latin typeface="Calibri"/>
                <a:ea typeface="Calibri"/>
                <a:cs typeface="Calibri"/>
                <a:sym typeface="Calibri"/>
              </a:rPr>
              <a:t>Tutorías</a:t>
            </a:r>
            <a:r>
              <a:rPr lang="en-US" sz="1400" b="0" i="0" u="none" strike="noStrike" cap="none" dirty="0">
                <a:solidFill>
                  <a:schemeClr val="dk1"/>
                </a:solidFill>
                <a:latin typeface="Calibri"/>
                <a:ea typeface="Calibri"/>
                <a:cs typeface="Calibri"/>
                <a:sym typeface="Calibri"/>
              </a:rPr>
              <a:t>, y </a:t>
            </a:r>
            <a:r>
              <a:rPr lang="en-US" sz="1400" b="0" i="0" u="none" strike="noStrike" cap="none" dirty="0" err="1">
                <a:solidFill>
                  <a:schemeClr val="dk1"/>
                </a:solidFill>
                <a:latin typeface="Calibri"/>
                <a:ea typeface="Calibri"/>
                <a:cs typeface="Calibri"/>
                <a:sym typeface="Calibri"/>
              </a:rPr>
              <a:t>los</a:t>
            </a:r>
            <a:r>
              <a:rPr lang="en-US" sz="1400" b="0" i="0" u="none" strike="noStrike" cap="none" dirty="0">
                <a:solidFill>
                  <a:schemeClr val="dk1"/>
                </a:solidFill>
                <a:latin typeface="Calibri"/>
                <a:ea typeface="Calibri"/>
                <a:cs typeface="Calibri"/>
                <a:sym typeface="Calibri"/>
              </a:rPr>
              <a:t> cruces de </a:t>
            </a:r>
            <a:r>
              <a:rPr lang="en-US" sz="1400" b="0" i="0" u="none" strike="noStrike" cap="none" dirty="0" err="1">
                <a:solidFill>
                  <a:schemeClr val="dk1"/>
                </a:solidFill>
                <a:latin typeface="Calibri"/>
                <a:ea typeface="Calibri"/>
                <a:cs typeface="Calibri"/>
                <a:sym typeface="Calibri"/>
              </a:rPr>
              <a:t>horario</a:t>
            </a:r>
            <a:r>
              <a:rPr lang="en-US" sz="1400" b="0" i="0" u="none" strike="noStrike" cap="none" dirty="0">
                <a:solidFill>
                  <a:schemeClr val="dk1"/>
                </a:solidFill>
                <a:latin typeface="Calibri"/>
                <a:ea typeface="Calibri"/>
                <a:cs typeface="Calibri"/>
                <a:sym typeface="Calibri"/>
              </a:rPr>
              <a:t>, la </a:t>
            </a:r>
            <a:r>
              <a:rPr lang="en-US" sz="1400" b="0" i="0" u="none" strike="noStrike" cap="none" dirty="0" err="1">
                <a:solidFill>
                  <a:schemeClr val="dk1"/>
                </a:solidFill>
                <a:latin typeface="Calibri"/>
                <a:ea typeface="Calibri"/>
                <a:cs typeface="Calibri"/>
                <a:sym typeface="Calibri"/>
              </a:rPr>
              <a:t>propia</a:t>
            </a:r>
            <a:r>
              <a:rPr lang="en-US" sz="1400" b="0" i="0" u="none" strike="noStrike" cap="none" dirty="0">
                <a:solidFill>
                  <a:schemeClr val="dk1"/>
                </a:solidFill>
                <a:latin typeface="Calibri"/>
                <a:ea typeface="Calibri"/>
                <a:cs typeface="Calibri"/>
                <a:sym typeface="Calibri"/>
              </a:rPr>
              <a:t> base de datos.</a:t>
            </a:r>
            <a:endParaRPr sz="1400" b="0" i="0" u="none" strike="noStrike" cap="none" dirty="0">
              <a:solidFill>
                <a:schemeClr val="dk1"/>
              </a:solidFill>
              <a:latin typeface="Calibri"/>
              <a:ea typeface="Calibri"/>
              <a:cs typeface="Calibri"/>
              <a:sym typeface="Calibri"/>
            </a:endParaRPr>
          </a:p>
        </p:txBody>
      </p:sp>
      <p:sp>
        <p:nvSpPr>
          <p:cNvPr id="273" name="Google Shape;273;p9"/>
          <p:cNvSpPr/>
          <p:nvPr/>
        </p:nvSpPr>
        <p:spPr>
          <a:xfrm>
            <a:off x="4663440" y="3520440"/>
            <a:ext cx="4023360" cy="914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9"/>
          <p:cNvSpPr txBox="1"/>
          <p:nvPr/>
        </p:nvSpPr>
        <p:spPr>
          <a:xfrm>
            <a:off x="4846320" y="3520440"/>
            <a:ext cx="36576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lt1"/>
              </a:buClr>
              <a:buSzPts val="1400"/>
              <a:buFont typeface="Calibri"/>
              <a:buNone/>
            </a:pPr>
            <a:r>
              <a:rPr lang="en-US" sz="1400" b="0" i="0" u="none" strike="noStrike" cap="none" dirty="0" err="1">
                <a:solidFill>
                  <a:schemeClr val="lt1"/>
                </a:solidFill>
                <a:latin typeface="Calibri"/>
                <a:ea typeface="Calibri"/>
                <a:cs typeface="Calibri"/>
                <a:sym typeface="Calibri"/>
              </a:rPr>
              <a:t>Demostración</a:t>
            </a:r>
            <a:r>
              <a:rPr lang="en-US" sz="1400" b="0" i="0" u="none" strike="noStrike" cap="none" dirty="0">
                <a:solidFill>
                  <a:schemeClr val="lt1"/>
                </a:solidFill>
                <a:latin typeface="Calibri"/>
                <a:ea typeface="Calibri"/>
                <a:cs typeface="Calibri"/>
                <a:sym typeface="Calibri"/>
              </a:rPr>
              <a:t> </a:t>
            </a:r>
            <a:r>
              <a:rPr lang="en-US" sz="1400" b="0" i="0" u="none" strike="noStrike" cap="none" dirty="0" err="1">
                <a:solidFill>
                  <a:schemeClr val="lt1"/>
                </a:solidFill>
                <a:latin typeface="Calibri"/>
                <a:ea typeface="Calibri"/>
                <a:cs typeface="Calibri"/>
                <a:sym typeface="Calibri"/>
              </a:rPr>
              <a:t>en</a:t>
            </a:r>
            <a:r>
              <a:rPr lang="en-US" sz="1400" b="0" i="0" u="none" strike="noStrike" cap="none" dirty="0">
                <a:solidFill>
                  <a:schemeClr val="lt1"/>
                </a:solidFill>
                <a:latin typeface="Calibri"/>
                <a:ea typeface="Calibri"/>
                <a:cs typeface="Calibri"/>
                <a:sym typeface="Calibri"/>
              </a:rPr>
              <a:t> vivo, </a:t>
            </a:r>
            <a:r>
              <a:rPr lang="en-US" sz="1400" b="0" i="0" u="none" strike="noStrike" cap="none" dirty="0" err="1">
                <a:solidFill>
                  <a:schemeClr val="lt1"/>
                </a:solidFill>
                <a:latin typeface="Calibri"/>
                <a:ea typeface="Calibri"/>
                <a:cs typeface="Calibri"/>
                <a:sym typeface="Calibri"/>
              </a:rPr>
              <a:t>en</a:t>
            </a:r>
            <a:r>
              <a:rPr lang="en-US" sz="1400" b="0" i="0" u="none" strike="noStrike" cap="none" dirty="0">
                <a:solidFill>
                  <a:schemeClr val="lt1"/>
                </a:solidFill>
                <a:latin typeface="Calibri"/>
                <a:ea typeface="Calibri"/>
                <a:cs typeface="Calibri"/>
                <a:sym typeface="Calibri"/>
              </a:rPr>
              <a:t> un </a:t>
            </a:r>
            <a:r>
              <a:rPr lang="en-US" sz="1400" b="0" i="0" u="none" strike="noStrike" cap="none" dirty="0" err="1">
                <a:solidFill>
                  <a:schemeClr val="lt1"/>
                </a:solidFill>
                <a:latin typeface="Calibri"/>
                <a:ea typeface="Calibri"/>
                <a:cs typeface="Calibri"/>
                <a:sym typeface="Calibri"/>
              </a:rPr>
              <a:t>entorno</a:t>
            </a:r>
            <a:r>
              <a:rPr lang="en-US" sz="1400" b="0" i="0" u="none" strike="noStrike" cap="none" dirty="0">
                <a:solidFill>
                  <a:schemeClr val="lt1"/>
                </a:solidFill>
                <a:latin typeface="Calibri"/>
                <a:ea typeface="Calibri"/>
                <a:cs typeface="Calibri"/>
                <a:sym typeface="Calibri"/>
              </a:rPr>
              <a:t> local </a:t>
            </a:r>
            <a:r>
              <a:rPr lang="en-US" sz="1400" b="0" i="0" u="none" strike="noStrike" cap="none" dirty="0" err="1">
                <a:solidFill>
                  <a:schemeClr val="lt1"/>
                </a:solidFill>
                <a:latin typeface="Calibri"/>
                <a:ea typeface="Calibri"/>
                <a:cs typeface="Calibri"/>
                <a:sym typeface="Calibri"/>
              </a:rPr>
              <a:t>sobre</a:t>
            </a:r>
            <a:r>
              <a:rPr lang="en-US" sz="1400" b="0" i="0" u="none" strike="noStrike" cap="none" dirty="0">
                <a:solidFill>
                  <a:schemeClr val="lt1"/>
                </a:solidFill>
                <a:latin typeface="Calibri"/>
                <a:ea typeface="Calibri"/>
                <a:cs typeface="Calibri"/>
                <a:sym typeface="Calibri"/>
              </a:rPr>
              <a:t> la </a:t>
            </a:r>
            <a:r>
              <a:rPr lang="en-US" sz="1400" b="0" i="0" u="none" strike="noStrike" cap="none" dirty="0" err="1">
                <a:solidFill>
                  <a:schemeClr val="lt1"/>
                </a:solidFill>
                <a:latin typeface="Calibri"/>
                <a:ea typeface="Calibri"/>
                <a:cs typeface="Calibri"/>
                <a:sym typeface="Calibri"/>
              </a:rPr>
              <a:t>versión</a:t>
            </a:r>
            <a:r>
              <a:rPr lang="en-US" sz="1400" b="0" i="0" u="none" strike="noStrike" cap="none" dirty="0">
                <a:solidFill>
                  <a:schemeClr val="lt1"/>
                </a:solidFill>
                <a:latin typeface="Calibri"/>
                <a:ea typeface="Calibri"/>
                <a:cs typeface="Calibri"/>
                <a:sym typeface="Calibri"/>
              </a:rPr>
              <a:t> de </a:t>
            </a:r>
            <a:r>
              <a:rPr lang="en-US" sz="1400" b="0" i="0" u="none" strike="noStrike" cap="none" dirty="0" err="1">
                <a:solidFill>
                  <a:schemeClr val="lt1"/>
                </a:solidFill>
                <a:latin typeface="Calibri"/>
                <a:ea typeface="Calibri"/>
                <a:cs typeface="Calibri"/>
                <a:sym typeface="Calibri"/>
              </a:rPr>
              <a:t>integración</a:t>
            </a:r>
            <a:r>
              <a:rPr lang="en-US" sz="1400" b="0" i="0" u="none" strike="noStrike" cap="none" dirty="0">
                <a:solidFill>
                  <a:schemeClr val="lt1"/>
                </a:solidFill>
                <a:latin typeface="Calibri"/>
                <a:ea typeface="Calibri"/>
                <a:cs typeface="Calibri"/>
                <a:sym typeface="Calibri"/>
              </a:rPr>
              <a:t> del </a:t>
            </a:r>
            <a:r>
              <a:rPr lang="en-US" sz="1400" b="0" i="0" u="none" strike="noStrike" cap="none" dirty="0" err="1">
                <a:solidFill>
                  <a:schemeClr val="lt1"/>
                </a:solidFill>
                <a:latin typeface="Calibri"/>
                <a:ea typeface="Calibri"/>
                <a:cs typeface="Calibri"/>
                <a:sym typeface="Calibri"/>
              </a:rPr>
              <a:t>proyecto</a:t>
            </a:r>
            <a:r>
              <a:rPr lang="en-US" sz="1400" b="0" i="0" u="none" strike="noStrike" cap="none" dirty="0">
                <a:solidFill>
                  <a:schemeClr val="lt1"/>
                </a:solidFill>
                <a:latin typeface="Calibri"/>
                <a:ea typeface="Calibri"/>
                <a:cs typeface="Calibri"/>
                <a:sym typeface="Calibri"/>
              </a:rPr>
              <a:t>.</a:t>
            </a:r>
            <a:endParaRPr sz="1400" b="0" i="0" u="none" strike="noStrike" cap="none" dirty="0">
              <a:solidFill>
                <a:schemeClr val="dk1"/>
              </a:solidFill>
              <a:latin typeface="Calibri"/>
              <a:ea typeface="Calibri"/>
              <a:cs typeface="Calibri"/>
              <a:sym typeface="Calibri"/>
            </a:endParaRPr>
          </a:p>
        </p:txBody>
      </p:sp>
      <p:sp>
        <p:nvSpPr>
          <p:cNvPr id="275" name="Google Shape;275;p9"/>
          <p:cNvSpPr txBox="1">
            <a:spLocks noGrp="1"/>
          </p:cNvSpPr>
          <p:nvPr>
            <p:ph type="sldNum" idx="4294967295"/>
          </p:nvPr>
        </p:nvSpPr>
        <p:spPr>
          <a:xfrm>
            <a:off x="8229600" y="4754880"/>
            <a:ext cx="457200" cy="2286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000" b="0" i="0" u="none" strike="noStrike" cap="none">
                <a:solidFill>
                  <a:schemeClr val="accent4"/>
                </a:solidFill>
                <a:latin typeface="Calibri"/>
                <a:ea typeface="Calibri"/>
                <a:cs typeface="Calibri"/>
                <a:sym typeface="Calibri"/>
              </a:rPr>
              <a:t>11</a:t>
            </a:fld>
            <a:endParaRPr sz="1000" b="0" i="0" u="none" strike="noStrike" cap="none">
              <a:solidFill>
                <a:schemeClr val="accent4"/>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0"/>
          <p:cNvSpPr txBox="1">
            <a:spLocks noGrp="1"/>
          </p:cNvSpPr>
          <p:nvPr>
            <p:ph type="title"/>
          </p:nvPr>
        </p:nvSpPr>
        <p:spPr>
          <a:xfrm>
            <a:off x="640080" y="1188720"/>
            <a:ext cx="5303520" cy="164592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4000"/>
              <a:buFont typeface="Cambria"/>
              <a:buNone/>
            </a:pPr>
            <a:r>
              <a:rPr lang="en-US" sz="4000" b="1" dirty="0" err="1">
                <a:solidFill>
                  <a:schemeClr val="lt1"/>
                </a:solidFill>
              </a:rPr>
              <a:t>Muchas</a:t>
            </a:r>
            <a:r>
              <a:rPr lang="en-US" sz="4000" b="1" dirty="0">
                <a:solidFill>
                  <a:schemeClr val="lt1"/>
                </a:solidFill>
              </a:rPr>
              <a:t> gracias </a:t>
            </a:r>
            <a:r>
              <a:rPr lang="en-US" sz="4000" b="1" dirty="0" err="1">
                <a:solidFill>
                  <a:schemeClr val="lt1"/>
                </a:solidFill>
              </a:rPr>
              <a:t>por</a:t>
            </a:r>
            <a:r>
              <a:rPr lang="en-US" sz="4000" b="1" dirty="0">
                <a:solidFill>
                  <a:schemeClr val="lt1"/>
                </a:solidFill>
              </a:rPr>
              <a:t> </a:t>
            </a:r>
            <a:r>
              <a:rPr lang="en-US" sz="4000" b="1" dirty="0" err="1">
                <a:solidFill>
                  <a:schemeClr val="lt1"/>
                </a:solidFill>
              </a:rPr>
              <a:t>su</a:t>
            </a:r>
            <a:r>
              <a:rPr lang="en-US" sz="4000" b="1" dirty="0">
                <a:solidFill>
                  <a:schemeClr val="lt1"/>
                </a:solidFill>
              </a:rPr>
              <a:t> </a:t>
            </a:r>
            <a:r>
              <a:rPr lang="en-US" sz="4000" b="1" dirty="0" err="1">
                <a:solidFill>
                  <a:schemeClr val="lt1"/>
                </a:solidFill>
              </a:rPr>
              <a:t>atención</a:t>
            </a:r>
            <a:endParaRPr sz="4000" dirty="0"/>
          </a:p>
        </p:txBody>
      </p:sp>
      <p:sp>
        <p:nvSpPr>
          <p:cNvPr id="282" name="Google Shape;282;p10"/>
          <p:cNvSpPr txBox="1"/>
          <p:nvPr/>
        </p:nvSpPr>
        <p:spPr>
          <a:xfrm>
            <a:off x="640080" y="2926080"/>
            <a:ext cx="5303520" cy="54864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2"/>
              </a:buClr>
              <a:buSzPts val="1800"/>
              <a:buFont typeface="Calibri"/>
              <a:buNone/>
            </a:pPr>
            <a:r>
              <a:rPr lang="en-US" sz="1800" b="0" i="0" u="none" strike="noStrike" cap="none">
                <a:solidFill>
                  <a:schemeClr val="accent2"/>
                </a:solidFill>
                <a:latin typeface="Calibri"/>
                <a:ea typeface="Calibri"/>
                <a:cs typeface="Calibri"/>
                <a:sym typeface="Calibri"/>
              </a:rPr>
              <a:t>Plataforma de Tutorías entre Estudiantes · Duoc UC</a:t>
            </a:r>
            <a:endParaRPr sz="1800" b="0" i="0" u="none" strike="noStrike" cap="none">
              <a:solidFill>
                <a:schemeClr val="dk1"/>
              </a:solidFill>
              <a:latin typeface="Calibri"/>
              <a:ea typeface="Calibri"/>
              <a:cs typeface="Calibri"/>
              <a:sym typeface="Calibri"/>
            </a:endParaRPr>
          </a:p>
        </p:txBody>
      </p:sp>
      <p:sp>
        <p:nvSpPr>
          <p:cNvPr id="283" name="Google Shape;283;p10"/>
          <p:cNvSpPr txBox="1"/>
          <p:nvPr/>
        </p:nvSpPr>
        <p:spPr>
          <a:xfrm>
            <a:off x="640080" y="3749040"/>
            <a:ext cx="530352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00"/>
              <a:buFont typeface="Calibri"/>
              <a:buNone/>
            </a:pPr>
            <a:r>
              <a:rPr lang="en-US" sz="1400" b="0" i="0" u="none" strike="noStrike" cap="none">
                <a:solidFill>
                  <a:schemeClr val="lt1"/>
                </a:solidFill>
                <a:latin typeface="Calibri"/>
                <a:ea typeface="Calibri"/>
                <a:cs typeface="Calibri"/>
                <a:sym typeface="Calibri"/>
              </a:rPr>
              <a:t>github.com/Bacchi701/Plataforma-web-tutorias</a:t>
            </a:r>
            <a:endParaRPr sz="1400" b="0" i="0" u="none" strike="noStrike" cap="none">
              <a:solidFill>
                <a:schemeClr val="dk1"/>
              </a:solidFill>
              <a:latin typeface="Calibri"/>
              <a:ea typeface="Calibri"/>
              <a:cs typeface="Calibri"/>
              <a:sym typeface="Calibri"/>
            </a:endParaRPr>
          </a:p>
        </p:txBody>
      </p:sp>
      <p:sp>
        <p:nvSpPr>
          <p:cNvPr id="284" name="Google Shape;284;p10"/>
          <p:cNvSpPr txBox="1"/>
          <p:nvPr/>
        </p:nvSpPr>
        <p:spPr>
          <a:xfrm>
            <a:off x="640080" y="4114800"/>
            <a:ext cx="5303520" cy="5029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5"/>
              </a:buClr>
              <a:buSzPts val="1400"/>
              <a:buFont typeface="Calibri"/>
              <a:buNone/>
            </a:pPr>
            <a:r>
              <a:rPr lang="en-US" sz="1400" b="0" i="0" u="none" strike="noStrike" cap="none" dirty="0">
                <a:solidFill>
                  <a:schemeClr val="accent5"/>
                </a:solidFill>
                <a:latin typeface="Calibri"/>
                <a:ea typeface="Calibri"/>
                <a:cs typeface="Calibri"/>
                <a:sym typeface="Calibri"/>
              </a:rPr>
              <a:t>Bryan Bacchi · Francisco Tejeda · Damaris Iriarte · Capstone </a:t>
            </a:r>
            <a:r>
              <a:rPr lang="en-US" dirty="0">
                <a:solidFill>
                  <a:schemeClr val="accent5"/>
                </a:solidFill>
                <a:latin typeface="Calibri"/>
                <a:ea typeface="Calibri"/>
                <a:cs typeface="Calibri"/>
                <a:sym typeface="Calibri"/>
              </a:rPr>
              <a:t>004D</a:t>
            </a:r>
            <a:endParaRPr sz="1400" b="0" i="0" u="none" strike="noStrike" cap="none" dirty="0">
              <a:solidFill>
                <a:schemeClr val="dk1"/>
              </a:solidFill>
              <a:latin typeface="Calibri"/>
              <a:ea typeface="Calibri"/>
              <a:cs typeface="Calibri"/>
              <a:sym typeface="Calibri"/>
            </a:endParaRPr>
          </a:p>
        </p:txBody>
      </p:sp>
      <p:cxnSp>
        <p:nvCxnSpPr>
          <p:cNvPr id="285" name="Google Shape;285;p10"/>
          <p:cNvCxnSpPr/>
          <p:nvPr/>
        </p:nvCxnSpPr>
        <p:spPr>
          <a:xfrm rot="10800000" flipH="1">
            <a:off x="6675120" y="1600200"/>
            <a:ext cx="731520" cy="960120"/>
          </a:xfrm>
          <a:prstGeom prst="straightConnector1">
            <a:avLst/>
          </a:prstGeom>
          <a:noFill/>
          <a:ln w="19050" cap="flat" cmpd="sng">
            <a:solidFill>
              <a:schemeClr val="accent4"/>
            </a:solidFill>
            <a:prstDash val="solid"/>
            <a:round/>
            <a:headEnd type="none" w="sm" len="sm"/>
            <a:tailEnd type="none" w="sm" len="sm"/>
          </a:ln>
        </p:spPr>
      </p:cxnSp>
      <p:cxnSp>
        <p:nvCxnSpPr>
          <p:cNvPr id="286" name="Google Shape;286;p10"/>
          <p:cNvCxnSpPr/>
          <p:nvPr/>
        </p:nvCxnSpPr>
        <p:spPr>
          <a:xfrm>
            <a:off x="7406640" y="2560320"/>
            <a:ext cx="731520" cy="1463040"/>
          </a:xfrm>
          <a:prstGeom prst="straightConnector1">
            <a:avLst/>
          </a:prstGeom>
          <a:noFill/>
          <a:ln w="19050" cap="flat" cmpd="sng">
            <a:solidFill>
              <a:schemeClr val="accent4"/>
            </a:solidFill>
            <a:prstDash val="solid"/>
            <a:round/>
            <a:headEnd type="none" w="sm" len="sm"/>
            <a:tailEnd type="none" w="sm" len="sm"/>
          </a:ln>
        </p:spPr>
      </p:cxnSp>
      <p:sp>
        <p:nvSpPr>
          <p:cNvPr id="287" name="Google Shape;287;p10"/>
          <p:cNvSpPr/>
          <p:nvPr/>
        </p:nvSpPr>
        <p:spPr>
          <a:xfrm>
            <a:off x="6675120" y="1828800"/>
            <a:ext cx="1463040" cy="146304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8" name="Google Shape;288;p10" descr="preencoded.png"/>
          <p:cNvPicPr preferRelativeResize="0"/>
          <p:nvPr/>
        </p:nvPicPr>
        <p:blipFill rotWithShape="1">
          <a:blip r:embed="rId3">
            <a:alphaModFix/>
          </a:blip>
          <a:srcRect/>
          <a:stretch/>
        </p:blipFill>
        <p:spPr>
          <a:xfrm>
            <a:off x="7040880" y="2194560"/>
            <a:ext cx="731520" cy="731520"/>
          </a:xfrm>
          <a:prstGeom prst="rect">
            <a:avLst/>
          </a:prstGeom>
          <a:noFill/>
          <a:ln>
            <a:noFill/>
          </a:ln>
        </p:spPr>
      </p:pic>
      <p:sp>
        <p:nvSpPr>
          <p:cNvPr id="289" name="Google Shape;289;p10"/>
          <p:cNvSpPr/>
          <p:nvPr/>
        </p:nvSpPr>
        <p:spPr>
          <a:xfrm>
            <a:off x="6355080" y="1097280"/>
            <a:ext cx="685800" cy="68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0" name="Google Shape;290;p10" descr="preencoded.png"/>
          <p:cNvPicPr preferRelativeResize="0"/>
          <p:nvPr/>
        </p:nvPicPr>
        <p:blipFill rotWithShape="1">
          <a:blip r:embed="rId4">
            <a:alphaModFix/>
          </a:blip>
          <a:srcRect/>
          <a:stretch/>
        </p:blipFill>
        <p:spPr>
          <a:xfrm>
            <a:off x="6537960" y="1280160"/>
            <a:ext cx="320040" cy="320040"/>
          </a:xfrm>
          <a:prstGeom prst="rect">
            <a:avLst/>
          </a:prstGeom>
          <a:noFill/>
          <a:ln>
            <a:noFill/>
          </a:ln>
        </p:spPr>
      </p:pic>
      <p:sp>
        <p:nvSpPr>
          <p:cNvPr id="291" name="Google Shape;291;p10"/>
          <p:cNvSpPr/>
          <p:nvPr/>
        </p:nvSpPr>
        <p:spPr>
          <a:xfrm>
            <a:off x="7818120" y="3703320"/>
            <a:ext cx="685800" cy="685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92" name="Google Shape;292;p10" descr="preencoded.png"/>
          <p:cNvPicPr preferRelativeResize="0"/>
          <p:nvPr/>
        </p:nvPicPr>
        <p:blipFill rotWithShape="1">
          <a:blip r:embed="rId5">
            <a:alphaModFix/>
          </a:blip>
          <a:srcRect/>
          <a:stretch/>
        </p:blipFill>
        <p:spPr>
          <a:xfrm>
            <a:off x="8001000" y="3886200"/>
            <a:ext cx="320040" cy="320040"/>
          </a:xfrm>
          <a:prstGeom prst="rect">
            <a:avLst/>
          </a:prstGeom>
          <a:noFill/>
          <a:ln>
            <a:noFill/>
          </a:ln>
        </p:spPr>
      </p:pic>
    </p:spTree>
  </p:cSld>
  <p:clrMapOvr>
    <a:masterClrMapping/>
  </p:clrMapOvr>
</p:sld>
</file>

<file path=ppt/theme/theme1.xml><?xml version="1.0" encoding="utf-8"?>
<a:theme xmlns:a="http://schemas.openxmlformats.org/drawingml/2006/main" name="Tutorias Duoc">
  <a:themeElements>
    <a:clrScheme name="Tutorias Duoc">
      <a:dk1>
        <a:srgbClr val="1A2238"/>
      </a:dk1>
      <a:lt1>
        <a:srgbClr val="FFFFFF"/>
      </a:lt1>
      <a:dk2>
        <a:srgbClr val="10224A"/>
      </a:dk2>
      <a:lt2>
        <a:srgbClr val="EEF1F7"/>
      </a:lt2>
      <a:accent1>
        <a:srgbClr val="10224A"/>
      </a:accent1>
      <a:accent2>
        <a:srgbClr val="F5B800"/>
      </a:accent2>
      <a:accent3>
        <a:srgbClr val="2E5AAC"/>
      </a:accent3>
      <a:accent4>
        <a:srgbClr val="5B6B8C"/>
      </a:accent4>
      <a:accent5>
        <a:srgbClr val="D9DFEB"/>
      </a:accent5>
      <a:accent6>
        <a:srgbClr val="1F8A70"/>
      </a:accent6>
      <a:hlink>
        <a:srgbClr val="2E5AAC"/>
      </a:hlink>
      <a:folHlink>
        <a:srgbClr val="5B6B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utorias Duoc">
  <a:themeElements>
    <a:clrScheme name="Tutorias Duoc">
      <a:dk1>
        <a:srgbClr val="1A2238"/>
      </a:dk1>
      <a:lt1>
        <a:srgbClr val="FFFFFF"/>
      </a:lt1>
      <a:dk2>
        <a:srgbClr val="10224A"/>
      </a:dk2>
      <a:lt2>
        <a:srgbClr val="EEF1F7"/>
      </a:lt2>
      <a:accent1>
        <a:srgbClr val="10224A"/>
      </a:accent1>
      <a:accent2>
        <a:srgbClr val="F5B800"/>
      </a:accent2>
      <a:accent3>
        <a:srgbClr val="2E5AAC"/>
      </a:accent3>
      <a:accent4>
        <a:srgbClr val="5B6B8C"/>
      </a:accent4>
      <a:accent5>
        <a:srgbClr val="D9DFEB"/>
      </a:accent5>
      <a:accent6>
        <a:srgbClr val="1F8A70"/>
      </a:accent6>
      <a:hlink>
        <a:srgbClr val="2E5AAC"/>
      </a:hlink>
      <a:folHlink>
        <a:srgbClr val="5B6B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4194</Words>
  <Application>Microsoft Office PowerPoint</Application>
  <PresentationFormat>Presentación en pantalla (16:9)</PresentationFormat>
  <Paragraphs>208</Paragraphs>
  <Slides>12</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Cambria</vt:lpstr>
      <vt:lpstr>Tutorias Duoc</vt:lpstr>
      <vt:lpstr>Plataforma de Tutorías entre Estudiantes</vt:lpstr>
      <vt:lpstr>Nuestro equipo</vt:lpstr>
      <vt:lpstr>Análisis del caso: problema y solución</vt:lpstr>
      <vt:lpstr>Metodología de trabajo</vt:lpstr>
      <vt:lpstr>Tecnologías que utilizamos</vt:lpstr>
      <vt:lpstr>Arquitectura del sistema</vt:lpstr>
      <vt:lpstr>Base de datos</vt:lpstr>
      <vt:lpstr>Base de datos: el modelo</vt:lpstr>
      <vt:lpstr>Base de datos: la estructura</vt:lpstr>
      <vt:lpstr>Roadmap del proyecto</vt:lpstr>
      <vt:lpstr>Demostración de avances</vt:lpstr>
      <vt:lpstr>Muchas gracias por su atención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Bryan Bacchi, Francisco Tejeda, Damaris Iriarte</dc:creator>
  <cp:lastModifiedBy>BRYAN IGNACIO BACCHI ACEITUNO</cp:lastModifiedBy>
  <cp:revision>1</cp:revision>
  <dcterms:created xsi:type="dcterms:W3CDTF">2026-10-29T20:00:15Z</dcterms:created>
  <dcterms:modified xsi:type="dcterms:W3CDTF">2026-10-30T04:33:50Z</dcterms:modified>
</cp:coreProperties>
</file>